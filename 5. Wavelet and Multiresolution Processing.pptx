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3" r:id="rId1"/>
  </p:sldMasterIdLst>
  <p:notesMasterIdLst>
    <p:notesMasterId r:id="rId121"/>
  </p:notesMasterIdLst>
  <p:handoutMasterIdLst>
    <p:handoutMasterId r:id="rId122"/>
  </p:handoutMasterIdLst>
  <p:sldIdLst>
    <p:sldId id="256" r:id="rId2"/>
    <p:sldId id="258" r:id="rId3"/>
    <p:sldId id="385" r:id="rId4"/>
    <p:sldId id="386" r:id="rId5"/>
    <p:sldId id="260" r:id="rId6"/>
    <p:sldId id="262" r:id="rId7"/>
    <p:sldId id="263" r:id="rId8"/>
    <p:sldId id="264" r:id="rId9"/>
    <p:sldId id="265" r:id="rId10"/>
    <p:sldId id="266" r:id="rId11"/>
    <p:sldId id="261" r:id="rId12"/>
    <p:sldId id="267" r:id="rId13"/>
    <p:sldId id="268" r:id="rId14"/>
    <p:sldId id="270" r:id="rId15"/>
    <p:sldId id="269" r:id="rId16"/>
    <p:sldId id="271" r:id="rId17"/>
    <p:sldId id="272" r:id="rId18"/>
    <p:sldId id="259" r:id="rId19"/>
    <p:sldId id="274" r:id="rId20"/>
    <p:sldId id="275" r:id="rId21"/>
    <p:sldId id="283" r:id="rId22"/>
    <p:sldId id="284" r:id="rId23"/>
    <p:sldId id="288" r:id="rId24"/>
    <p:sldId id="285" r:id="rId25"/>
    <p:sldId id="277" r:id="rId26"/>
    <p:sldId id="287" r:id="rId27"/>
    <p:sldId id="289" r:id="rId28"/>
    <p:sldId id="290" r:id="rId29"/>
    <p:sldId id="291" r:id="rId30"/>
    <p:sldId id="279" r:id="rId31"/>
    <p:sldId id="280" r:id="rId32"/>
    <p:sldId id="292" r:id="rId33"/>
    <p:sldId id="294" r:id="rId34"/>
    <p:sldId id="343" r:id="rId35"/>
    <p:sldId id="293" r:id="rId36"/>
    <p:sldId id="345" r:id="rId37"/>
    <p:sldId id="346" r:id="rId38"/>
    <p:sldId id="295" r:id="rId39"/>
    <p:sldId id="296" r:id="rId40"/>
    <p:sldId id="297" r:id="rId41"/>
    <p:sldId id="298" r:id="rId42"/>
    <p:sldId id="299" r:id="rId43"/>
    <p:sldId id="300"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6" r:id="rId58"/>
    <p:sldId id="317" r:id="rId59"/>
    <p:sldId id="318" r:id="rId60"/>
    <p:sldId id="319" r:id="rId61"/>
    <p:sldId id="320" r:id="rId62"/>
    <p:sldId id="321" r:id="rId63"/>
    <p:sldId id="322" r:id="rId64"/>
    <p:sldId id="323" r:id="rId65"/>
    <p:sldId id="344" r:id="rId66"/>
    <p:sldId id="324" r:id="rId67"/>
    <p:sldId id="325" r:id="rId68"/>
    <p:sldId id="326" r:id="rId69"/>
    <p:sldId id="327" r:id="rId70"/>
    <p:sldId id="328" r:id="rId71"/>
    <p:sldId id="329" r:id="rId72"/>
    <p:sldId id="330" r:id="rId73"/>
    <p:sldId id="332" r:id="rId74"/>
    <p:sldId id="333" r:id="rId75"/>
    <p:sldId id="334" r:id="rId76"/>
    <p:sldId id="335" r:id="rId77"/>
    <p:sldId id="336" r:id="rId78"/>
    <p:sldId id="337" r:id="rId79"/>
    <p:sldId id="349" r:id="rId80"/>
    <p:sldId id="338" r:id="rId81"/>
    <p:sldId id="339" r:id="rId82"/>
    <p:sldId id="340" r:id="rId83"/>
    <p:sldId id="341" r:id="rId84"/>
    <p:sldId id="342" r:id="rId85"/>
    <p:sldId id="347" r:id="rId86"/>
    <p:sldId id="348" r:id="rId87"/>
    <p:sldId id="350" r:id="rId88"/>
    <p:sldId id="351" r:id="rId89"/>
    <p:sldId id="352" r:id="rId90"/>
    <p:sldId id="353" r:id="rId91"/>
    <p:sldId id="354" r:id="rId92"/>
    <p:sldId id="355" r:id="rId93"/>
    <p:sldId id="356" r:id="rId94"/>
    <p:sldId id="357" r:id="rId95"/>
    <p:sldId id="358" r:id="rId96"/>
    <p:sldId id="359" r:id="rId97"/>
    <p:sldId id="360" r:id="rId98"/>
    <p:sldId id="361" r:id="rId99"/>
    <p:sldId id="363" r:id="rId100"/>
    <p:sldId id="364" r:id="rId101"/>
    <p:sldId id="366" r:id="rId102"/>
    <p:sldId id="367" r:id="rId103"/>
    <p:sldId id="365" r:id="rId104"/>
    <p:sldId id="369" r:id="rId105"/>
    <p:sldId id="370" r:id="rId106"/>
    <p:sldId id="371" r:id="rId107"/>
    <p:sldId id="372" r:id="rId108"/>
    <p:sldId id="373" r:id="rId109"/>
    <p:sldId id="374" r:id="rId110"/>
    <p:sldId id="375" r:id="rId111"/>
    <p:sldId id="377" r:id="rId112"/>
    <p:sldId id="376" r:id="rId113"/>
    <p:sldId id="378" r:id="rId114"/>
    <p:sldId id="379" r:id="rId115"/>
    <p:sldId id="380" r:id="rId116"/>
    <p:sldId id="381" r:id="rId117"/>
    <p:sldId id="382" r:id="rId118"/>
    <p:sldId id="383" r:id="rId119"/>
    <p:sldId id="384"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47D1BF4-5A65-4AEE-9A68-2E66F2371F8D}">
          <p14:sldIdLst>
            <p14:sldId id="256"/>
          </p14:sldIdLst>
        </p14:section>
        <p14:section name="Lecture Overview" id="{D1AEDBE2-3BAB-4481-A334-91B5260DFC5A}">
          <p14:sldIdLst>
            <p14:sldId id="258"/>
            <p14:sldId id="385"/>
            <p14:sldId id="386"/>
            <p14:sldId id="260"/>
            <p14:sldId id="262"/>
            <p14:sldId id="263"/>
            <p14:sldId id="264"/>
            <p14:sldId id="265"/>
            <p14:sldId id="266"/>
            <p14:sldId id="261"/>
            <p14:sldId id="267"/>
            <p14:sldId id="268"/>
            <p14:sldId id="270"/>
            <p14:sldId id="269"/>
            <p14:sldId id="271"/>
            <p14:sldId id="272"/>
            <p14:sldId id="259"/>
            <p14:sldId id="274"/>
            <p14:sldId id="275"/>
            <p14:sldId id="283"/>
            <p14:sldId id="284"/>
            <p14:sldId id="288"/>
            <p14:sldId id="285"/>
            <p14:sldId id="277"/>
            <p14:sldId id="287"/>
            <p14:sldId id="289"/>
            <p14:sldId id="290"/>
            <p14:sldId id="291"/>
            <p14:sldId id="279"/>
            <p14:sldId id="280"/>
            <p14:sldId id="292"/>
            <p14:sldId id="294"/>
            <p14:sldId id="343"/>
            <p14:sldId id="293"/>
            <p14:sldId id="345"/>
            <p14:sldId id="346"/>
            <p14:sldId id="295"/>
            <p14:sldId id="296"/>
            <p14:sldId id="297"/>
            <p14:sldId id="298"/>
            <p14:sldId id="299"/>
            <p14:sldId id="300"/>
            <p14:sldId id="302"/>
            <p14:sldId id="303"/>
            <p14:sldId id="304"/>
            <p14:sldId id="305"/>
            <p14:sldId id="306"/>
            <p14:sldId id="307"/>
            <p14:sldId id="308"/>
            <p14:sldId id="309"/>
            <p14:sldId id="310"/>
            <p14:sldId id="311"/>
            <p14:sldId id="312"/>
            <p14:sldId id="313"/>
            <p14:sldId id="314"/>
            <p14:sldId id="316"/>
            <p14:sldId id="317"/>
            <p14:sldId id="318"/>
            <p14:sldId id="319"/>
            <p14:sldId id="320"/>
            <p14:sldId id="321"/>
            <p14:sldId id="322"/>
            <p14:sldId id="323"/>
            <p14:sldId id="344"/>
            <p14:sldId id="324"/>
            <p14:sldId id="325"/>
            <p14:sldId id="326"/>
            <p14:sldId id="327"/>
            <p14:sldId id="328"/>
            <p14:sldId id="329"/>
            <p14:sldId id="330"/>
            <p14:sldId id="332"/>
            <p14:sldId id="333"/>
            <p14:sldId id="334"/>
            <p14:sldId id="335"/>
            <p14:sldId id="336"/>
            <p14:sldId id="337"/>
            <p14:sldId id="349"/>
            <p14:sldId id="338"/>
            <p14:sldId id="339"/>
            <p14:sldId id="340"/>
            <p14:sldId id="341"/>
            <p14:sldId id="342"/>
            <p14:sldId id="347"/>
            <p14:sldId id="348"/>
            <p14:sldId id="350"/>
            <p14:sldId id="351"/>
            <p14:sldId id="352"/>
            <p14:sldId id="353"/>
            <p14:sldId id="354"/>
            <p14:sldId id="355"/>
            <p14:sldId id="356"/>
            <p14:sldId id="357"/>
            <p14:sldId id="358"/>
            <p14:sldId id="359"/>
            <p14:sldId id="360"/>
            <p14:sldId id="361"/>
            <p14:sldId id="363"/>
            <p14:sldId id="364"/>
            <p14:sldId id="366"/>
            <p14:sldId id="367"/>
            <p14:sldId id="365"/>
            <p14:sldId id="369"/>
            <p14:sldId id="370"/>
            <p14:sldId id="371"/>
            <p14:sldId id="372"/>
            <p14:sldId id="373"/>
            <p14:sldId id="374"/>
            <p14:sldId id="375"/>
            <p14:sldId id="377"/>
            <p14:sldId id="376"/>
            <p14:sldId id="378"/>
            <p14:sldId id="379"/>
            <p14:sldId id="380"/>
            <p14:sldId id="381"/>
            <p14:sldId id="382"/>
            <p14:sldId id="383"/>
            <p14:sldId id="3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343434"/>
    <a:srgbClr val="FFFF99"/>
    <a:srgbClr val="CF543F"/>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5" autoAdjust="0"/>
    <p:restoredTop sz="90625" autoAdjust="0"/>
  </p:normalViewPr>
  <p:slideViewPr>
    <p:cSldViewPr snapToGrid="0">
      <p:cViewPr varScale="1">
        <p:scale>
          <a:sx n="80" d="100"/>
          <a:sy n="80" d="100"/>
        </p:scale>
        <p:origin x="126" y="151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07B03B-1818-36DE-BC71-1589B71606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EA4BC83-76BB-54B2-47A7-AAFA77B1C23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57C5F-FDF1-4461-8BEB-7B650942ABC1}" type="datetimeFigureOut">
              <a:rPr lang="en-US" smtClean="0"/>
              <a:t>5/3/2025</a:t>
            </a:fld>
            <a:endParaRPr lang="en-US" dirty="0"/>
          </a:p>
        </p:txBody>
      </p:sp>
      <p:sp>
        <p:nvSpPr>
          <p:cNvPr id="4" name="Footer Placeholder 3">
            <a:extLst>
              <a:ext uri="{FF2B5EF4-FFF2-40B4-BE49-F238E27FC236}">
                <a16:creationId xmlns:a16="http://schemas.microsoft.com/office/drawing/2014/main" id="{598D7078-B9EC-077B-AAB1-78843354F1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5" name="Slide Number Placeholder 4">
            <a:extLst>
              <a:ext uri="{FF2B5EF4-FFF2-40B4-BE49-F238E27FC236}">
                <a16:creationId xmlns:a16="http://schemas.microsoft.com/office/drawing/2014/main" id="{6E9E3C49-2DA4-5229-FC07-AF5C64561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65E7CF-5076-4F3B-B76A-DA09674628C1}" type="slidenum">
              <a:rPr lang="en-US" smtClean="0"/>
              <a:t>‹#›</a:t>
            </a:fld>
            <a:endParaRPr lang="en-US" dirty="0"/>
          </a:p>
        </p:txBody>
      </p:sp>
    </p:spTree>
    <p:extLst>
      <p:ext uri="{BB962C8B-B14F-4D97-AF65-F5344CB8AC3E}">
        <p14:creationId xmlns:p14="http://schemas.microsoft.com/office/powerpoint/2010/main" val="2432438872"/>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467F40-F767-44F2-AA8C-0A942D29D2BB}" type="datetimeFigureOut">
              <a:rPr lang="en-US" smtClean="0"/>
              <a:t>5/3/2025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Information hiding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8D007-CB10-4C3E-A76A-23FBDDDC3D0C}" type="slidenum">
              <a:rPr lang="en-US" smtClean="0"/>
              <a:t>‹#›</a:t>
            </a:fld>
            <a:endParaRPr lang="en-US" dirty="0"/>
          </a:p>
        </p:txBody>
      </p:sp>
    </p:spTree>
    <p:extLst>
      <p:ext uri="{BB962C8B-B14F-4D97-AF65-F5344CB8AC3E}">
        <p14:creationId xmlns:p14="http://schemas.microsoft.com/office/powerpoint/2010/main" val="2578471475"/>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02097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903779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D0E2E-60CD-C58E-3B1A-CCBC7CB9F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6CB31-654F-FC98-E275-35C3E4F90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FEEFD-96A0-A69B-E147-E5EA1B00093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E9128C1-9DE1-B995-627C-AD1B148DA0AC}"/>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Information hiding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2785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356C2-B09F-53AD-BCE7-3F044B152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2EF27-F41A-45A4-D809-5CD932692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BCA7B-8D80-6156-9C6A-1B0CA711A3C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C2F1ED94-D5A8-E974-F4B2-BD7C44BFF19D}"/>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Information hiding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3890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269BC-3C58-AEF7-B70F-D11A101FE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BD5DB-3904-834E-EEAC-9A2306704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0777F-6B60-B9F9-5A75-8D131F3016C9}"/>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3814C3B-0C1C-D5D4-309D-56B4C525DD6B}"/>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Information hiding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05892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358336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740839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346012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05914-5EFE-EB37-2C37-B3E65DB08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D6BE86-84F6-A195-850F-F5260565F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B46E6-8012-16D2-7E03-0965E1DA7ED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1C127B1-24EA-E898-F429-0C58843A6AE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422410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1FB27-D3EE-9EF3-C7DE-B913B3066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983E5-B768-1CE0-86BF-2B104420D1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967A7-35F5-E819-9867-6C0FA2C2575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2F5FD5F-BC92-0343-D4D6-FC9E13878CF5}"/>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065736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599225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0E7C7-9592-8B33-1F05-828DC017E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3AAAE-3D55-8F15-A198-D345D91D2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DBC646-4A61-117A-9610-0DE4AC080167}"/>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648C9CD7-8492-8380-24BF-D1D76872275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941727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CDCFC-FCC5-B81C-D075-94F16A4C0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6568C-DA04-ECF3-129D-AC173C19E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A4830-8BF1-1B38-68C6-299CB8D5F54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2160F17A-5F2F-9F31-18E7-484C569C9B2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658700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F0B72-BEEA-A8D1-75F6-AC34B2654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815C4-BA0F-6A45-1526-8AAB0350A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F6F6A8-F03B-22B4-2891-B5F1E7152FB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9992C3B-8576-FF84-BB94-FB51480AE00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890011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C2DE-89C7-CEAE-C19C-6B636FC9D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632C40-1658-127E-0511-69F8B40C28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8682B-9389-E4BB-E10E-50C386CC805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AFE7682-9F2E-4129-FCA1-1C5FCBE00CD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022375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31F8-5DC6-4AC6-7E33-183802FE7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837E7-1B50-AF95-DD18-2602B2F385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05605-824C-9CA5-9254-BDB0AAB791B5}"/>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61ED66A-B9AC-4551-4116-0040266EE35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0508155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53001-5E27-B7E5-0738-392515CF0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8F755-DA32-3874-34D2-9C67A41D4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3DCC2-6587-581B-59D8-94C696BA2570}"/>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55DAD9E-8A17-A04C-2090-C87AEE960D11}"/>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6662737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9511-FDD6-492F-2F66-50D2F236E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A3665-890C-FE6B-5B74-33AB8E50CD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1E67BB-A98B-B0BC-56C3-297E7BD2A68F}"/>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BFC84481-916D-E743-253A-59D5BFAB679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4941666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E8E5-7AC5-3EB7-8B2D-8094E9A39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91EF98-0299-FE66-C230-55FD33969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5D2E3-C8EE-0F87-DF35-B889746344D1}"/>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156276E5-E740-01A4-3756-78DA94E5E744}"/>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469780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2C292-945F-F230-C844-3420718B69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230FF0-099C-A0D6-B163-F52F592F1F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0230F-3AC6-0BE8-13D3-677A6C6A58EC}"/>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BD2A629-C55B-F5FB-744B-8188B2C1A9F6}"/>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810729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047660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B7482-DE55-76A1-AA9A-C68C419F9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03F79-86A3-2E21-F03C-AD5B06AF1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789BD3-C4C1-143F-4BC7-E367D603784E}"/>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466C7D62-B9E9-EA74-2F5C-CEB866AD60C2}"/>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7089989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47CD7-B628-DDC9-36BC-9201CD47A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4AECE-C6CF-2822-EB2D-BC66BB80E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CE3648-7557-D45B-75BF-3664D0DE8B9B}"/>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3849567D-AA85-0A35-AE5C-D00D99BC7FD9}"/>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209531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D5C0-89E8-D7AD-8249-94BD8BFC1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8715F4-80A2-296D-6E37-7CFED95389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E277A-9F0A-B85E-9CEE-982341EB6003}"/>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F653700E-78CD-E75D-3F18-0032F7EA4A8F}"/>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1560598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D347-E537-B10A-BC59-11A434614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F4413-31FF-B5F3-E7D2-06D127BAE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DF25C5-C87C-A83E-508C-6CD197028848}"/>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65F49E8E-FB21-1792-DD33-5337871C423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3822596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FF9C9-4981-AA24-73DE-C510AA81E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5A064-C063-BC7E-AEED-9114BAF52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5221B-083A-5800-A4FE-536CFC84EB1A}"/>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F8FDBD09-BABF-23CC-7E7C-2E6520A119EC}"/>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54297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6FC61-C264-BD0E-A08B-2821B4F11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C4131-4D6B-EBF3-C5F7-08F0FF2DBB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57E9E1-6160-2EF8-D5C1-C3309A69ABDD}"/>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C3EBF3AD-B781-08C1-2E61-D16FFE20A66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1430502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EE546-2A08-D442-7C35-7CEBFDCEB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AB762-B0B9-BC46-0758-8801727D4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59FBB7-B14B-7B4A-737A-627A0F4E5022}"/>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70CB6B2B-F124-C153-888C-A36F8185BD5D}"/>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8702439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0C4B0-7C5D-30A5-3942-1A0FBC914B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BD2CF-A949-ACDA-1CEB-514E0C862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2E45B5-8E6C-9839-251D-9734DE5BE9B6}"/>
              </a:ext>
            </a:extLst>
          </p:cNvPr>
          <p:cNvSpPr>
            <a:spLocks noGrp="1"/>
          </p:cNvSpPr>
          <p:nvPr>
            <p:ph type="body" idx="1"/>
          </p:nvPr>
        </p:nvSpPr>
        <p:spPr/>
        <p:txBody>
          <a:bodyPr/>
          <a:lstStyle/>
          <a:p>
            <a:endParaRPr lang="en-US" dirty="0"/>
          </a:p>
        </p:txBody>
      </p:sp>
      <p:sp>
        <p:nvSpPr>
          <p:cNvPr id="4" name="Footer Placeholder 3">
            <a:extLst>
              <a:ext uri="{FF2B5EF4-FFF2-40B4-BE49-F238E27FC236}">
                <a16:creationId xmlns:a16="http://schemas.microsoft.com/office/drawing/2014/main" id="{AF11F7D3-97D5-7B52-48D5-F5AC8E7CC35A}"/>
              </a:ext>
            </a:extLst>
          </p:cNvPr>
          <p:cNvSpPr>
            <a:spLocks noGrp="1"/>
          </p:cNvSpPr>
          <p:nvPr>
            <p:ph type="ftr" sz="quarter" idx="4"/>
          </p:nvPr>
        </p:nvSpPr>
        <p:spPr/>
        <p:txBody>
          <a:bodyPr/>
          <a:lstStyle/>
          <a:p>
            <a:r>
              <a:rPr lang="en-US"/>
              <a:t>Information hiding</a:t>
            </a:r>
            <a:endParaRPr lang="en-US" dirty="0"/>
          </a:p>
        </p:txBody>
      </p:sp>
    </p:spTree>
    <p:extLst>
      <p:ext uri="{BB962C8B-B14F-4D97-AF65-F5344CB8AC3E}">
        <p14:creationId xmlns:p14="http://schemas.microsoft.com/office/powerpoint/2010/main" val="9282448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5" name="Footer Placeholder 4"/>
          <p:cNvSpPr>
            <a:spLocks noGrp="1"/>
          </p:cNvSpPr>
          <p:nvPr>
            <p:ph type="ftr" sz="quarter" idx="11"/>
          </p:nvPr>
        </p:nvSpPr>
        <p:spPr>
          <a:xfrm>
            <a:off x="457200" y="6470704"/>
            <a:ext cx="10287191" cy="274320"/>
          </a:xfrm>
        </p:spPr>
        <p:txBody>
          <a:bodyPr/>
          <a:lstStyle>
            <a:lvl1pPr algn="l">
              <a:defRPr sz="16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cxnSp>
        <p:nvCxnSpPr>
          <p:cNvPr id="14" name="Straight Connector 13"/>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8233107-685C-90D7-2591-4B7F6910EF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95801" y="112977"/>
            <a:ext cx="9000398" cy="4858932"/>
          </a:xfrm>
          <a:prstGeom prst="rect">
            <a:avLst/>
          </a:prstGeom>
          <a:ln>
            <a:noFill/>
          </a:ln>
          <a:effectLst>
            <a:softEdge rad="112500"/>
          </a:effectLst>
        </p:spPr>
      </p:pic>
    </p:spTree>
    <p:extLst>
      <p:ext uri="{BB962C8B-B14F-4D97-AF65-F5344CB8AC3E}">
        <p14:creationId xmlns:p14="http://schemas.microsoft.com/office/powerpoint/2010/main" val="12140629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7" y="585216"/>
            <a:ext cx="10266723" cy="1499616"/>
          </a:xfrm>
        </p:spPr>
        <p:txBody>
          <a:bodyPr/>
          <a:lstStyle/>
          <a:p>
            <a:r>
              <a:rPr lang="en-US"/>
              <a:t>Click to edit Master title style</a:t>
            </a:r>
            <a:endParaRPr lang="en-US" dirty="0"/>
          </a:p>
        </p:txBody>
      </p:sp>
      <p:sp>
        <p:nvSpPr>
          <p:cNvPr id="3" name="Content Placeholder 2"/>
          <p:cNvSpPr>
            <a:spLocks noGrp="1"/>
          </p:cNvSpPr>
          <p:nvPr>
            <p:ph idx="1"/>
          </p:nvPr>
        </p:nvSpPr>
        <p:spPr>
          <a:xfrm>
            <a:off x="1024128" y="2286000"/>
            <a:ext cx="10266724"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1024128" y="6461095"/>
            <a:ext cx="10266722" cy="274320"/>
          </a:xfrm>
        </p:spPr>
        <p:style>
          <a:lnRef idx="2">
            <a:schemeClr val="accent1"/>
          </a:lnRef>
          <a:fillRef idx="1">
            <a:schemeClr val="lt1"/>
          </a:fillRef>
          <a:effectRef idx="0">
            <a:schemeClr val="accent1"/>
          </a:effectRef>
          <a:fontRef idx="minor">
            <a:schemeClr val="dk1"/>
          </a:fontRef>
        </p:style>
        <p:txBody>
          <a:bodyPr/>
          <a:lstStyle>
            <a:lvl1pPr algn="l">
              <a:defRPr sz="1400" b="1"/>
            </a:lvl1pPr>
          </a:lstStyle>
          <a:p>
            <a:r>
              <a:rPr lang="en-US" cap="none" dirty="0"/>
              <a:t>Information Hiding, Shiraz University of Technology</a:t>
            </a:r>
            <a:endParaRPr lang="en-US" dirty="0"/>
          </a:p>
        </p:txBody>
      </p:sp>
      <p:sp>
        <p:nvSpPr>
          <p:cNvPr id="6" name="Slide Number Placeholder 5"/>
          <p:cNvSpPr>
            <a:spLocks noGrp="1"/>
          </p:cNvSpPr>
          <p:nvPr>
            <p:ph type="sldNum" sz="quarter" idx="12"/>
          </p:nvPr>
        </p:nvSpPr>
        <p:spPr>
          <a:xfrm>
            <a:off x="10813774" y="6461095"/>
            <a:ext cx="477076" cy="274320"/>
          </a:xfrm>
        </p:spPr>
        <p:txBody>
          <a:bodyPr/>
          <a:lstStyle>
            <a:lvl1pPr>
              <a:defRPr sz="1400" b="1"/>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1916650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381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261288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Information Hiding, Shiraz university of technology</a:t>
            </a:r>
          </a:p>
        </p:txBody>
      </p:sp>
      <p:sp>
        <p:nvSpPr>
          <p:cNvPr id="9" name="Slide Number Placeholder 8"/>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333617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Information Hiding, Shiraz university of technology</a:t>
            </a:r>
          </a:p>
        </p:txBody>
      </p:sp>
      <p:sp>
        <p:nvSpPr>
          <p:cNvPr id="5" name="Slide Number Placeholder 4"/>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85396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Information Hiding, Shiraz university of technology</a:t>
            </a:r>
          </a:p>
        </p:txBody>
      </p:sp>
      <p:sp>
        <p:nvSpPr>
          <p:cNvPr id="4" name="Slide Number Placeholder 3"/>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823376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lvl1pPr>
              <a:defRPr sz="1600"/>
            </a:lvl1p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lvl1pPr>
              <a:defRPr sz="1600"/>
            </a:lvl1pPr>
          </a:lstStyle>
          <a:p>
            <a:fld id="{382B47E1-F59F-47B3-8D16-B2A0740F319A}" type="slidenum">
              <a:rPr lang="en-US" smtClean="0"/>
              <a:pPr/>
              <a:t>‹#›</a:t>
            </a:fld>
            <a:endParaRPr lang="en-US" dirty="0"/>
          </a:p>
        </p:txBody>
      </p:sp>
    </p:spTree>
    <p:extLst>
      <p:ext uri="{BB962C8B-B14F-4D97-AF65-F5344CB8AC3E}">
        <p14:creationId xmlns:p14="http://schemas.microsoft.com/office/powerpoint/2010/main" val="34712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Information Hiding, Shiraz university of technology</a:t>
            </a:r>
          </a:p>
        </p:txBody>
      </p:sp>
      <p:sp>
        <p:nvSpPr>
          <p:cNvPr id="7" name="Slide Number Placeholder 6"/>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143070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spTree>
    <p:extLst>
      <p:ext uri="{BB962C8B-B14F-4D97-AF65-F5344CB8AC3E}">
        <p14:creationId xmlns:p14="http://schemas.microsoft.com/office/powerpoint/2010/main" val="2432730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Information Hiding, Shiraz university of technology</a:t>
            </a:r>
          </a:p>
        </p:txBody>
      </p:sp>
      <p:sp>
        <p:nvSpPr>
          <p:cNvPr id="6" name="Slide Number Placeholder 5"/>
          <p:cNvSpPr>
            <a:spLocks noGrp="1"/>
          </p:cNvSpPr>
          <p:nvPr>
            <p:ph type="sldNum" sz="quarter" idx="12"/>
          </p:nvPr>
        </p:nvSpPr>
        <p:spPr/>
        <p:txBody>
          <a:bodyPr/>
          <a:lstStyle/>
          <a:p>
            <a:fld id="{382B47E1-F59F-47B3-8D16-B2A0740F319A}"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2597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r>
              <a:rPr lang="en-US" dirty="0"/>
              <a:t>Information Hiding, Shiraz university of technology</a:t>
            </a:r>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382B47E1-F59F-47B3-8D16-B2A0740F319A}" type="slidenum">
              <a:rPr lang="en-US" smtClean="0"/>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888099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www.youtube.com/watch?v=wxmzHwd3z34" TargetMode="Externa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url?sa=t&amp;source=web&amp;rct=j&amp;opi=89978449&amp;url=https://web.stanford.edu/class/energy281/WaveletAnalysis.pdf&amp;ved=2ahUKEwjRq--n0oaNAxWrm_0HHRJQIJ8QFnoECCoQAQ&amp;usg=AOvVaw1aVZQw2FWvXIKVOpd6zvFM"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51.png"/><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60.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60.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54.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57.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6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5.png"/></Relationships>
</file>

<file path=ppt/slides/_rels/slide7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3.png"/><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8.png"/></Relationships>
</file>

<file path=ppt/slides/_rels/slide7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7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7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5" Type="http://schemas.openxmlformats.org/officeDocument/2006/relationships/image" Target="../media/image120.png"/><Relationship Id="rId4" Type="http://schemas.openxmlformats.org/officeDocument/2006/relationships/image" Target="../media/image119.png"/></Relationships>
</file>

<file path=ppt/slides/_rels/slide7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5" Type="http://schemas.openxmlformats.org/officeDocument/2006/relationships/image" Target="../media/image124.png"/><Relationship Id="rId4" Type="http://schemas.openxmlformats.org/officeDocument/2006/relationships/image" Target="../media/image123.png"/></Relationships>
</file>

<file path=ppt/slides/_rels/slide79.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88.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49.png"/><Relationship Id="rId4" Type="http://schemas.openxmlformats.org/officeDocument/2006/relationships/image" Target="../media/image148.png"/></Relationships>
</file>

<file path=ppt/slides/_rels/slide9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6.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7F952-F51B-9E16-AE94-2AF7EC3BB433}"/>
              </a:ext>
            </a:extLst>
          </p:cNvPr>
          <p:cNvSpPr>
            <a:spLocks noGrp="1"/>
          </p:cNvSpPr>
          <p:nvPr>
            <p:ph type="ctrTitle"/>
          </p:nvPr>
        </p:nvSpPr>
        <p:spPr/>
        <p:txBody>
          <a:bodyPr/>
          <a:lstStyle/>
          <a:p>
            <a:r>
              <a:rPr lang="en-US" b="1" dirty="0">
                <a:solidFill>
                  <a:srgbClr val="002060"/>
                </a:solidFill>
              </a:rPr>
              <a:t>INFORMATION HIDING</a:t>
            </a:r>
          </a:p>
        </p:txBody>
      </p:sp>
      <p:sp>
        <p:nvSpPr>
          <p:cNvPr id="3" name="Subtitle 2">
            <a:extLst>
              <a:ext uri="{FF2B5EF4-FFF2-40B4-BE49-F238E27FC236}">
                <a16:creationId xmlns:a16="http://schemas.microsoft.com/office/drawing/2014/main" id="{16550EBE-03C9-6663-B172-AE3DCD9F5899}"/>
              </a:ext>
            </a:extLst>
          </p:cNvPr>
          <p:cNvSpPr>
            <a:spLocks noGrp="1"/>
          </p:cNvSpPr>
          <p:nvPr>
            <p:ph type="subTitle" idx="1"/>
          </p:nvPr>
        </p:nvSpPr>
        <p:spPr>
          <a:xfrm>
            <a:off x="8100569" y="4944748"/>
            <a:ext cx="3200400" cy="1463040"/>
          </a:xfrm>
        </p:spPr>
        <p:txBody>
          <a:bodyPr>
            <a:normAutofit/>
          </a:bodyPr>
          <a:lstStyle/>
          <a:p>
            <a:pPr algn="ctr"/>
            <a:r>
              <a:rPr lang="en-US" sz="2800" b="1" dirty="0">
                <a:solidFill>
                  <a:srgbClr val="FF0000"/>
                </a:solidFill>
              </a:rPr>
              <a:t>Wavelet and Multiresolution Processing</a:t>
            </a:r>
            <a:endParaRPr lang="en-US" sz="1050" b="1" dirty="0">
              <a:solidFill>
                <a:srgbClr val="FF0000"/>
              </a:solidFill>
            </a:endParaRPr>
          </a:p>
        </p:txBody>
      </p:sp>
      <p:sp>
        <p:nvSpPr>
          <p:cNvPr id="11" name="TextBox 10">
            <a:extLst>
              <a:ext uri="{FF2B5EF4-FFF2-40B4-BE49-F238E27FC236}">
                <a16:creationId xmlns:a16="http://schemas.microsoft.com/office/drawing/2014/main" id="{0E33094A-8749-D231-8FF5-43D6BA1D77A6}"/>
              </a:ext>
            </a:extLst>
          </p:cNvPr>
          <p:cNvSpPr txBox="1"/>
          <p:nvPr/>
        </p:nvSpPr>
        <p:spPr>
          <a:xfrm>
            <a:off x="2799521" y="6100011"/>
            <a:ext cx="5092148"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pPr algn="ctr"/>
            <a:r>
              <a:rPr lang="en-US" sz="1400" b="1" dirty="0">
                <a:solidFill>
                  <a:schemeClr val="bg2">
                    <a:lumMod val="25000"/>
                  </a:schemeClr>
                </a:solidFill>
              </a:rPr>
              <a:t>Adib Nikjou, Shiraz University of Technology, Summer 2025</a:t>
            </a:r>
          </a:p>
        </p:txBody>
      </p:sp>
      <p:sp>
        <p:nvSpPr>
          <p:cNvPr id="12" name="TextBox 11">
            <a:extLst>
              <a:ext uri="{FF2B5EF4-FFF2-40B4-BE49-F238E27FC236}">
                <a16:creationId xmlns:a16="http://schemas.microsoft.com/office/drawing/2014/main" id="{6836F5FC-DE9E-73DE-9E2E-86BA1C06E55F}"/>
              </a:ext>
            </a:extLst>
          </p:cNvPr>
          <p:cNvSpPr txBox="1"/>
          <p:nvPr/>
        </p:nvSpPr>
        <p:spPr>
          <a:xfrm>
            <a:off x="1589024" y="4960137"/>
            <a:ext cx="5224271" cy="307777"/>
          </a:xfrm>
          <a:prstGeom prst="rect">
            <a:avLst/>
          </a:prstGeom>
          <a:noFill/>
        </p:spPr>
        <p:txBody>
          <a:bodyPr wrap="square" rtlCol="0">
            <a:spAutoFit/>
          </a:bodyPr>
          <a:lstStyle/>
          <a:p>
            <a:r>
              <a:rPr lang="en-US" sz="1400" b="1" dirty="0"/>
              <a:t>Hokusai’s most celebrated print called “ The Great Wave “ (1831)</a:t>
            </a:r>
          </a:p>
        </p:txBody>
      </p:sp>
    </p:spTree>
    <p:extLst>
      <p:ext uri="{BB962C8B-B14F-4D97-AF65-F5344CB8AC3E}">
        <p14:creationId xmlns:p14="http://schemas.microsoft.com/office/powerpoint/2010/main" val="13615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8F3C1-647A-E396-7C67-5F16E7AAE7C2}"/>
              </a:ext>
            </a:extLst>
          </p:cNvPr>
          <p:cNvSpPr>
            <a:spLocks noGrp="1"/>
          </p:cNvSpPr>
          <p:nvPr>
            <p:ph type="title"/>
          </p:nvPr>
        </p:nvSpPr>
        <p:spPr/>
        <p:txBody>
          <a:bodyPr>
            <a:normAutofit/>
          </a:bodyPr>
          <a:lstStyle/>
          <a:p>
            <a:r>
              <a:rPr lang="en-US" dirty="0">
                <a:solidFill>
                  <a:srgbClr val="0070C0"/>
                </a:solidFill>
              </a:rPr>
              <a:t>Lecture Overview</a:t>
            </a:r>
            <a:br>
              <a:rPr lang="en-US" dirty="0"/>
            </a:br>
            <a:r>
              <a:rPr lang="en-US" sz="2800" dirty="0"/>
              <a:t>Fundamentals of dft and dct</a:t>
            </a:r>
            <a:endParaRPr lang="en-US" sz="13800" dirty="0"/>
          </a:p>
        </p:txBody>
      </p:sp>
      <p:sp>
        <p:nvSpPr>
          <p:cNvPr id="3" name="Content Placeholder 2">
            <a:extLst>
              <a:ext uri="{FF2B5EF4-FFF2-40B4-BE49-F238E27FC236}">
                <a16:creationId xmlns:a16="http://schemas.microsoft.com/office/drawing/2014/main" id="{B7B31D50-2B26-22F4-9D92-84A1241F5378}"/>
              </a:ext>
            </a:extLst>
          </p:cNvPr>
          <p:cNvSpPr>
            <a:spLocks noGrp="1"/>
          </p:cNvSpPr>
          <p:nvPr>
            <p:ph idx="1"/>
          </p:nvPr>
        </p:nvSpPr>
        <p:spPr>
          <a:xfrm>
            <a:off x="1024126" y="2249424"/>
            <a:ext cx="10266724" cy="4023360"/>
          </a:xfrm>
        </p:spPr>
        <p:txBody>
          <a:bodyPr>
            <a:normAutofit/>
          </a:bodyPr>
          <a:lstStyle/>
          <a:p>
            <a:pPr marL="0" indent="0">
              <a:buNone/>
            </a:pPr>
            <a:r>
              <a:rPr lang="en-US" b="1" dirty="0"/>
              <a:t>1. History and Development </a:t>
            </a:r>
          </a:p>
          <a:p>
            <a:pPr lvl="1">
              <a:buFont typeface="Arial" panose="020B0604020202020204" pitchFamily="34" charset="0"/>
              <a:buChar char="•"/>
            </a:pPr>
            <a:r>
              <a:rPr lang="en-US" dirty="0"/>
              <a:t>Origins with Alfred Haar (1909) and conceptualization by Jean Morlet (1981) </a:t>
            </a:r>
          </a:p>
          <a:p>
            <a:pPr lvl="1">
              <a:buFont typeface="Arial" panose="020B0604020202020204" pitchFamily="34" charset="0"/>
              <a:buChar char="•"/>
            </a:pPr>
            <a:r>
              <a:rPr lang="en-US" dirty="0"/>
              <a:t>Evolution through contributions of Grossman, Meyer, Mallat, and Daubechies</a:t>
            </a:r>
          </a:p>
          <a:p>
            <a:pPr lvl="1">
              <a:buFont typeface="Arial" panose="020B0604020202020204" pitchFamily="34" charset="0"/>
              <a:buChar char="•"/>
            </a:pPr>
            <a:r>
              <a:rPr lang="en-US" dirty="0"/>
              <a:t>Timeline of key wavelet developments (1910-1989) </a:t>
            </a:r>
          </a:p>
          <a:p>
            <a:pPr lvl="1">
              <a:buFont typeface="Arial" panose="020B0604020202020204" pitchFamily="34" charset="0"/>
              <a:buChar char="•"/>
            </a:pPr>
            <a:r>
              <a:rPr lang="en-US" dirty="0"/>
              <a:t>First international conference in France (1987)</a:t>
            </a:r>
          </a:p>
          <a:p>
            <a:pPr lvl="1">
              <a:buFont typeface="Arial" panose="020B0604020202020204" pitchFamily="34" charset="0"/>
              <a:buChar char="•"/>
            </a:pPr>
            <a:endParaRPr lang="en-US" sz="1600" dirty="0"/>
          </a:p>
          <a:p>
            <a:pPr>
              <a:buNone/>
            </a:pPr>
            <a:r>
              <a:rPr lang="en-US" b="1" dirty="0"/>
              <a:t>2. ADVANCED SIGNAL PROCESSING TECHNIQUES (</a:t>
            </a:r>
            <a:r>
              <a:rPr lang="en-US" dirty="0"/>
              <a:t>Windowed Fourier Analysis)</a:t>
            </a:r>
          </a:p>
          <a:p>
            <a:pPr lvl="1">
              <a:buFont typeface="Arial" panose="020B0604020202020204" pitchFamily="34" charset="0"/>
              <a:buChar char="•"/>
            </a:pPr>
            <a:r>
              <a:rPr lang="en-US" dirty="0"/>
              <a:t> Short-Time Fourier Transform (STFT) principles</a:t>
            </a:r>
          </a:p>
          <a:p>
            <a:pPr lvl="1">
              <a:buFont typeface="Arial" panose="020B0604020202020204" pitchFamily="34" charset="0"/>
              <a:buChar char="•"/>
            </a:pPr>
            <a:r>
              <a:rPr lang="en-US" dirty="0"/>
              <a:t>Gabor transform and time-frequency representation</a:t>
            </a:r>
          </a:p>
          <a:p>
            <a:pPr lvl="1">
              <a:buFont typeface="Arial" panose="020B0604020202020204" pitchFamily="34" charset="0"/>
              <a:buChar char="•"/>
            </a:pPr>
            <a:r>
              <a:rPr lang="en-US" dirty="0"/>
              <a:t>Spectrograms and scalograms</a:t>
            </a:r>
          </a:p>
          <a:p>
            <a:pPr lvl="1">
              <a:buFont typeface="Arial" panose="020B0604020202020204" pitchFamily="34" charset="0"/>
              <a:buChar char="•"/>
            </a:pPr>
            <a:r>
              <a:rPr lang="en-US" dirty="0"/>
              <a:t>Heisenberg's uncertainty principle and time-frequency resolution limits</a:t>
            </a:r>
          </a:p>
        </p:txBody>
      </p:sp>
      <p:sp>
        <p:nvSpPr>
          <p:cNvPr id="4" name="Footer Placeholder 3">
            <a:extLst>
              <a:ext uri="{FF2B5EF4-FFF2-40B4-BE49-F238E27FC236}">
                <a16:creationId xmlns:a16="http://schemas.microsoft.com/office/drawing/2014/main" id="{07174169-2756-B5E6-FF31-2A010CA4A7A0}"/>
              </a:ext>
            </a:extLst>
          </p:cNvPr>
          <p:cNvSpPr>
            <a:spLocks noGrp="1"/>
          </p:cNvSpPr>
          <p:nvPr>
            <p:ph type="ftr" sz="quarter" idx="11"/>
          </p:nvPr>
        </p:nvSpPr>
        <p:spPr/>
        <p:txBody>
          <a:bodyPr/>
          <a:lstStyle/>
          <a:p>
            <a:r>
              <a:rPr lang="en-US" cap="none" dirty="0"/>
              <a:t>Information Hiding, Shiraz University of Technology</a:t>
            </a:r>
          </a:p>
        </p:txBody>
      </p:sp>
      <p:sp>
        <p:nvSpPr>
          <p:cNvPr id="5" name="Slide Number Placeholder 4">
            <a:extLst>
              <a:ext uri="{FF2B5EF4-FFF2-40B4-BE49-F238E27FC236}">
                <a16:creationId xmlns:a16="http://schemas.microsoft.com/office/drawing/2014/main" id="{44ADEB55-7ACB-EA23-6545-2FEA29E19E2C}"/>
              </a:ext>
            </a:extLst>
          </p:cNvPr>
          <p:cNvSpPr>
            <a:spLocks noGrp="1"/>
          </p:cNvSpPr>
          <p:nvPr>
            <p:ph type="sldNum" sz="quarter" idx="12"/>
          </p:nvPr>
        </p:nvSpPr>
        <p:spPr/>
        <p:txBody>
          <a:bodyPr/>
          <a:lstStyle/>
          <a:p>
            <a:fld id="{382B47E1-F59F-47B3-8D16-B2A0740F319A}" type="slidenum">
              <a:rPr lang="en-US" smtClean="0"/>
              <a:t>2</a:t>
            </a:fld>
            <a:endParaRPr lang="en-US" dirty="0"/>
          </a:p>
        </p:txBody>
      </p:sp>
    </p:spTree>
    <p:extLst>
      <p:ext uri="{BB962C8B-B14F-4D97-AF65-F5344CB8AC3E}">
        <p14:creationId xmlns:p14="http://schemas.microsoft.com/office/powerpoint/2010/main" val="10532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2054F-027F-EB07-B74C-0E4C9DCD5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93E28A-26C7-19F4-29D9-7AA0EA72A2B1}"/>
              </a:ext>
            </a:extLst>
          </p:cNvPr>
          <p:cNvSpPr>
            <a:spLocks noGrp="1"/>
          </p:cNvSpPr>
          <p:nvPr>
            <p:ph type="title"/>
          </p:nvPr>
        </p:nvSpPr>
        <p:spPr/>
        <p:txBody>
          <a:bodyPr>
            <a:normAutofit/>
          </a:bodyPr>
          <a:lstStyle/>
          <a:p>
            <a:r>
              <a:rPr lang="en-US" dirty="0">
                <a:solidFill>
                  <a:srgbClr val="0070C0"/>
                </a:solidFill>
              </a:rPr>
              <a:t>Lecture Overview</a:t>
            </a:r>
            <a:br>
              <a:rPr lang="en-US" dirty="0"/>
            </a:br>
            <a:r>
              <a:rPr lang="en-US" sz="2800" dirty="0"/>
              <a:t>Fundamentals of dft and dct</a:t>
            </a:r>
            <a:endParaRPr lang="en-US" sz="13800" dirty="0"/>
          </a:p>
        </p:txBody>
      </p:sp>
      <p:sp>
        <p:nvSpPr>
          <p:cNvPr id="3" name="Content Placeholder 2">
            <a:extLst>
              <a:ext uri="{FF2B5EF4-FFF2-40B4-BE49-F238E27FC236}">
                <a16:creationId xmlns:a16="http://schemas.microsoft.com/office/drawing/2014/main" id="{52B852DB-588D-8760-2064-70FB90C2CB05}"/>
              </a:ext>
            </a:extLst>
          </p:cNvPr>
          <p:cNvSpPr>
            <a:spLocks noGrp="1"/>
          </p:cNvSpPr>
          <p:nvPr>
            <p:ph idx="1"/>
          </p:nvPr>
        </p:nvSpPr>
        <p:spPr>
          <a:xfrm>
            <a:off x="1024126" y="2249424"/>
            <a:ext cx="10266724" cy="4023360"/>
          </a:xfrm>
        </p:spPr>
        <p:txBody>
          <a:bodyPr>
            <a:normAutofit/>
          </a:bodyPr>
          <a:lstStyle/>
          <a:p>
            <a:pPr marL="0" indent="0">
              <a:buNone/>
            </a:pPr>
            <a:r>
              <a:rPr lang="en-US" b="1" dirty="0"/>
              <a:t>3. ADVANCED SIGNAL PROCESSING TECHNIQUES (</a:t>
            </a:r>
            <a:r>
              <a:rPr lang="en-US" dirty="0"/>
              <a:t>Wavelet Transform Fundamentals)</a:t>
            </a:r>
            <a:endParaRPr lang="en-US" b="1" dirty="0"/>
          </a:p>
          <a:p>
            <a:pPr lvl="1">
              <a:buFont typeface="Arial" panose="020B0604020202020204" pitchFamily="34" charset="0"/>
              <a:buChar char="•"/>
            </a:pPr>
            <a:r>
              <a:rPr lang="en-US" dirty="0"/>
              <a:t>Continuous Wavelet Transform (CWT) definition and properties</a:t>
            </a:r>
          </a:p>
          <a:p>
            <a:pPr lvl="1">
              <a:buFont typeface="Arial" panose="020B0604020202020204" pitchFamily="34" charset="0"/>
              <a:buChar char="•"/>
            </a:pPr>
            <a:r>
              <a:rPr lang="en-US" dirty="0"/>
              <a:t>Mother wavelets and their characteristics </a:t>
            </a:r>
          </a:p>
          <a:p>
            <a:pPr lvl="1">
              <a:buFont typeface="Arial" panose="020B0604020202020204" pitchFamily="34" charset="0"/>
              <a:buChar char="•"/>
            </a:pPr>
            <a:r>
              <a:rPr lang="en-US" dirty="0"/>
              <a:t>Time-frequency resolution advantages over STFT</a:t>
            </a:r>
          </a:p>
          <a:p>
            <a:pPr lvl="1">
              <a:buFont typeface="Arial" panose="020B0604020202020204" pitchFamily="34" charset="0"/>
              <a:buChar char="•"/>
            </a:pPr>
            <a:r>
              <a:rPr lang="en-US" dirty="0"/>
              <a:t>Wavelet behavior as band-pass filters</a:t>
            </a:r>
          </a:p>
          <a:p>
            <a:pPr lvl="1">
              <a:buFont typeface="Arial" panose="020B0604020202020204" pitchFamily="34" charset="0"/>
              <a:buChar char="•"/>
            </a:pPr>
            <a:endParaRPr lang="en-US" sz="1600" dirty="0"/>
          </a:p>
          <a:p>
            <a:pPr>
              <a:buNone/>
            </a:pPr>
            <a:r>
              <a:rPr lang="en-US" b="1" dirty="0"/>
              <a:t>4. DISCRETE WAVELET TRANSFORM (</a:t>
            </a:r>
            <a:r>
              <a:rPr lang="en-US" dirty="0"/>
              <a:t>Fast Wavelet Transform)</a:t>
            </a:r>
            <a:endParaRPr lang="en-US" b="1" dirty="0"/>
          </a:p>
          <a:p>
            <a:pPr lvl="1">
              <a:buFont typeface="Arial" panose="020B0604020202020204" pitchFamily="34" charset="0"/>
              <a:buChar char="•"/>
            </a:pPr>
            <a:r>
              <a:rPr lang="en-US" dirty="0"/>
              <a:t>Dyadic wavelet transform and multi-resolution analysis </a:t>
            </a:r>
          </a:p>
          <a:p>
            <a:pPr lvl="1">
              <a:buFont typeface="Arial" panose="020B0604020202020204" pitchFamily="34" charset="0"/>
              <a:buChar char="•"/>
            </a:pPr>
            <a:r>
              <a:rPr lang="en-US" dirty="0"/>
              <a:t>Filter bank implementation (low-pass and high-pass)</a:t>
            </a:r>
          </a:p>
          <a:p>
            <a:pPr lvl="1">
              <a:buFont typeface="Arial" panose="020B0604020202020204" pitchFamily="34" charset="0"/>
              <a:buChar char="•"/>
            </a:pPr>
            <a:r>
              <a:rPr lang="en-US" dirty="0"/>
              <a:t>Decomposition and reconstruction processes</a:t>
            </a:r>
          </a:p>
          <a:p>
            <a:pPr lvl="1">
              <a:buFont typeface="Arial" panose="020B0604020202020204" pitchFamily="34" charset="0"/>
              <a:buChar char="•"/>
            </a:pPr>
            <a:r>
              <a:rPr lang="en-US" dirty="0"/>
              <a:t>Analysis and synthesis operations</a:t>
            </a:r>
          </a:p>
        </p:txBody>
      </p:sp>
      <p:sp>
        <p:nvSpPr>
          <p:cNvPr id="4" name="Footer Placeholder 3">
            <a:extLst>
              <a:ext uri="{FF2B5EF4-FFF2-40B4-BE49-F238E27FC236}">
                <a16:creationId xmlns:a16="http://schemas.microsoft.com/office/drawing/2014/main" id="{8DB80313-E427-5093-66F5-65EFE6CB5305}"/>
              </a:ext>
            </a:extLst>
          </p:cNvPr>
          <p:cNvSpPr>
            <a:spLocks noGrp="1"/>
          </p:cNvSpPr>
          <p:nvPr>
            <p:ph type="ftr" sz="quarter" idx="11"/>
          </p:nvPr>
        </p:nvSpPr>
        <p:spPr/>
        <p:txBody>
          <a:bodyPr/>
          <a:lstStyle/>
          <a:p>
            <a:r>
              <a:rPr lang="en-US" cap="none" dirty="0"/>
              <a:t>Information Hiding, Shiraz University of Technology</a:t>
            </a:r>
          </a:p>
        </p:txBody>
      </p:sp>
      <p:sp>
        <p:nvSpPr>
          <p:cNvPr id="5" name="Slide Number Placeholder 4">
            <a:extLst>
              <a:ext uri="{FF2B5EF4-FFF2-40B4-BE49-F238E27FC236}">
                <a16:creationId xmlns:a16="http://schemas.microsoft.com/office/drawing/2014/main" id="{DD991D9C-C558-9061-12E4-430950E160C2}"/>
              </a:ext>
            </a:extLst>
          </p:cNvPr>
          <p:cNvSpPr>
            <a:spLocks noGrp="1"/>
          </p:cNvSpPr>
          <p:nvPr>
            <p:ph type="sldNum" sz="quarter" idx="12"/>
          </p:nvPr>
        </p:nvSpPr>
        <p:spPr/>
        <p:txBody>
          <a:bodyPr/>
          <a:lstStyle/>
          <a:p>
            <a:fld id="{382B47E1-F59F-47B3-8D16-B2A0740F319A}" type="slidenum">
              <a:rPr lang="en-US" smtClean="0"/>
              <a:t>3</a:t>
            </a:fld>
            <a:endParaRPr lang="en-US" dirty="0"/>
          </a:p>
        </p:txBody>
      </p:sp>
    </p:spTree>
    <p:extLst>
      <p:ext uri="{BB962C8B-B14F-4D97-AF65-F5344CB8AC3E}">
        <p14:creationId xmlns:p14="http://schemas.microsoft.com/office/powerpoint/2010/main" val="1211618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4DF8-0E74-251A-9D46-4F6DAE82C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6E1F1-E45A-B914-8493-CA4A5B2C9FD0}"/>
              </a:ext>
            </a:extLst>
          </p:cNvPr>
          <p:cNvSpPr>
            <a:spLocks noGrp="1"/>
          </p:cNvSpPr>
          <p:nvPr>
            <p:ph type="title"/>
          </p:nvPr>
        </p:nvSpPr>
        <p:spPr/>
        <p:txBody>
          <a:bodyPr>
            <a:normAutofit/>
          </a:bodyPr>
          <a:lstStyle/>
          <a:p>
            <a:r>
              <a:rPr lang="en-US" dirty="0">
                <a:solidFill>
                  <a:srgbClr val="0070C0"/>
                </a:solidFill>
              </a:rPr>
              <a:t>Lecture Overview</a:t>
            </a:r>
            <a:br>
              <a:rPr lang="en-US" dirty="0"/>
            </a:br>
            <a:r>
              <a:rPr lang="en-US" sz="2800" dirty="0"/>
              <a:t>Fundamentals of dft and dct</a:t>
            </a:r>
            <a:endParaRPr lang="en-US" sz="13800" dirty="0"/>
          </a:p>
        </p:txBody>
      </p:sp>
      <p:sp>
        <p:nvSpPr>
          <p:cNvPr id="3" name="Content Placeholder 2">
            <a:extLst>
              <a:ext uri="{FF2B5EF4-FFF2-40B4-BE49-F238E27FC236}">
                <a16:creationId xmlns:a16="http://schemas.microsoft.com/office/drawing/2014/main" id="{794F824D-6161-E9C1-7490-F113332E1AF0}"/>
              </a:ext>
            </a:extLst>
          </p:cNvPr>
          <p:cNvSpPr>
            <a:spLocks noGrp="1"/>
          </p:cNvSpPr>
          <p:nvPr>
            <p:ph idx="1"/>
          </p:nvPr>
        </p:nvSpPr>
        <p:spPr>
          <a:xfrm>
            <a:off x="1024126" y="2249424"/>
            <a:ext cx="10266724" cy="4023360"/>
          </a:xfrm>
        </p:spPr>
        <p:txBody>
          <a:bodyPr>
            <a:normAutofit/>
          </a:bodyPr>
          <a:lstStyle/>
          <a:p>
            <a:pPr marL="0" indent="0">
              <a:buNone/>
            </a:pPr>
            <a:r>
              <a:rPr lang="en-US" b="1" dirty="0"/>
              <a:t>5. DISCRETE WAVELET TRANSFORM (</a:t>
            </a:r>
            <a:r>
              <a:rPr lang="en-US" dirty="0"/>
              <a:t>Two-Dimensional Applications)</a:t>
            </a:r>
            <a:endParaRPr lang="en-US" b="1" dirty="0"/>
          </a:p>
          <a:p>
            <a:pPr lvl="1">
              <a:buFont typeface="Arial" panose="020B0604020202020204" pitchFamily="34" charset="0"/>
              <a:buChar char="•"/>
            </a:pPr>
            <a:r>
              <a:rPr lang="en-US" dirty="0"/>
              <a:t>2D DWT implementation for image processing</a:t>
            </a:r>
          </a:p>
          <a:p>
            <a:pPr lvl="1">
              <a:buFont typeface="Arial" panose="020B0604020202020204" pitchFamily="34" charset="0"/>
              <a:buChar char="•"/>
            </a:pPr>
            <a:r>
              <a:rPr lang="en-US" dirty="0"/>
              <a:t>Multi-level decomposition techniques</a:t>
            </a:r>
          </a:p>
          <a:p>
            <a:pPr lvl="1">
              <a:buFont typeface="Arial" panose="020B0604020202020204" pitchFamily="34" charset="0"/>
              <a:buChar char="•"/>
            </a:pPr>
            <a:r>
              <a:rPr lang="en-US" dirty="0"/>
              <a:t>Lifting scheme approach (Split-Predict-Update)</a:t>
            </a:r>
          </a:p>
          <a:p>
            <a:pPr lvl="1">
              <a:buFont typeface="Arial" panose="020B0604020202020204" pitchFamily="34" charset="0"/>
              <a:buChar char="•"/>
            </a:pPr>
            <a:r>
              <a:rPr lang="en-US" dirty="0"/>
              <a:t>Applications in image analysis and compression</a:t>
            </a:r>
            <a:endParaRPr lang="en-US" sz="1600" dirty="0"/>
          </a:p>
        </p:txBody>
      </p:sp>
      <p:sp>
        <p:nvSpPr>
          <p:cNvPr id="4" name="Footer Placeholder 3">
            <a:extLst>
              <a:ext uri="{FF2B5EF4-FFF2-40B4-BE49-F238E27FC236}">
                <a16:creationId xmlns:a16="http://schemas.microsoft.com/office/drawing/2014/main" id="{045DA669-76AC-CA34-9846-00BE9E2D9FD7}"/>
              </a:ext>
            </a:extLst>
          </p:cNvPr>
          <p:cNvSpPr>
            <a:spLocks noGrp="1"/>
          </p:cNvSpPr>
          <p:nvPr>
            <p:ph type="ftr" sz="quarter" idx="11"/>
          </p:nvPr>
        </p:nvSpPr>
        <p:spPr/>
        <p:txBody>
          <a:bodyPr/>
          <a:lstStyle/>
          <a:p>
            <a:r>
              <a:rPr lang="en-US" cap="none" dirty="0"/>
              <a:t>Information Hiding, Shiraz University of Technology</a:t>
            </a:r>
          </a:p>
        </p:txBody>
      </p:sp>
      <p:sp>
        <p:nvSpPr>
          <p:cNvPr id="5" name="Slide Number Placeholder 4">
            <a:extLst>
              <a:ext uri="{FF2B5EF4-FFF2-40B4-BE49-F238E27FC236}">
                <a16:creationId xmlns:a16="http://schemas.microsoft.com/office/drawing/2014/main" id="{C1459D79-6889-3E66-6E74-9256768A7277}"/>
              </a:ext>
            </a:extLst>
          </p:cNvPr>
          <p:cNvSpPr>
            <a:spLocks noGrp="1"/>
          </p:cNvSpPr>
          <p:nvPr>
            <p:ph type="sldNum" sz="quarter" idx="12"/>
          </p:nvPr>
        </p:nvSpPr>
        <p:spPr/>
        <p:txBody>
          <a:bodyPr/>
          <a:lstStyle/>
          <a:p>
            <a:fld id="{382B47E1-F59F-47B3-8D16-B2A0740F319A}" type="slidenum">
              <a:rPr lang="en-US" smtClean="0"/>
              <a:t>4</a:t>
            </a:fld>
            <a:endParaRPr lang="en-US" dirty="0"/>
          </a:p>
        </p:txBody>
      </p:sp>
    </p:spTree>
    <p:extLst>
      <p:ext uri="{BB962C8B-B14F-4D97-AF65-F5344CB8AC3E}">
        <p14:creationId xmlns:p14="http://schemas.microsoft.com/office/powerpoint/2010/main" val="2875684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EB91B08-215F-49DC-E157-8EF0F04CFBCC}"/>
              </a:ext>
            </a:extLst>
          </p:cNvPr>
          <p:cNvSpPr txBox="1"/>
          <p:nvPr/>
        </p:nvSpPr>
        <p:spPr>
          <a:xfrm>
            <a:off x="9320805" y="980791"/>
            <a:ext cx="2509520" cy="517144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2" name="Title 1">
            <a:extLst>
              <a:ext uri="{FF2B5EF4-FFF2-40B4-BE49-F238E27FC236}">
                <a16:creationId xmlns:a16="http://schemas.microsoft.com/office/drawing/2014/main" id="{71A252D9-DB92-6118-4B94-244B448A2C07}"/>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solidFill>
                <a:srgbClr val="FF0000"/>
              </a:solidFill>
            </a:endParaRPr>
          </a:p>
        </p:txBody>
      </p:sp>
      <p:sp>
        <p:nvSpPr>
          <p:cNvPr id="3" name="Content Placeholder 2">
            <a:extLst>
              <a:ext uri="{FF2B5EF4-FFF2-40B4-BE49-F238E27FC236}">
                <a16:creationId xmlns:a16="http://schemas.microsoft.com/office/drawing/2014/main" id="{8BAC8909-22E6-A208-3650-A4EF07A28077}"/>
              </a:ext>
            </a:extLst>
          </p:cNvPr>
          <p:cNvSpPr>
            <a:spLocks noGrp="1"/>
          </p:cNvSpPr>
          <p:nvPr>
            <p:ph idx="1"/>
          </p:nvPr>
        </p:nvSpPr>
        <p:spPr>
          <a:xfrm>
            <a:off x="1024126" y="2204055"/>
            <a:ext cx="10266724" cy="4531360"/>
          </a:xfrm>
        </p:spPr>
        <p:txBody>
          <a:bodyPr>
            <a:normAutofit/>
          </a:bodyPr>
          <a:lstStyle/>
          <a:p>
            <a:pPr>
              <a:buFont typeface="Wingdings" panose="05000000000000000000" pitchFamily="2" charset="2"/>
              <a:buChar char="q"/>
            </a:pPr>
            <a:r>
              <a:rPr lang="en-US" dirty="0"/>
              <a:t> Wavelets were developed in the </a:t>
            </a:r>
            <a:r>
              <a:rPr lang="en-US" b="1" dirty="0"/>
              <a:t>80’s and 90’s as an alternative to</a:t>
            </a:r>
          </a:p>
          <a:p>
            <a:pPr marL="0" indent="0">
              <a:spcBef>
                <a:spcPts val="0"/>
              </a:spcBef>
              <a:buNone/>
            </a:pPr>
            <a:r>
              <a:rPr lang="en-US" b="1" dirty="0"/>
              <a:t> Fourier analysis of signals</a:t>
            </a:r>
            <a:r>
              <a:rPr lang="en-US" dirty="0"/>
              <a:t>.</a:t>
            </a:r>
          </a:p>
          <a:p>
            <a:pPr marL="0" indent="0">
              <a:spcBef>
                <a:spcPts val="0"/>
              </a:spcBef>
              <a:buNone/>
            </a:pPr>
            <a:endParaRPr lang="en-US" dirty="0"/>
          </a:p>
          <a:p>
            <a:pPr>
              <a:buFont typeface="Wingdings" panose="05000000000000000000" pitchFamily="2" charset="2"/>
              <a:buChar char="q"/>
            </a:pPr>
            <a:r>
              <a:rPr lang="en-US" dirty="0"/>
              <a:t> Some of the main people involved in this development were</a:t>
            </a:r>
          </a:p>
          <a:p>
            <a:pPr marL="0" indent="0">
              <a:spcBef>
                <a:spcPts val="0"/>
              </a:spcBef>
              <a:buNone/>
            </a:pPr>
            <a:r>
              <a:rPr lang="en-US" dirty="0"/>
              <a:t> </a:t>
            </a:r>
            <a:r>
              <a:rPr lang="en-US" b="1" dirty="0"/>
              <a:t>Jean Morlet (a petroleum engineer), Alex Grossman,</a:t>
            </a:r>
          </a:p>
          <a:p>
            <a:pPr marL="0" indent="0">
              <a:spcBef>
                <a:spcPts val="0"/>
              </a:spcBef>
              <a:buNone/>
            </a:pPr>
            <a:r>
              <a:rPr lang="en-US" b="1" dirty="0"/>
              <a:t> Tves Meyer, Stephane Mallat, Alfred Haar, and Ingrid Daubechies.</a:t>
            </a:r>
            <a:endParaRPr lang="en-US" dirty="0"/>
          </a:p>
        </p:txBody>
      </p:sp>
      <p:sp>
        <p:nvSpPr>
          <p:cNvPr id="4" name="Footer Placeholder 3">
            <a:extLst>
              <a:ext uri="{FF2B5EF4-FFF2-40B4-BE49-F238E27FC236}">
                <a16:creationId xmlns:a16="http://schemas.microsoft.com/office/drawing/2014/main" id="{CA886546-B2ED-3DEC-E886-24A3E73416D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BEC244C-FED9-8798-CBBE-EB79DD622615}"/>
              </a:ext>
            </a:extLst>
          </p:cNvPr>
          <p:cNvSpPr>
            <a:spLocks noGrp="1"/>
          </p:cNvSpPr>
          <p:nvPr>
            <p:ph type="sldNum" sz="quarter" idx="12"/>
          </p:nvPr>
        </p:nvSpPr>
        <p:spPr/>
        <p:txBody>
          <a:bodyPr/>
          <a:lstStyle/>
          <a:p>
            <a:fld id="{382B47E1-F59F-47B3-8D16-B2A0740F319A}" type="slidenum">
              <a:rPr lang="en-US" smtClean="0"/>
              <a:pPr/>
              <a:t>5</a:t>
            </a:fld>
            <a:endParaRPr lang="en-US" dirty="0"/>
          </a:p>
        </p:txBody>
      </p:sp>
      <p:pic>
        <p:nvPicPr>
          <p:cNvPr id="7" name="Picture 6">
            <a:extLst>
              <a:ext uri="{FF2B5EF4-FFF2-40B4-BE49-F238E27FC236}">
                <a16:creationId xmlns:a16="http://schemas.microsoft.com/office/drawing/2014/main" id="{E1EF1DAF-4BC2-6ED6-CF80-B3FE8698A14B}"/>
              </a:ext>
            </a:extLst>
          </p:cNvPr>
          <p:cNvPicPr>
            <a:picLocks noChangeAspect="1"/>
          </p:cNvPicPr>
          <p:nvPr/>
        </p:nvPicPr>
        <p:blipFill>
          <a:blip r:embed="rId2"/>
          <a:stretch>
            <a:fillRect/>
          </a:stretch>
        </p:blipFill>
        <p:spPr>
          <a:xfrm>
            <a:off x="9476586" y="1954821"/>
            <a:ext cx="2210108" cy="4086795"/>
          </a:xfrm>
          <a:prstGeom prst="rect">
            <a:avLst/>
          </a:prstGeom>
        </p:spPr>
      </p:pic>
      <p:sp>
        <p:nvSpPr>
          <p:cNvPr id="8" name="TextBox 7">
            <a:extLst>
              <a:ext uri="{FF2B5EF4-FFF2-40B4-BE49-F238E27FC236}">
                <a16:creationId xmlns:a16="http://schemas.microsoft.com/office/drawing/2014/main" id="{7FD12FFC-27CD-F2C7-4583-4790DC560BB1}"/>
              </a:ext>
            </a:extLst>
          </p:cNvPr>
          <p:cNvSpPr txBox="1"/>
          <p:nvPr/>
        </p:nvSpPr>
        <p:spPr>
          <a:xfrm>
            <a:off x="8793480" y="1031491"/>
            <a:ext cx="3576320" cy="923330"/>
          </a:xfrm>
          <a:prstGeom prst="rect">
            <a:avLst/>
          </a:prstGeom>
          <a:noFill/>
        </p:spPr>
        <p:txBody>
          <a:bodyPr wrap="square" rtlCol="0">
            <a:spAutoFit/>
          </a:bodyPr>
          <a:lstStyle/>
          <a:p>
            <a:pPr algn="ctr"/>
            <a:r>
              <a:rPr lang="en-US" b="1" dirty="0"/>
              <a:t>Jean Morlet</a:t>
            </a:r>
          </a:p>
          <a:p>
            <a:pPr algn="ctr"/>
            <a:r>
              <a:rPr lang="en-US" b="1" dirty="0"/>
              <a:t>French geophysicist</a:t>
            </a:r>
          </a:p>
          <a:p>
            <a:pPr algn="ctr"/>
            <a:r>
              <a:rPr lang="en-US" b="1" dirty="0"/>
              <a:t> (1931–2007)</a:t>
            </a:r>
          </a:p>
        </p:txBody>
      </p:sp>
    </p:spTree>
    <p:extLst>
      <p:ext uri="{BB962C8B-B14F-4D97-AF65-F5344CB8AC3E}">
        <p14:creationId xmlns:p14="http://schemas.microsoft.com/office/powerpoint/2010/main" val="1783436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19D0-688A-F013-7449-B700C6BFFC43}"/>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4BD62BC7-1D30-DFE4-C363-D3E0B64D8E6B}"/>
              </a:ext>
            </a:extLst>
          </p:cNvPr>
          <p:cNvSpPr txBox="1"/>
          <p:nvPr/>
        </p:nvSpPr>
        <p:spPr>
          <a:xfrm>
            <a:off x="8606493" y="1771247"/>
            <a:ext cx="2906820" cy="39703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endParaRPr lang="en-US" b="1" dirty="0"/>
          </a:p>
          <a:p>
            <a:pPr algn="ctr"/>
            <a:r>
              <a:rPr lang="en-US" b="1" dirty="0"/>
              <a:t>Alfréd Haar</a:t>
            </a:r>
          </a:p>
          <a:p>
            <a:pPr algn="ctr"/>
            <a:r>
              <a:rPr lang="en-US" b="1" dirty="0">
                <a:solidFill>
                  <a:srgbClr val="000000"/>
                </a:solidFill>
              </a:rPr>
              <a:t>Hungarian mathematician</a:t>
            </a:r>
          </a:p>
          <a:p>
            <a:pPr algn="ctr"/>
            <a:r>
              <a:rPr lang="en-US" b="1" dirty="0">
                <a:solidFill>
                  <a:srgbClr val="000000"/>
                </a:solidFill>
              </a:rPr>
              <a:t>(1885-1933)</a:t>
            </a:r>
          </a:p>
        </p:txBody>
      </p:sp>
      <p:sp>
        <p:nvSpPr>
          <p:cNvPr id="2" name="Title 1">
            <a:extLst>
              <a:ext uri="{FF2B5EF4-FFF2-40B4-BE49-F238E27FC236}">
                <a16:creationId xmlns:a16="http://schemas.microsoft.com/office/drawing/2014/main" id="{1B470DC0-00DD-ABC5-D522-0434F1721FBE}"/>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solidFill>
                <a:srgbClr val="FF0000"/>
              </a:solidFill>
            </a:endParaRPr>
          </a:p>
        </p:txBody>
      </p:sp>
      <p:sp>
        <p:nvSpPr>
          <p:cNvPr id="3" name="Content Placeholder 2">
            <a:extLst>
              <a:ext uri="{FF2B5EF4-FFF2-40B4-BE49-F238E27FC236}">
                <a16:creationId xmlns:a16="http://schemas.microsoft.com/office/drawing/2014/main" id="{B1412E1E-F35D-7143-5D99-D007B1B7F504}"/>
              </a:ext>
            </a:extLst>
          </p:cNvPr>
          <p:cNvSpPr>
            <a:spLocks noGrp="1"/>
          </p:cNvSpPr>
          <p:nvPr>
            <p:ph idx="1"/>
          </p:nvPr>
        </p:nvSpPr>
        <p:spPr>
          <a:xfrm>
            <a:off x="1024127" y="2066895"/>
            <a:ext cx="10266724" cy="4531360"/>
          </a:xfrm>
        </p:spPr>
        <p:txBody>
          <a:bodyPr>
            <a:normAutofit/>
          </a:bodyPr>
          <a:lstStyle/>
          <a:p>
            <a:pPr>
              <a:spcBef>
                <a:spcPts val="0"/>
              </a:spcBef>
              <a:buFont typeface="Wingdings" panose="05000000000000000000" pitchFamily="2" charset="2"/>
              <a:buChar char="q"/>
            </a:pPr>
            <a:r>
              <a:rPr lang="en-US" dirty="0"/>
              <a:t> The first literature that relates to the wavelet transform</a:t>
            </a:r>
          </a:p>
          <a:p>
            <a:pPr marL="0" indent="0">
              <a:spcBef>
                <a:spcPts val="0"/>
              </a:spcBef>
              <a:buNone/>
            </a:pPr>
            <a:r>
              <a:rPr lang="en-US" dirty="0"/>
              <a:t> is Haar wavelet. It was proposed by the mathematician</a:t>
            </a:r>
          </a:p>
          <a:p>
            <a:pPr marL="0" indent="0">
              <a:spcBef>
                <a:spcPts val="0"/>
              </a:spcBef>
              <a:buNone/>
            </a:pPr>
            <a:r>
              <a:rPr lang="en-US" dirty="0"/>
              <a:t> </a:t>
            </a:r>
            <a:r>
              <a:rPr lang="en-US" b="1" dirty="0"/>
              <a:t>Alfred Haar in 1909</a:t>
            </a:r>
            <a:r>
              <a:rPr lang="en-US" dirty="0"/>
              <a:t>. However, the concept of the wavelet</a:t>
            </a:r>
          </a:p>
          <a:p>
            <a:pPr marL="0" indent="0">
              <a:spcBef>
                <a:spcPts val="0"/>
              </a:spcBef>
              <a:buNone/>
            </a:pPr>
            <a:r>
              <a:rPr lang="en-US" dirty="0"/>
              <a:t> did not exist at that time. </a:t>
            </a:r>
          </a:p>
          <a:p>
            <a:pPr marL="0" indent="0">
              <a:spcBef>
                <a:spcPts val="0"/>
              </a:spcBef>
              <a:buNone/>
            </a:pPr>
            <a:endParaRPr lang="en-US" dirty="0"/>
          </a:p>
          <a:p>
            <a:pPr>
              <a:spcBef>
                <a:spcPts val="0"/>
              </a:spcBef>
              <a:buFont typeface="Wingdings" panose="05000000000000000000" pitchFamily="2" charset="2"/>
              <a:buChar char="q"/>
            </a:pPr>
            <a:r>
              <a:rPr lang="en-US" dirty="0"/>
              <a:t> Until 1981, the concept was proposed by the geophysicist</a:t>
            </a:r>
          </a:p>
          <a:p>
            <a:pPr marL="0" indent="0">
              <a:spcBef>
                <a:spcPts val="0"/>
              </a:spcBef>
              <a:buNone/>
            </a:pPr>
            <a:r>
              <a:rPr lang="en-US" dirty="0"/>
              <a:t>Jean Morlet. Afterward, Morlet and the physicist Alex Grossman</a:t>
            </a:r>
          </a:p>
          <a:p>
            <a:pPr marL="0" indent="0">
              <a:spcBef>
                <a:spcPts val="0"/>
              </a:spcBef>
              <a:buNone/>
            </a:pPr>
            <a:r>
              <a:rPr lang="en-US" dirty="0"/>
              <a:t>invented the term wavelet in 1984.</a:t>
            </a:r>
          </a:p>
          <a:p>
            <a:pPr marL="0" indent="0">
              <a:spcBef>
                <a:spcPts val="0"/>
              </a:spcBef>
              <a:buNone/>
            </a:pPr>
            <a:endParaRPr lang="en-US" dirty="0"/>
          </a:p>
          <a:p>
            <a:pPr>
              <a:spcBef>
                <a:spcPts val="0"/>
              </a:spcBef>
              <a:buFont typeface="Wingdings" panose="05000000000000000000" pitchFamily="2" charset="2"/>
              <a:buChar char="q"/>
            </a:pPr>
            <a:r>
              <a:rPr lang="en-US" dirty="0"/>
              <a:t> Before 1985, Haar wavelet was the only orthogonal wavelet</a:t>
            </a:r>
          </a:p>
          <a:p>
            <a:pPr marL="0" indent="0">
              <a:spcBef>
                <a:spcPts val="0"/>
              </a:spcBef>
              <a:buNone/>
            </a:pPr>
            <a:r>
              <a:rPr lang="en-US" dirty="0"/>
              <a:t>people know. A lot of researchers even thought that there was no</a:t>
            </a:r>
          </a:p>
          <a:p>
            <a:pPr marL="0" indent="0">
              <a:spcBef>
                <a:spcPts val="0"/>
              </a:spcBef>
              <a:buNone/>
            </a:pPr>
            <a:r>
              <a:rPr lang="en-US" dirty="0"/>
              <a:t>orthogonal wavelet except Haar wavelet.</a:t>
            </a:r>
          </a:p>
        </p:txBody>
      </p:sp>
      <p:sp>
        <p:nvSpPr>
          <p:cNvPr id="4" name="Footer Placeholder 3">
            <a:extLst>
              <a:ext uri="{FF2B5EF4-FFF2-40B4-BE49-F238E27FC236}">
                <a16:creationId xmlns:a16="http://schemas.microsoft.com/office/drawing/2014/main" id="{6EB290A1-8529-CFB3-DFA5-B6ECA95A8C5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022FFA4-A5D7-AB98-0127-BA2FD88E2621}"/>
              </a:ext>
            </a:extLst>
          </p:cNvPr>
          <p:cNvSpPr>
            <a:spLocks noGrp="1"/>
          </p:cNvSpPr>
          <p:nvPr>
            <p:ph type="sldNum" sz="quarter" idx="12"/>
          </p:nvPr>
        </p:nvSpPr>
        <p:spPr/>
        <p:txBody>
          <a:bodyPr/>
          <a:lstStyle/>
          <a:p>
            <a:fld id="{382B47E1-F59F-47B3-8D16-B2A0740F319A}" type="slidenum">
              <a:rPr lang="en-US" smtClean="0"/>
              <a:pPr/>
              <a:t>6</a:t>
            </a:fld>
            <a:endParaRPr lang="en-US" dirty="0"/>
          </a:p>
        </p:txBody>
      </p:sp>
      <p:pic>
        <p:nvPicPr>
          <p:cNvPr id="9" name="Picture 8" descr="A close-up of a person&#10;&#10;AI-generated content may be incorrect.">
            <a:extLst>
              <a:ext uri="{FF2B5EF4-FFF2-40B4-BE49-F238E27FC236}">
                <a16:creationId xmlns:a16="http://schemas.microsoft.com/office/drawing/2014/main" id="{16F2523C-F88B-0AFC-2EF0-30AC95453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62191" y="1929735"/>
            <a:ext cx="1995424" cy="2682255"/>
          </a:xfrm>
          <a:prstGeom prst="rect">
            <a:avLst/>
          </a:prstGeom>
        </p:spPr>
      </p:pic>
    </p:spTree>
    <p:extLst>
      <p:ext uri="{BB962C8B-B14F-4D97-AF65-F5344CB8AC3E}">
        <p14:creationId xmlns:p14="http://schemas.microsoft.com/office/powerpoint/2010/main" val="1191812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AC200-2ECD-99AA-CB5B-166D1B1BFDC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F222E1B-75EC-5E06-4944-B0E6D82D2579}"/>
              </a:ext>
            </a:extLst>
          </p:cNvPr>
          <p:cNvSpPr txBox="1"/>
          <p:nvPr/>
        </p:nvSpPr>
        <p:spPr>
          <a:xfrm>
            <a:off x="8432800" y="1635760"/>
            <a:ext cx="3312160" cy="404510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2" name="Title 1">
            <a:extLst>
              <a:ext uri="{FF2B5EF4-FFF2-40B4-BE49-F238E27FC236}">
                <a16:creationId xmlns:a16="http://schemas.microsoft.com/office/drawing/2014/main" id="{3CEB8B7A-CBFE-B3B5-B02E-4BECE627323F}"/>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solidFill>
                <a:srgbClr val="FF0000"/>
              </a:solidFill>
            </a:endParaRPr>
          </a:p>
        </p:txBody>
      </p:sp>
      <p:sp>
        <p:nvSpPr>
          <p:cNvPr id="3" name="Content Placeholder 2">
            <a:extLst>
              <a:ext uri="{FF2B5EF4-FFF2-40B4-BE49-F238E27FC236}">
                <a16:creationId xmlns:a16="http://schemas.microsoft.com/office/drawing/2014/main" id="{294959C3-0EA0-5F6C-F496-BC15B7D2280D}"/>
              </a:ext>
            </a:extLst>
          </p:cNvPr>
          <p:cNvSpPr>
            <a:spLocks noGrp="1"/>
          </p:cNvSpPr>
          <p:nvPr>
            <p:ph idx="1"/>
          </p:nvPr>
        </p:nvSpPr>
        <p:spPr>
          <a:xfrm>
            <a:off x="1024127" y="2066895"/>
            <a:ext cx="10266724" cy="4531360"/>
          </a:xfrm>
        </p:spPr>
        <p:txBody>
          <a:bodyPr>
            <a:normAutofit/>
          </a:bodyPr>
          <a:lstStyle/>
          <a:p>
            <a:pPr>
              <a:spcBef>
                <a:spcPts val="0"/>
              </a:spcBef>
              <a:buFont typeface="Wingdings" panose="05000000000000000000" pitchFamily="2" charset="2"/>
              <a:buChar char="q"/>
            </a:pPr>
            <a:r>
              <a:rPr lang="en-US" dirty="0"/>
              <a:t> Fortunately, the </a:t>
            </a:r>
            <a:r>
              <a:rPr lang="en-US" b="1" dirty="0"/>
              <a:t>mathematician Yves Meyer </a:t>
            </a:r>
            <a:r>
              <a:rPr lang="en-US" dirty="0"/>
              <a:t>constructed</a:t>
            </a:r>
          </a:p>
          <a:p>
            <a:pPr marL="0" indent="0">
              <a:spcBef>
                <a:spcPts val="0"/>
              </a:spcBef>
              <a:buNone/>
            </a:pPr>
            <a:r>
              <a:rPr lang="en-US" dirty="0"/>
              <a:t>the second Orthogonal wavelet called Meyer wavelet in 1985.</a:t>
            </a:r>
          </a:p>
          <a:p>
            <a:pPr marL="0" indent="0">
              <a:spcBef>
                <a:spcPts val="0"/>
              </a:spcBef>
              <a:buNone/>
            </a:pPr>
            <a:endParaRPr lang="en-US" dirty="0"/>
          </a:p>
          <a:p>
            <a:pPr>
              <a:spcBef>
                <a:spcPts val="0"/>
              </a:spcBef>
              <a:buFont typeface="Wingdings" panose="05000000000000000000" pitchFamily="2" charset="2"/>
              <a:buChar char="q"/>
            </a:pPr>
            <a:r>
              <a:rPr lang="en-US" dirty="0"/>
              <a:t> As more and more scholars joined in this field, the 1</a:t>
            </a:r>
            <a:r>
              <a:rPr lang="en-US" baseline="30000" dirty="0"/>
              <a:t>st </a:t>
            </a:r>
          </a:p>
          <a:p>
            <a:pPr marL="0" indent="0">
              <a:spcBef>
                <a:spcPts val="0"/>
              </a:spcBef>
              <a:buNone/>
            </a:pPr>
            <a:r>
              <a:rPr lang="en-US" dirty="0"/>
              <a:t>International conference was held in France in 1987.</a:t>
            </a:r>
          </a:p>
        </p:txBody>
      </p:sp>
      <p:sp>
        <p:nvSpPr>
          <p:cNvPr id="4" name="Footer Placeholder 3">
            <a:extLst>
              <a:ext uri="{FF2B5EF4-FFF2-40B4-BE49-F238E27FC236}">
                <a16:creationId xmlns:a16="http://schemas.microsoft.com/office/drawing/2014/main" id="{0E5DFEEA-61BA-23AA-F743-EAC32147CE68}"/>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95000"/>
                    <a:lumOff val="5000"/>
                  </a:prstClr>
                </a:solidFill>
                <a:effectLst/>
                <a:uLnTx/>
                <a:uFillTx/>
                <a:latin typeface="Tw Cen MT Condensed" panose="020B0606020104020203"/>
                <a:ea typeface="+mn-ea"/>
                <a:cs typeface="+mn-cs"/>
              </a:rPr>
              <a:t>Information Hiding, Shiraz University of Technology</a:t>
            </a:r>
            <a:endParaRPr kumimoji="0" lang="en-US" sz="1400" b="1" i="0" u="none" strike="noStrike" kern="1200" cap="all"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sp>
        <p:nvSpPr>
          <p:cNvPr id="5" name="Slide Number Placeholder 4">
            <a:extLst>
              <a:ext uri="{FF2B5EF4-FFF2-40B4-BE49-F238E27FC236}">
                <a16:creationId xmlns:a16="http://schemas.microsoft.com/office/drawing/2014/main" id="{1644E2A7-AB35-84E1-99B4-40DAFBA1F372}"/>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82B47E1-F59F-47B3-8D16-B2A0740F319A}" type="slidenum">
              <a:rPr kumimoji="0" lang="en-US" sz="1400" b="1" i="0" u="none" strike="noStrike" kern="1200" cap="none" spc="0" normalizeH="0" baseline="0" noProof="0" smtClean="0">
                <a:ln>
                  <a:noFill/>
                </a:ln>
                <a:solidFill>
                  <a:prstClr val="black">
                    <a:lumMod val="95000"/>
                    <a:lumOff val="5000"/>
                  </a:prstClr>
                </a:solidFill>
                <a:effectLst/>
                <a:uLnTx/>
                <a:uFillTx/>
                <a:latin typeface="Tw Cen MT Condensed" panose="020B0606020104020203"/>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en-US" sz="1400" b="1" i="0" u="none" strike="noStrike" kern="1200" cap="none"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pic>
        <p:nvPicPr>
          <p:cNvPr id="7" name="Picture 6">
            <a:extLst>
              <a:ext uri="{FF2B5EF4-FFF2-40B4-BE49-F238E27FC236}">
                <a16:creationId xmlns:a16="http://schemas.microsoft.com/office/drawing/2014/main" id="{180B5255-C192-4783-5610-F64F5E6F16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2308" y="1754317"/>
            <a:ext cx="2810365" cy="3275012"/>
          </a:xfrm>
          <a:prstGeom prst="rect">
            <a:avLst/>
          </a:prstGeom>
        </p:spPr>
      </p:pic>
      <p:sp>
        <p:nvSpPr>
          <p:cNvPr id="8" name="TextBox 7">
            <a:extLst>
              <a:ext uri="{FF2B5EF4-FFF2-40B4-BE49-F238E27FC236}">
                <a16:creationId xmlns:a16="http://schemas.microsoft.com/office/drawing/2014/main" id="{15F790F6-6256-7865-D52D-6432A68C83C7}"/>
              </a:ext>
            </a:extLst>
          </p:cNvPr>
          <p:cNvSpPr txBox="1"/>
          <p:nvPr/>
        </p:nvSpPr>
        <p:spPr>
          <a:xfrm>
            <a:off x="8792410" y="5034538"/>
            <a:ext cx="2550160" cy="646331"/>
          </a:xfrm>
          <a:prstGeom prst="rect">
            <a:avLst/>
          </a:prstGeom>
          <a:noFill/>
        </p:spPr>
        <p:txBody>
          <a:bodyPr wrap="square" rtlCol="0">
            <a:spAutoFit/>
          </a:bodyPr>
          <a:lstStyle/>
          <a:p>
            <a:pPr algn="ctr"/>
            <a:r>
              <a:rPr lang="en-US" b="1" dirty="0"/>
              <a:t>Yves Meyer giving a lecture in 2016</a:t>
            </a:r>
          </a:p>
        </p:txBody>
      </p:sp>
      <p:pic>
        <p:nvPicPr>
          <p:cNvPr id="13" name="Picture 12">
            <a:extLst>
              <a:ext uri="{FF2B5EF4-FFF2-40B4-BE49-F238E27FC236}">
                <a16:creationId xmlns:a16="http://schemas.microsoft.com/office/drawing/2014/main" id="{7481ECAF-65F9-E590-A948-ED0F0E4FD8CE}"/>
              </a:ext>
            </a:extLst>
          </p:cNvPr>
          <p:cNvPicPr>
            <a:picLocks noChangeAspect="1"/>
          </p:cNvPicPr>
          <p:nvPr/>
        </p:nvPicPr>
        <p:blipFill>
          <a:blip r:embed="rId4"/>
          <a:stretch>
            <a:fillRect/>
          </a:stretch>
        </p:blipFill>
        <p:spPr>
          <a:xfrm>
            <a:off x="1676935" y="3980272"/>
            <a:ext cx="5150585" cy="2480823"/>
          </a:xfrm>
          <a:prstGeom prst="rect">
            <a:avLst/>
          </a:prstGeom>
        </p:spPr>
      </p:pic>
    </p:spTree>
    <p:extLst>
      <p:ext uri="{BB962C8B-B14F-4D97-AF65-F5344CB8AC3E}">
        <p14:creationId xmlns:p14="http://schemas.microsoft.com/office/powerpoint/2010/main" val="2142730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D40FB-85D4-179F-E25C-F49EB502C29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239D62F-3A06-AF5A-8F17-6A764B30FC6B}"/>
              </a:ext>
            </a:extLst>
          </p:cNvPr>
          <p:cNvSpPr txBox="1"/>
          <p:nvPr/>
        </p:nvSpPr>
        <p:spPr>
          <a:xfrm>
            <a:off x="7440835" y="1467104"/>
            <a:ext cx="3813385" cy="452431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b="1" dirty="0"/>
              <a:t>Ingrid Daubechies</a:t>
            </a:r>
          </a:p>
          <a:p>
            <a:pPr algn="ctr"/>
            <a:r>
              <a:rPr lang="en-US" b="1" dirty="0"/>
              <a:t>Belgian-American physicist and mathematician</a:t>
            </a:r>
          </a:p>
        </p:txBody>
      </p:sp>
      <p:sp>
        <p:nvSpPr>
          <p:cNvPr id="2" name="Title 1">
            <a:extLst>
              <a:ext uri="{FF2B5EF4-FFF2-40B4-BE49-F238E27FC236}">
                <a16:creationId xmlns:a16="http://schemas.microsoft.com/office/drawing/2014/main" id="{C6853DC5-49B5-D638-8806-AA1124E93F22}"/>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solidFill>
                <a:srgbClr val="FF0000"/>
              </a:solidFill>
            </a:endParaRPr>
          </a:p>
        </p:txBody>
      </p:sp>
      <p:sp>
        <p:nvSpPr>
          <p:cNvPr id="3" name="Content Placeholder 2">
            <a:extLst>
              <a:ext uri="{FF2B5EF4-FFF2-40B4-BE49-F238E27FC236}">
                <a16:creationId xmlns:a16="http://schemas.microsoft.com/office/drawing/2014/main" id="{281E1739-A234-1ADC-46F3-260640CAC6BB}"/>
              </a:ext>
            </a:extLst>
          </p:cNvPr>
          <p:cNvSpPr>
            <a:spLocks noGrp="1"/>
          </p:cNvSpPr>
          <p:nvPr>
            <p:ph idx="1"/>
          </p:nvPr>
        </p:nvSpPr>
        <p:spPr>
          <a:xfrm>
            <a:off x="1024127" y="2066895"/>
            <a:ext cx="7154670" cy="4531360"/>
          </a:xfrm>
        </p:spPr>
        <p:txBody>
          <a:bodyPr>
            <a:normAutofit/>
          </a:bodyPr>
          <a:lstStyle/>
          <a:p>
            <a:pPr>
              <a:spcBef>
                <a:spcPts val="0"/>
              </a:spcBef>
              <a:buFont typeface="Wingdings" panose="05000000000000000000" pitchFamily="2" charset="2"/>
              <a:buChar char="q"/>
            </a:pPr>
            <a:endParaRPr lang="en-US" dirty="0"/>
          </a:p>
          <a:p>
            <a:pPr>
              <a:spcBef>
                <a:spcPts val="0"/>
              </a:spcBef>
              <a:buFont typeface="Wingdings" panose="05000000000000000000" pitchFamily="2" charset="2"/>
              <a:buChar char="q"/>
            </a:pPr>
            <a:endParaRPr lang="en-US" dirty="0"/>
          </a:p>
          <a:p>
            <a:pPr>
              <a:spcBef>
                <a:spcPts val="0"/>
              </a:spcBef>
              <a:buFont typeface="Wingdings" panose="05000000000000000000" pitchFamily="2" charset="2"/>
              <a:buChar char="q"/>
            </a:pPr>
            <a:r>
              <a:rPr lang="en-US" dirty="0"/>
              <a:t> In 1988, </a:t>
            </a:r>
            <a:r>
              <a:rPr lang="en-US" b="1" dirty="0"/>
              <a:t>Stephane Mallat and Meyer</a:t>
            </a:r>
            <a:r>
              <a:rPr lang="en-US" dirty="0"/>
              <a:t> proposed the</a:t>
            </a:r>
          </a:p>
          <a:p>
            <a:pPr marL="0" indent="0">
              <a:spcBef>
                <a:spcPts val="0"/>
              </a:spcBef>
              <a:buNone/>
            </a:pPr>
            <a:r>
              <a:rPr lang="en-US" dirty="0"/>
              <a:t> concept of </a:t>
            </a:r>
            <a:r>
              <a:rPr lang="en-US" b="1" dirty="0">
                <a:solidFill>
                  <a:srgbClr val="C00000"/>
                </a:solidFill>
              </a:rPr>
              <a:t>multiresolution</a:t>
            </a:r>
            <a:r>
              <a:rPr lang="en-US" dirty="0"/>
              <a:t>.</a:t>
            </a:r>
          </a:p>
          <a:p>
            <a:pPr marL="0" indent="0">
              <a:spcBef>
                <a:spcPts val="0"/>
              </a:spcBef>
              <a:buNone/>
            </a:pPr>
            <a:endParaRPr lang="en-US" dirty="0"/>
          </a:p>
          <a:p>
            <a:pPr>
              <a:spcBef>
                <a:spcPts val="0"/>
              </a:spcBef>
              <a:buFont typeface="Wingdings" panose="05000000000000000000" pitchFamily="2" charset="2"/>
              <a:buChar char="q"/>
            </a:pPr>
            <a:r>
              <a:rPr lang="en-US" dirty="0"/>
              <a:t> In the same year, </a:t>
            </a:r>
            <a:r>
              <a:rPr lang="en-US" b="1" dirty="0"/>
              <a:t>Ingrid Daubechies </a:t>
            </a:r>
            <a:r>
              <a:rPr lang="en-US" dirty="0"/>
              <a:t>found a</a:t>
            </a:r>
          </a:p>
          <a:p>
            <a:pPr marL="0" indent="0">
              <a:spcBef>
                <a:spcPts val="0"/>
              </a:spcBef>
              <a:buNone/>
            </a:pPr>
            <a:r>
              <a:rPr lang="en-US" dirty="0"/>
              <a:t> systematical method to construct the compact</a:t>
            </a:r>
          </a:p>
          <a:p>
            <a:pPr marL="0" indent="0">
              <a:spcBef>
                <a:spcPts val="0"/>
              </a:spcBef>
              <a:buNone/>
            </a:pPr>
            <a:r>
              <a:rPr lang="en-US" dirty="0"/>
              <a:t> support orthogonal wavelet. </a:t>
            </a:r>
          </a:p>
          <a:p>
            <a:pPr marL="0" indent="0">
              <a:spcBef>
                <a:spcPts val="0"/>
              </a:spcBef>
              <a:buNone/>
            </a:pPr>
            <a:endParaRPr lang="en-US" dirty="0"/>
          </a:p>
        </p:txBody>
      </p:sp>
      <p:sp>
        <p:nvSpPr>
          <p:cNvPr id="4" name="Footer Placeholder 3">
            <a:extLst>
              <a:ext uri="{FF2B5EF4-FFF2-40B4-BE49-F238E27FC236}">
                <a16:creationId xmlns:a16="http://schemas.microsoft.com/office/drawing/2014/main" id="{C1A0BF2D-001F-1445-4F1D-60DAB4278C0A}"/>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95000"/>
                    <a:lumOff val="5000"/>
                  </a:prstClr>
                </a:solidFill>
                <a:effectLst/>
                <a:uLnTx/>
                <a:uFillTx/>
                <a:latin typeface="Tw Cen MT Condensed" panose="020B0606020104020203"/>
                <a:ea typeface="+mn-ea"/>
                <a:cs typeface="+mn-cs"/>
              </a:rPr>
              <a:t>Information Hiding, Shiraz University of Technology</a:t>
            </a:r>
            <a:endParaRPr kumimoji="0" lang="en-US" sz="1400" b="1" i="0" u="none" strike="noStrike" kern="1200" cap="all"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sp>
        <p:nvSpPr>
          <p:cNvPr id="5" name="Slide Number Placeholder 4">
            <a:extLst>
              <a:ext uri="{FF2B5EF4-FFF2-40B4-BE49-F238E27FC236}">
                <a16:creationId xmlns:a16="http://schemas.microsoft.com/office/drawing/2014/main" id="{80BEC6D7-1959-62B6-7560-042ABB276403}"/>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82B47E1-F59F-47B3-8D16-B2A0740F319A}" type="slidenum">
              <a:rPr kumimoji="0" lang="en-US" sz="1400" b="1" i="0" u="none" strike="noStrike" kern="1200" cap="none" spc="0" normalizeH="0" baseline="0" noProof="0" smtClean="0">
                <a:ln>
                  <a:noFill/>
                </a:ln>
                <a:solidFill>
                  <a:prstClr val="black">
                    <a:lumMod val="95000"/>
                    <a:lumOff val="5000"/>
                  </a:prstClr>
                </a:solidFill>
                <a:effectLst/>
                <a:uLnTx/>
                <a:uFillTx/>
                <a:latin typeface="Tw Cen MT Condensed" panose="020B0606020104020203"/>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US" sz="1400" b="1" i="0" u="none" strike="noStrike" kern="1200" cap="none"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pic>
        <p:nvPicPr>
          <p:cNvPr id="14" name="Picture 13">
            <a:extLst>
              <a:ext uri="{FF2B5EF4-FFF2-40B4-BE49-F238E27FC236}">
                <a16:creationId xmlns:a16="http://schemas.microsoft.com/office/drawing/2014/main" id="{653ACF52-CE43-DDDE-9226-F29AB1BF3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89593" y="1677425"/>
            <a:ext cx="3509092" cy="3235383"/>
          </a:xfrm>
          <a:prstGeom prst="rect">
            <a:avLst/>
          </a:prstGeom>
        </p:spPr>
      </p:pic>
    </p:spTree>
    <p:extLst>
      <p:ext uri="{BB962C8B-B14F-4D97-AF65-F5344CB8AC3E}">
        <p14:creationId xmlns:p14="http://schemas.microsoft.com/office/powerpoint/2010/main" val="2969667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000D3-4AAD-492B-D04F-A4EDC36730B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93D2C43-A38A-F0BC-BB6F-00D834864505}"/>
              </a:ext>
            </a:extLst>
          </p:cNvPr>
          <p:cNvSpPr txBox="1"/>
          <p:nvPr/>
        </p:nvSpPr>
        <p:spPr>
          <a:xfrm>
            <a:off x="8138158" y="1721392"/>
            <a:ext cx="3738880" cy="419608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2" name="Title 1">
            <a:extLst>
              <a:ext uri="{FF2B5EF4-FFF2-40B4-BE49-F238E27FC236}">
                <a16:creationId xmlns:a16="http://schemas.microsoft.com/office/drawing/2014/main" id="{2EFF8897-2BBA-F0D3-F1CE-9316A3A9BC7F}"/>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solidFill>
                <a:srgbClr val="FF0000"/>
              </a:solidFill>
            </a:endParaRPr>
          </a:p>
        </p:txBody>
      </p:sp>
      <p:sp>
        <p:nvSpPr>
          <p:cNvPr id="3" name="Content Placeholder 2">
            <a:extLst>
              <a:ext uri="{FF2B5EF4-FFF2-40B4-BE49-F238E27FC236}">
                <a16:creationId xmlns:a16="http://schemas.microsoft.com/office/drawing/2014/main" id="{D573325E-4A8D-D725-9928-F6E36D4E844E}"/>
              </a:ext>
            </a:extLst>
          </p:cNvPr>
          <p:cNvSpPr>
            <a:spLocks noGrp="1"/>
          </p:cNvSpPr>
          <p:nvPr>
            <p:ph idx="1"/>
          </p:nvPr>
        </p:nvSpPr>
        <p:spPr>
          <a:xfrm>
            <a:off x="1024127" y="2066895"/>
            <a:ext cx="7154670" cy="4531360"/>
          </a:xfrm>
        </p:spPr>
        <p:txBody>
          <a:bodyPr>
            <a:normAutofit/>
          </a:bodyPr>
          <a:lstStyle/>
          <a:p>
            <a:pPr>
              <a:spcBef>
                <a:spcPts val="0"/>
              </a:spcBef>
              <a:buFont typeface="Wingdings" panose="05000000000000000000" pitchFamily="2" charset="2"/>
              <a:buChar char="q"/>
            </a:pPr>
            <a:endParaRPr lang="en-US" dirty="0"/>
          </a:p>
          <a:p>
            <a:pPr>
              <a:spcBef>
                <a:spcPts val="0"/>
              </a:spcBef>
              <a:buFont typeface="Wingdings" panose="05000000000000000000" pitchFamily="2" charset="2"/>
              <a:buChar char="q"/>
            </a:pPr>
            <a:endParaRPr lang="en-US" dirty="0"/>
          </a:p>
          <a:p>
            <a:pPr>
              <a:spcBef>
                <a:spcPts val="0"/>
              </a:spcBef>
              <a:buFont typeface="Wingdings" panose="05000000000000000000" pitchFamily="2" charset="2"/>
              <a:buChar char="q"/>
            </a:pPr>
            <a:r>
              <a:rPr lang="en-US" dirty="0"/>
              <a:t> In 1989, </a:t>
            </a:r>
            <a:r>
              <a:rPr lang="en-US" b="1" dirty="0"/>
              <a:t>Mallat proposed the fast wavelet transform</a:t>
            </a:r>
            <a:r>
              <a:rPr lang="en-US" dirty="0"/>
              <a:t>.</a:t>
            </a:r>
          </a:p>
          <a:p>
            <a:pPr marL="0" indent="0">
              <a:spcBef>
                <a:spcPts val="0"/>
              </a:spcBef>
              <a:buNone/>
            </a:pPr>
            <a:endParaRPr lang="en-US" dirty="0"/>
          </a:p>
          <a:p>
            <a:pPr marL="0" indent="0">
              <a:spcBef>
                <a:spcPts val="0"/>
              </a:spcBef>
              <a:buNone/>
            </a:pPr>
            <a:endParaRPr lang="en-US" dirty="0"/>
          </a:p>
          <a:p>
            <a:pPr>
              <a:spcBef>
                <a:spcPts val="0"/>
              </a:spcBef>
              <a:buFont typeface="Wingdings" panose="05000000000000000000" pitchFamily="2" charset="2"/>
              <a:buChar char="q"/>
            </a:pPr>
            <a:r>
              <a:rPr lang="en-US" dirty="0"/>
              <a:t> With the appearance of this fast algorithm, the wavelet transform had numerous applications in the signal processing field.</a:t>
            </a:r>
          </a:p>
        </p:txBody>
      </p:sp>
      <p:sp>
        <p:nvSpPr>
          <p:cNvPr id="4" name="Footer Placeholder 3">
            <a:extLst>
              <a:ext uri="{FF2B5EF4-FFF2-40B4-BE49-F238E27FC236}">
                <a16:creationId xmlns:a16="http://schemas.microsoft.com/office/drawing/2014/main" id="{B70D7935-0443-EEA5-153E-F0B71316DBE2}"/>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lumMod val="95000"/>
                    <a:lumOff val="5000"/>
                  </a:prstClr>
                </a:solidFill>
                <a:effectLst/>
                <a:uLnTx/>
                <a:uFillTx/>
                <a:latin typeface="Tw Cen MT Condensed" panose="020B0606020104020203"/>
                <a:ea typeface="+mn-ea"/>
                <a:cs typeface="+mn-cs"/>
              </a:rPr>
              <a:t>Information Hiding, Shiraz University of Technology</a:t>
            </a:r>
            <a:endParaRPr kumimoji="0" lang="en-US" sz="1400" b="1" i="0" u="none" strike="noStrike" kern="1200" cap="all"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sp>
        <p:nvSpPr>
          <p:cNvPr id="5" name="Slide Number Placeholder 4">
            <a:extLst>
              <a:ext uri="{FF2B5EF4-FFF2-40B4-BE49-F238E27FC236}">
                <a16:creationId xmlns:a16="http://schemas.microsoft.com/office/drawing/2014/main" id="{F3E14D2A-D5C0-ACD2-59E7-01120609990E}"/>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82B47E1-F59F-47B3-8D16-B2A0740F319A}" type="slidenum">
              <a:rPr kumimoji="0" lang="en-US" sz="1400" b="1" i="0" u="none" strike="noStrike" kern="1200" cap="none" spc="0" normalizeH="0" baseline="0" noProof="0" smtClean="0">
                <a:ln>
                  <a:noFill/>
                </a:ln>
                <a:solidFill>
                  <a:prstClr val="black">
                    <a:lumMod val="95000"/>
                    <a:lumOff val="5000"/>
                  </a:prstClr>
                </a:solidFill>
                <a:effectLst/>
                <a:uLnTx/>
                <a:uFillTx/>
                <a:latin typeface="Tw Cen MT Condensed" panose="020B0606020104020203"/>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en-US" sz="1400" b="1" i="0" u="none" strike="noStrike" kern="1200" cap="none" spc="0" normalizeH="0" baseline="0" noProof="0" dirty="0">
              <a:ln>
                <a:noFill/>
              </a:ln>
              <a:solidFill>
                <a:prstClr val="black">
                  <a:lumMod val="95000"/>
                  <a:lumOff val="5000"/>
                </a:prstClr>
              </a:solidFill>
              <a:effectLst/>
              <a:uLnTx/>
              <a:uFillTx/>
              <a:latin typeface="Tw Cen MT Condensed" panose="020B0606020104020203"/>
              <a:ea typeface="+mn-ea"/>
              <a:cs typeface="+mn-cs"/>
            </a:endParaRPr>
          </a:p>
        </p:txBody>
      </p:sp>
      <p:pic>
        <p:nvPicPr>
          <p:cNvPr id="7" name="Picture 6" descr="A close-up of a person smiling&#10;&#10;AI-generated content may be incorrect.">
            <a:extLst>
              <a:ext uri="{FF2B5EF4-FFF2-40B4-BE49-F238E27FC236}">
                <a16:creationId xmlns:a16="http://schemas.microsoft.com/office/drawing/2014/main" id="{FD076CC4-0B05-2D53-3621-646F2FBD0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3497" y="2189229"/>
            <a:ext cx="1408202" cy="2281904"/>
          </a:xfrm>
          <a:prstGeom prst="rect">
            <a:avLst/>
          </a:prstGeom>
        </p:spPr>
      </p:pic>
      <p:sp>
        <p:nvSpPr>
          <p:cNvPr id="8" name="TextBox 7">
            <a:extLst>
              <a:ext uri="{FF2B5EF4-FFF2-40B4-BE49-F238E27FC236}">
                <a16:creationId xmlns:a16="http://schemas.microsoft.com/office/drawing/2014/main" id="{26BE222C-DE1B-9DE3-F319-6B773E030890}"/>
              </a:ext>
            </a:extLst>
          </p:cNvPr>
          <p:cNvSpPr txBox="1"/>
          <p:nvPr/>
        </p:nvSpPr>
        <p:spPr>
          <a:xfrm>
            <a:off x="8305291" y="4727517"/>
            <a:ext cx="3404614" cy="646331"/>
          </a:xfrm>
          <a:prstGeom prst="rect">
            <a:avLst/>
          </a:prstGeom>
          <a:noFill/>
        </p:spPr>
        <p:txBody>
          <a:bodyPr wrap="square" rtlCol="0">
            <a:spAutoFit/>
          </a:bodyPr>
          <a:lstStyle/>
          <a:p>
            <a:pPr algn="ctr"/>
            <a:r>
              <a:rPr lang="en-US" b="1" dirty="0"/>
              <a:t>Stéphane G. Mallat</a:t>
            </a:r>
          </a:p>
          <a:p>
            <a:pPr algn="ctr"/>
            <a:r>
              <a:rPr lang="en-US" b="1" dirty="0"/>
              <a:t>French applied mathematician</a:t>
            </a:r>
          </a:p>
        </p:txBody>
      </p:sp>
    </p:spTree>
    <p:extLst>
      <p:ext uri="{BB962C8B-B14F-4D97-AF65-F5344CB8AC3E}">
        <p14:creationId xmlns:p14="http://schemas.microsoft.com/office/powerpoint/2010/main" val="212454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D853-7194-3BD3-CE50-B6836E84814F}"/>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600" dirty="0">
                <a:solidFill>
                  <a:srgbClr val="FF0000"/>
                </a:solidFill>
              </a:rPr>
              <a:t>history</a:t>
            </a:r>
            <a:endParaRPr lang="en-US" dirty="0"/>
          </a:p>
        </p:txBody>
      </p:sp>
      <p:sp>
        <p:nvSpPr>
          <p:cNvPr id="3" name="Content Placeholder 2">
            <a:extLst>
              <a:ext uri="{FF2B5EF4-FFF2-40B4-BE49-F238E27FC236}">
                <a16:creationId xmlns:a16="http://schemas.microsoft.com/office/drawing/2014/main" id="{6E40CACC-C20C-FD1D-B5DF-13546F74DFF8}"/>
              </a:ext>
            </a:extLst>
          </p:cNvPr>
          <p:cNvSpPr>
            <a:spLocks noGrp="1"/>
          </p:cNvSpPr>
          <p:nvPr>
            <p:ph idx="1"/>
          </p:nvPr>
        </p:nvSpPr>
        <p:spPr/>
        <p:txBody>
          <a:bodyPr>
            <a:normAutofit/>
          </a:bodyPr>
          <a:lstStyle/>
          <a:p>
            <a:r>
              <a:rPr lang="en-US" dirty="0"/>
              <a:t>Summarize the history. We have the following table:</a:t>
            </a:r>
          </a:p>
          <a:p>
            <a:pPr lvl="1">
              <a:spcBef>
                <a:spcPts val="600"/>
              </a:spcBef>
              <a:spcAft>
                <a:spcPts val="600"/>
              </a:spcAft>
            </a:pPr>
            <a:r>
              <a:rPr lang="en-US" b="1" dirty="0"/>
              <a:t>1910</a:t>
            </a:r>
            <a:r>
              <a:rPr lang="en-US" dirty="0"/>
              <a:t>, Haar families.</a:t>
            </a:r>
          </a:p>
          <a:p>
            <a:pPr lvl="1">
              <a:spcBef>
                <a:spcPts val="600"/>
              </a:spcBef>
              <a:spcAft>
                <a:spcPts val="600"/>
              </a:spcAft>
            </a:pPr>
            <a:r>
              <a:rPr lang="en-US" b="1" dirty="0"/>
              <a:t>1981</a:t>
            </a:r>
            <a:r>
              <a:rPr lang="en-US" dirty="0"/>
              <a:t>, Morlet, wavelet concept.</a:t>
            </a:r>
          </a:p>
          <a:p>
            <a:pPr lvl="1">
              <a:spcBef>
                <a:spcPts val="600"/>
              </a:spcBef>
              <a:spcAft>
                <a:spcPts val="600"/>
              </a:spcAft>
            </a:pPr>
            <a:r>
              <a:rPr lang="en-US" b="1" dirty="0"/>
              <a:t>1984</a:t>
            </a:r>
            <a:r>
              <a:rPr lang="en-US" dirty="0"/>
              <a:t>, Morlet and Grossman, ”wavelet”.</a:t>
            </a:r>
          </a:p>
          <a:p>
            <a:pPr lvl="1">
              <a:spcBef>
                <a:spcPts val="600"/>
              </a:spcBef>
              <a:spcAft>
                <a:spcPts val="600"/>
              </a:spcAft>
            </a:pPr>
            <a:r>
              <a:rPr lang="en-US" b="1" dirty="0"/>
              <a:t>1985</a:t>
            </a:r>
            <a:r>
              <a:rPr lang="en-US" dirty="0"/>
              <a:t>, Meyer, ”orthogonal wavelet”.</a:t>
            </a:r>
          </a:p>
          <a:p>
            <a:pPr lvl="1">
              <a:spcBef>
                <a:spcPts val="600"/>
              </a:spcBef>
              <a:spcAft>
                <a:spcPts val="600"/>
              </a:spcAft>
            </a:pPr>
            <a:r>
              <a:rPr lang="en-US" b="1" dirty="0"/>
              <a:t>1987</a:t>
            </a:r>
            <a:r>
              <a:rPr lang="en-US" dirty="0"/>
              <a:t>, International conference in France.</a:t>
            </a:r>
          </a:p>
          <a:p>
            <a:pPr lvl="1">
              <a:spcBef>
                <a:spcPts val="600"/>
              </a:spcBef>
              <a:spcAft>
                <a:spcPts val="600"/>
              </a:spcAft>
            </a:pPr>
            <a:r>
              <a:rPr lang="en-US" b="1" dirty="0"/>
              <a:t>1988</a:t>
            </a:r>
            <a:r>
              <a:rPr lang="en-US" dirty="0"/>
              <a:t>, Mallat and Meyer, multiresolution.</a:t>
            </a:r>
          </a:p>
          <a:p>
            <a:pPr lvl="1">
              <a:spcBef>
                <a:spcPts val="600"/>
              </a:spcBef>
              <a:spcAft>
                <a:spcPts val="600"/>
              </a:spcAft>
            </a:pPr>
            <a:r>
              <a:rPr lang="en-US" b="1" dirty="0"/>
              <a:t>1988</a:t>
            </a:r>
            <a:r>
              <a:rPr lang="en-US" dirty="0"/>
              <a:t>, Daubechies, compact support orthogonal wavelet.</a:t>
            </a:r>
          </a:p>
          <a:p>
            <a:pPr lvl="1">
              <a:spcBef>
                <a:spcPts val="600"/>
              </a:spcBef>
              <a:spcAft>
                <a:spcPts val="600"/>
              </a:spcAft>
            </a:pPr>
            <a:r>
              <a:rPr lang="en-US" b="1" dirty="0"/>
              <a:t>1989</a:t>
            </a:r>
            <a:r>
              <a:rPr lang="en-US" dirty="0"/>
              <a:t>, Mallat, fast wavelet transform</a:t>
            </a:r>
          </a:p>
        </p:txBody>
      </p:sp>
      <p:sp>
        <p:nvSpPr>
          <p:cNvPr id="4" name="Footer Placeholder 3">
            <a:extLst>
              <a:ext uri="{FF2B5EF4-FFF2-40B4-BE49-F238E27FC236}">
                <a16:creationId xmlns:a16="http://schemas.microsoft.com/office/drawing/2014/main" id="{3F51FC7B-F5E4-AD5D-5838-1257222030E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D3B6EAA-25F6-E18B-3CB8-E631DA4478A7}"/>
              </a:ext>
            </a:extLst>
          </p:cNvPr>
          <p:cNvSpPr>
            <a:spLocks noGrp="1"/>
          </p:cNvSpPr>
          <p:nvPr>
            <p:ph type="sldNum" sz="quarter" idx="12"/>
          </p:nvPr>
        </p:nvSpPr>
        <p:spPr/>
        <p:txBody>
          <a:bodyPr/>
          <a:lstStyle/>
          <a:p>
            <a:fld id="{382B47E1-F59F-47B3-8D16-B2A0740F319A}" type="slidenum">
              <a:rPr lang="en-US" smtClean="0"/>
              <a:pPr/>
              <a:t>10</a:t>
            </a:fld>
            <a:endParaRPr lang="en-US" dirty="0"/>
          </a:p>
        </p:txBody>
      </p:sp>
    </p:spTree>
    <p:extLst>
      <p:ext uri="{BB962C8B-B14F-4D97-AF65-F5344CB8AC3E}">
        <p14:creationId xmlns:p14="http://schemas.microsoft.com/office/powerpoint/2010/main" val="3621834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826E6-601E-A096-7480-E888B95FD5FE}"/>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solidFill>
                <a:srgbClr val="FF0000"/>
              </a:solidFill>
            </a:endParaRPr>
          </a:p>
        </p:txBody>
      </p:sp>
      <p:sp>
        <p:nvSpPr>
          <p:cNvPr id="3" name="Content Placeholder 2">
            <a:extLst>
              <a:ext uri="{FF2B5EF4-FFF2-40B4-BE49-F238E27FC236}">
                <a16:creationId xmlns:a16="http://schemas.microsoft.com/office/drawing/2014/main" id="{261A30E2-26BE-3627-CADD-76824734EBCB}"/>
              </a:ext>
            </a:extLst>
          </p:cNvPr>
          <p:cNvSpPr>
            <a:spLocks noGrp="1"/>
          </p:cNvSpPr>
          <p:nvPr>
            <p:ph idx="1"/>
          </p:nvPr>
        </p:nvSpPr>
        <p:spPr/>
        <p:txBody>
          <a:bodyPr/>
          <a:lstStyle/>
          <a:p>
            <a:pPr>
              <a:spcBef>
                <a:spcPts val="1800"/>
              </a:spcBef>
              <a:spcAft>
                <a:spcPts val="1800"/>
              </a:spcAft>
              <a:buFont typeface="Wingdings" panose="05000000000000000000" pitchFamily="2" charset="2"/>
              <a:buChar char="q"/>
            </a:pPr>
            <a:r>
              <a:rPr lang="en-US" dirty="0"/>
              <a:t> Wavelets are particularly useful for signal analysis, signal compression, and signal de-noising. However, they are also of use to</a:t>
            </a:r>
          </a:p>
          <a:p>
            <a:pPr lvl="1">
              <a:buFont typeface="Wingdings" panose="05000000000000000000" pitchFamily="2" charset="2"/>
              <a:buChar char="§"/>
            </a:pPr>
            <a:r>
              <a:rPr lang="en-US" sz="2000" dirty="0"/>
              <a:t> </a:t>
            </a:r>
            <a:r>
              <a:rPr lang="en-US" sz="2000" b="1" dirty="0"/>
              <a:t>Geologists</a:t>
            </a:r>
            <a:r>
              <a:rPr lang="en-US" sz="2000" dirty="0"/>
              <a:t>, for analyzing seismic data</a:t>
            </a:r>
          </a:p>
          <a:p>
            <a:pPr lvl="1">
              <a:spcBef>
                <a:spcPts val="1200"/>
              </a:spcBef>
              <a:buFont typeface="Wingdings" panose="05000000000000000000" pitchFamily="2" charset="2"/>
              <a:buChar char="§"/>
            </a:pPr>
            <a:r>
              <a:rPr lang="en-US" sz="2000" b="1" dirty="0"/>
              <a:t> FBI</a:t>
            </a:r>
            <a:r>
              <a:rPr lang="en-US" sz="2000" dirty="0"/>
              <a:t>, for analyzing voice data</a:t>
            </a:r>
          </a:p>
          <a:p>
            <a:pPr lvl="1">
              <a:spcBef>
                <a:spcPts val="1200"/>
              </a:spcBef>
              <a:buFont typeface="Wingdings" panose="05000000000000000000" pitchFamily="2" charset="2"/>
              <a:buChar char="§"/>
            </a:pPr>
            <a:r>
              <a:rPr lang="en-US" sz="2000" dirty="0"/>
              <a:t> </a:t>
            </a:r>
            <a:r>
              <a:rPr lang="en-US" sz="2000" b="1" dirty="0"/>
              <a:t>The image processing community</a:t>
            </a:r>
            <a:r>
              <a:rPr lang="en-US" sz="2000" dirty="0"/>
              <a:t>, The JPEG2000 standard uses wavelets, replacing the discrete cosine transform</a:t>
            </a:r>
          </a:p>
          <a:p>
            <a:pPr lvl="1">
              <a:spcBef>
                <a:spcPts val="1200"/>
              </a:spcBef>
              <a:buFont typeface="Wingdings" panose="05000000000000000000" pitchFamily="2" charset="2"/>
              <a:buChar char="§"/>
            </a:pPr>
            <a:r>
              <a:rPr lang="en-US" sz="2000" dirty="0"/>
              <a:t> </a:t>
            </a:r>
            <a:r>
              <a:rPr lang="en-US" sz="2000" b="1" dirty="0"/>
              <a:t>The film industry</a:t>
            </a:r>
            <a:r>
              <a:rPr lang="en-US" sz="2000" dirty="0"/>
              <a:t>, for animation (e.g. ‘A Bug’s Life’). Wavelets are ideal for representing changes in an image with as little data as possible, so a sequence of frames in an animation can be stored more efficiently.</a:t>
            </a:r>
          </a:p>
          <a:p>
            <a:endParaRPr lang="en-US" dirty="0"/>
          </a:p>
        </p:txBody>
      </p:sp>
      <p:sp>
        <p:nvSpPr>
          <p:cNvPr id="4" name="Footer Placeholder 3">
            <a:extLst>
              <a:ext uri="{FF2B5EF4-FFF2-40B4-BE49-F238E27FC236}">
                <a16:creationId xmlns:a16="http://schemas.microsoft.com/office/drawing/2014/main" id="{EAA67F25-ED2D-99B6-C185-D388F824635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FA48AC1-EC08-A758-D921-EED22D44555B}"/>
              </a:ext>
            </a:extLst>
          </p:cNvPr>
          <p:cNvSpPr>
            <a:spLocks noGrp="1"/>
          </p:cNvSpPr>
          <p:nvPr>
            <p:ph type="sldNum" sz="quarter" idx="12"/>
          </p:nvPr>
        </p:nvSpPr>
        <p:spPr/>
        <p:txBody>
          <a:bodyPr/>
          <a:lstStyle/>
          <a:p>
            <a:fld id="{382B47E1-F59F-47B3-8D16-B2A0740F319A}" type="slidenum">
              <a:rPr lang="en-US" smtClean="0"/>
              <a:pPr/>
              <a:t>11</a:t>
            </a:fld>
            <a:endParaRPr lang="en-US" dirty="0"/>
          </a:p>
        </p:txBody>
      </p:sp>
    </p:spTree>
    <p:extLst>
      <p:ext uri="{BB962C8B-B14F-4D97-AF65-F5344CB8AC3E}">
        <p14:creationId xmlns:p14="http://schemas.microsoft.com/office/powerpoint/2010/main" val="2888141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4A34-802E-8C6E-7AC7-EAE1AE5CC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A373A-51B5-54BE-47F3-73CAC7283193}"/>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solidFill>
                <a:srgbClr val="FF0000"/>
              </a:solidFill>
            </a:endParaRPr>
          </a:p>
        </p:txBody>
      </p:sp>
      <p:sp>
        <p:nvSpPr>
          <p:cNvPr id="4" name="Footer Placeholder 3">
            <a:extLst>
              <a:ext uri="{FF2B5EF4-FFF2-40B4-BE49-F238E27FC236}">
                <a16:creationId xmlns:a16="http://schemas.microsoft.com/office/drawing/2014/main" id="{BEFD3E91-65B4-6E3D-E6ED-FB38499F1E2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C2F20A4-02D3-9700-527B-BF38ADAAA004}"/>
              </a:ext>
            </a:extLst>
          </p:cNvPr>
          <p:cNvSpPr>
            <a:spLocks noGrp="1"/>
          </p:cNvSpPr>
          <p:nvPr>
            <p:ph type="sldNum" sz="quarter" idx="12"/>
          </p:nvPr>
        </p:nvSpPr>
        <p:spPr/>
        <p:txBody>
          <a:bodyPr/>
          <a:lstStyle/>
          <a:p>
            <a:fld id="{382B47E1-F59F-47B3-8D16-B2A0740F319A}" type="slidenum">
              <a:rPr lang="en-US" smtClean="0"/>
              <a:pPr/>
              <a:t>12</a:t>
            </a:fld>
            <a:endParaRPr lang="en-US" dirty="0"/>
          </a:p>
        </p:txBody>
      </p:sp>
      <p:pic>
        <p:nvPicPr>
          <p:cNvPr id="11" name="Content Placeholder 10">
            <a:extLst>
              <a:ext uri="{FF2B5EF4-FFF2-40B4-BE49-F238E27FC236}">
                <a16:creationId xmlns:a16="http://schemas.microsoft.com/office/drawing/2014/main" id="{32B4208B-9A3F-56CD-5964-612215B57253}"/>
              </a:ext>
            </a:extLst>
          </p:cNvPr>
          <p:cNvPicPr>
            <a:picLocks noGrp="1" noChangeAspect="1"/>
          </p:cNvPicPr>
          <p:nvPr>
            <p:ph idx="1"/>
          </p:nvPr>
        </p:nvPicPr>
        <p:blipFill>
          <a:blip r:embed="rId2"/>
          <a:stretch>
            <a:fillRect/>
          </a:stretch>
        </p:blipFill>
        <p:spPr>
          <a:xfrm>
            <a:off x="1024127" y="1924340"/>
            <a:ext cx="10532352" cy="4348444"/>
          </a:xfrm>
        </p:spPr>
      </p:pic>
    </p:spTree>
    <p:extLst>
      <p:ext uri="{BB962C8B-B14F-4D97-AF65-F5344CB8AC3E}">
        <p14:creationId xmlns:p14="http://schemas.microsoft.com/office/powerpoint/2010/main" val="3942127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182A-647D-0FEC-315F-83D7609DC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5B8F7-5E24-A25D-3BEA-87FBFB161773}"/>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solidFill>
                <a:srgbClr val="FF0000"/>
              </a:solidFill>
            </a:endParaRPr>
          </a:p>
        </p:txBody>
      </p:sp>
      <p:sp>
        <p:nvSpPr>
          <p:cNvPr id="4" name="Footer Placeholder 3">
            <a:extLst>
              <a:ext uri="{FF2B5EF4-FFF2-40B4-BE49-F238E27FC236}">
                <a16:creationId xmlns:a16="http://schemas.microsoft.com/office/drawing/2014/main" id="{39C15EB4-01CB-1023-510C-9FD116A9077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4F98D45-AFAD-CFF0-450A-04704240B4B3}"/>
              </a:ext>
            </a:extLst>
          </p:cNvPr>
          <p:cNvSpPr>
            <a:spLocks noGrp="1"/>
          </p:cNvSpPr>
          <p:nvPr>
            <p:ph type="sldNum" sz="quarter" idx="12"/>
          </p:nvPr>
        </p:nvSpPr>
        <p:spPr/>
        <p:txBody>
          <a:bodyPr/>
          <a:lstStyle/>
          <a:p>
            <a:fld id="{382B47E1-F59F-47B3-8D16-B2A0740F319A}" type="slidenum">
              <a:rPr lang="en-US" smtClean="0"/>
              <a:pPr/>
              <a:t>13</a:t>
            </a:fld>
            <a:endParaRPr lang="en-US" dirty="0"/>
          </a:p>
        </p:txBody>
      </p:sp>
      <p:pic>
        <p:nvPicPr>
          <p:cNvPr id="11" name="Content Placeholder 10">
            <a:extLst>
              <a:ext uri="{FF2B5EF4-FFF2-40B4-BE49-F238E27FC236}">
                <a16:creationId xmlns:a16="http://schemas.microsoft.com/office/drawing/2014/main" id="{518B759E-0402-0B07-73BB-6ECFBDCB96E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491240" y="2216492"/>
            <a:ext cx="9209519" cy="3802292"/>
          </a:xfrm>
        </p:spPr>
      </p:pic>
    </p:spTree>
    <p:extLst>
      <p:ext uri="{BB962C8B-B14F-4D97-AF65-F5344CB8AC3E}">
        <p14:creationId xmlns:p14="http://schemas.microsoft.com/office/powerpoint/2010/main" val="92846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D947F-33AF-EEB3-3890-D5A613EC23C3}"/>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p>
        </p:txBody>
      </p:sp>
      <p:pic>
        <p:nvPicPr>
          <p:cNvPr id="7" name="Content Placeholder 6">
            <a:extLst>
              <a:ext uri="{FF2B5EF4-FFF2-40B4-BE49-F238E27FC236}">
                <a16:creationId xmlns:a16="http://schemas.microsoft.com/office/drawing/2014/main" id="{2A5B70BE-002D-EEC3-834A-AD27248CB898}"/>
              </a:ext>
            </a:extLst>
          </p:cNvPr>
          <p:cNvPicPr>
            <a:picLocks noGrp="1" noChangeAspect="1"/>
          </p:cNvPicPr>
          <p:nvPr>
            <p:ph idx="1"/>
          </p:nvPr>
        </p:nvPicPr>
        <p:blipFill>
          <a:blip r:embed="rId2"/>
          <a:stretch>
            <a:fillRect/>
          </a:stretch>
        </p:blipFill>
        <p:spPr>
          <a:xfrm>
            <a:off x="1317577" y="2395349"/>
            <a:ext cx="9556846" cy="3145629"/>
          </a:xfrm>
        </p:spPr>
      </p:pic>
      <p:sp>
        <p:nvSpPr>
          <p:cNvPr id="4" name="Footer Placeholder 3">
            <a:extLst>
              <a:ext uri="{FF2B5EF4-FFF2-40B4-BE49-F238E27FC236}">
                <a16:creationId xmlns:a16="http://schemas.microsoft.com/office/drawing/2014/main" id="{DFEA7215-6229-B3CF-9FF7-0E7357ACCA9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7419DAD-C28F-9E88-7EBD-4FE777AE7966}"/>
              </a:ext>
            </a:extLst>
          </p:cNvPr>
          <p:cNvSpPr>
            <a:spLocks noGrp="1"/>
          </p:cNvSpPr>
          <p:nvPr>
            <p:ph type="sldNum" sz="quarter" idx="12"/>
          </p:nvPr>
        </p:nvSpPr>
        <p:spPr/>
        <p:txBody>
          <a:bodyPr/>
          <a:lstStyle/>
          <a:p>
            <a:fld id="{382B47E1-F59F-47B3-8D16-B2A0740F319A}" type="slidenum">
              <a:rPr lang="en-US" smtClean="0"/>
              <a:pPr/>
              <a:t>14</a:t>
            </a:fld>
            <a:endParaRPr lang="en-US" dirty="0"/>
          </a:p>
        </p:txBody>
      </p:sp>
    </p:spTree>
    <p:extLst>
      <p:ext uri="{BB962C8B-B14F-4D97-AF65-F5344CB8AC3E}">
        <p14:creationId xmlns:p14="http://schemas.microsoft.com/office/powerpoint/2010/main" val="549626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88753-422C-8A5D-11B1-D34701B024C6}"/>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p>
        </p:txBody>
      </p:sp>
      <p:pic>
        <p:nvPicPr>
          <p:cNvPr id="8" name="Content Placeholder 7">
            <a:extLst>
              <a:ext uri="{FF2B5EF4-FFF2-40B4-BE49-F238E27FC236}">
                <a16:creationId xmlns:a16="http://schemas.microsoft.com/office/drawing/2014/main" id="{638193F8-2023-BF15-8987-D1082AD26657}"/>
              </a:ext>
            </a:extLst>
          </p:cNvPr>
          <p:cNvPicPr>
            <a:picLocks noGrp="1" noChangeAspect="1"/>
          </p:cNvPicPr>
          <p:nvPr>
            <p:ph sz="half" idx="1"/>
          </p:nvPr>
        </p:nvPicPr>
        <p:blipFill>
          <a:blip r:embed="rId2"/>
          <a:stretch>
            <a:fillRect/>
          </a:stretch>
        </p:blipFill>
        <p:spPr>
          <a:xfrm>
            <a:off x="1246032" y="2327784"/>
            <a:ext cx="4638132" cy="3899967"/>
          </a:xfrm>
        </p:spPr>
      </p:pic>
      <p:pic>
        <p:nvPicPr>
          <p:cNvPr id="10" name="Content Placeholder 9">
            <a:extLst>
              <a:ext uri="{FF2B5EF4-FFF2-40B4-BE49-F238E27FC236}">
                <a16:creationId xmlns:a16="http://schemas.microsoft.com/office/drawing/2014/main" id="{EFE8A0B2-B583-429C-D82B-86D9E4D91787}"/>
              </a:ext>
            </a:extLst>
          </p:cNvPr>
          <p:cNvPicPr>
            <a:picLocks noGrp="1" noChangeAspect="1"/>
          </p:cNvPicPr>
          <p:nvPr>
            <p:ph sz="half" idx="2"/>
          </p:nvPr>
        </p:nvPicPr>
        <p:blipFill>
          <a:blip r:embed="rId3"/>
          <a:stretch>
            <a:fillRect/>
          </a:stretch>
        </p:blipFill>
        <p:spPr>
          <a:xfrm>
            <a:off x="6468478" y="2135302"/>
            <a:ext cx="4368855" cy="4137482"/>
          </a:xfrm>
        </p:spPr>
      </p:pic>
      <p:sp>
        <p:nvSpPr>
          <p:cNvPr id="5" name="Footer Placeholder 4">
            <a:extLst>
              <a:ext uri="{FF2B5EF4-FFF2-40B4-BE49-F238E27FC236}">
                <a16:creationId xmlns:a16="http://schemas.microsoft.com/office/drawing/2014/main" id="{874EC376-31D5-C0CF-D6FE-AA97668AF6C0}"/>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A0E7323E-3603-41AB-6F46-F39B29890533}"/>
              </a:ext>
            </a:extLst>
          </p:cNvPr>
          <p:cNvSpPr>
            <a:spLocks noGrp="1"/>
          </p:cNvSpPr>
          <p:nvPr>
            <p:ph type="sldNum" sz="quarter" idx="12"/>
          </p:nvPr>
        </p:nvSpPr>
        <p:spPr/>
        <p:txBody>
          <a:bodyPr/>
          <a:lstStyle/>
          <a:p>
            <a:fld id="{382B47E1-F59F-47B3-8D16-B2A0740F319A}" type="slidenum">
              <a:rPr lang="en-US" sz="1600" smtClean="0"/>
              <a:t>15</a:t>
            </a:fld>
            <a:endParaRPr lang="en-US" dirty="0"/>
          </a:p>
        </p:txBody>
      </p:sp>
    </p:spTree>
    <p:extLst>
      <p:ext uri="{BB962C8B-B14F-4D97-AF65-F5344CB8AC3E}">
        <p14:creationId xmlns:p14="http://schemas.microsoft.com/office/powerpoint/2010/main" val="1146684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A6719-FF50-ACFC-3402-F4AB17B6EC2B}"/>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a:t>
            </a:r>
            <a:endParaRPr lang="en-US" dirty="0"/>
          </a:p>
        </p:txBody>
      </p:sp>
      <p:sp>
        <p:nvSpPr>
          <p:cNvPr id="4" name="Footer Placeholder 3">
            <a:extLst>
              <a:ext uri="{FF2B5EF4-FFF2-40B4-BE49-F238E27FC236}">
                <a16:creationId xmlns:a16="http://schemas.microsoft.com/office/drawing/2014/main" id="{09010218-FAC7-5666-4CBA-840D35DAD5B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F4774EC-3A8A-30AB-C60A-3ADB1FFD9DDE}"/>
              </a:ext>
            </a:extLst>
          </p:cNvPr>
          <p:cNvSpPr>
            <a:spLocks noGrp="1"/>
          </p:cNvSpPr>
          <p:nvPr>
            <p:ph type="sldNum" sz="quarter" idx="12"/>
          </p:nvPr>
        </p:nvSpPr>
        <p:spPr/>
        <p:txBody>
          <a:bodyPr/>
          <a:lstStyle/>
          <a:p>
            <a:fld id="{382B47E1-F59F-47B3-8D16-B2A0740F319A}" type="slidenum">
              <a:rPr lang="en-US" smtClean="0"/>
              <a:pPr/>
              <a:t>16</a:t>
            </a:fld>
            <a:endParaRPr lang="en-US" dirty="0"/>
          </a:p>
        </p:txBody>
      </p:sp>
      <p:sp>
        <p:nvSpPr>
          <p:cNvPr id="9" name="Content Placeholder 8">
            <a:extLst>
              <a:ext uri="{FF2B5EF4-FFF2-40B4-BE49-F238E27FC236}">
                <a16:creationId xmlns:a16="http://schemas.microsoft.com/office/drawing/2014/main" id="{C457D169-2D1E-DA5A-769E-6F77D8B0F951}"/>
              </a:ext>
            </a:extLst>
          </p:cNvPr>
          <p:cNvSpPr>
            <a:spLocks noGrp="1"/>
          </p:cNvSpPr>
          <p:nvPr>
            <p:ph idx="1"/>
          </p:nvPr>
        </p:nvSpPr>
        <p:spPr/>
        <p:txBody>
          <a:bodyPr/>
          <a:lstStyle/>
          <a:p>
            <a:r>
              <a:rPr lang="en-US" dirty="0"/>
              <a:t> </a:t>
            </a:r>
          </a:p>
        </p:txBody>
      </p:sp>
      <p:pic>
        <p:nvPicPr>
          <p:cNvPr id="11" name="Picture 10">
            <a:extLst>
              <a:ext uri="{FF2B5EF4-FFF2-40B4-BE49-F238E27FC236}">
                <a16:creationId xmlns:a16="http://schemas.microsoft.com/office/drawing/2014/main" id="{62691CBB-29F4-49CA-1D48-B7FFEC2A3F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24127" y="2217876"/>
            <a:ext cx="7713116" cy="1542623"/>
          </a:xfrm>
          <a:prstGeom prst="rect">
            <a:avLst/>
          </a:prstGeom>
        </p:spPr>
      </p:pic>
      <p:pic>
        <p:nvPicPr>
          <p:cNvPr id="13" name="Picture 12">
            <a:extLst>
              <a:ext uri="{FF2B5EF4-FFF2-40B4-BE49-F238E27FC236}">
                <a16:creationId xmlns:a16="http://schemas.microsoft.com/office/drawing/2014/main" id="{6DC19D34-BC05-5F42-2FF3-F61096EA63D1}"/>
              </a:ext>
            </a:extLst>
          </p:cNvPr>
          <p:cNvPicPr>
            <a:picLocks noChangeAspect="1"/>
          </p:cNvPicPr>
          <p:nvPr/>
        </p:nvPicPr>
        <p:blipFill>
          <a:blip r:embed="rId4"/>
          <a:stretch>
            <a:fillRect/>
          </a:stretch>
        </p:blipFill>
        <p:spPr>
          <a:xfrm>
            <a:off x="1024127" y="3598904"/>
            <a:ext cx="8226772" cy="2565672"/>
          </a:xfrm>
          <a:prstGeom prst="rect">
            <a:avLst/>
          </a:prstGeom>
        </p:spPr>
      </p:pic>
      <p:pic>
        <p:nvPicPr>
          <p:cNvPr id="15" name="Picture 14">
            <a:extLst>
              <a:ext uri="{FF2B5EF4-FFF2-40B4-BE49-F238E27FC236}">
                <a16:creationId xmlns:a16="http://schemas.microsoft.com/office/drawing/2014/main" id="{8DAFB7DF-CEB1-C6EA-FA24-C269FA747505}"/>
              </a:ext>
            </a:extLst>
          </p:cNvPr>
          <p:cNvPicPr>
            <a:picLocks noChangeAspect="1"/>
          </p:cNvPicPr>
          <p:nvPr/>
        </p:nvPicPr>
        <p:blipFill>
          <a:blip r:embed="rId5"/>
          <a:stretch>
            <a:fillRect/>
          </a:stretch>
        </p:blipFill>
        <p:spPr>
          <a:xfrm>
            <a:off x="8900173" y="1554202"/>
            <a:ext cx="2741406" cy="2708376"/>
          </a:xfrm>
          <a:prstGeom prst="rect">
            <a:avLst/>
          </a:prstGeom>
        </p:spPr>
      </p:pic>
      <p:sp>
        <p:nvSpPr>
          <p:cNvPr id="16" name="TextBox 15">
            <a:extLst>
              <a:ext uri="{FF2B5EF4-FFF2-40B4-BE49-F238E27FC236}">
                <a16:creationId xmlns:a16="http://schemas.microsoft.com/office/drawing/2014/main" id="{F4A76CFC-E967-AE89-6B83-6CFC0A81D946}"/>
              </a:ext>
            </a:extLst>
          </p:cNvPr>
          <p:cNvSpPr txBox="1"/>
          <p:nvPr/>
        </p:nvSpPr>
        <p:spPr>
          <a:xfrm>
            <a:off x="8173928" y="5073403"/>
            <a:ext cx="3845351" cy="1200329"/>
          </a:xfrm>
          <a:prstGeom prst="rect">
            <a:avLst/>
          </a:prstGeom>
          <a:noFill/>
        </p:spPr>
        <p:txBody>
          <a:bodyPr wrap="square" rtlCol="0">
            <a:spAutoFit/>
          </a:bodyPr>
          <a:lstStyle/>
          <a:p>
            <a:pPr algn="ctr"/>
            <a:r>
              <a:rPr lang="en-US" b="1" dirty="0"/>
              <a:t>The Abel Lecture (Yves Meyer)</a:t>
            </a:r>
          </a:p>
          <a:p>
            <a:pPr algn="ctr"/>
            <a:r>
              <a:rPr lang="en-US" b="1" dirty="0"/>
              <a:t>About Detection of gravitational waves and time-frequency wavelets</a:t>
            </a:r>
          </a:p>
          <a:p>
            <a:pPr algn="ctr"/>
            <a:r>
              <a:rPr lang="en-US" b="1" dirty="0"/>
              <a:t>[ </a:t>
            </a:r>
            <a:r>
              <a:rPr lang="en-US" b="1" dirty="0">
                <a:solidFill>
                  <a:srgbClr val="FF0000"/>
                </a:solidFill>
                <a:hlinkClick r:id="rId6">
                  <a:extLst>
                    <a:ext uri="{A12FA001-AC4F-418D-AE19-62706E023703}">
                      <ahyp:hlinkClr xmlns:ahyp="http://schemas.microsoft.com/office/drawing/2018/hyperlinkcolor" val="tx"/>
                    </a:ext>
                  </a:extLst>
                </a:hlinkClick>
              </a:rPr>
              <a:t>Link to YouTube </a:t>
            </a:r>
            <a:r>
              <a:rPr lang="en-US" b="1" dirty="0"/>
              <a:t>]</a:t>
            </a:r>
          </a:p>
        </p:txBody>
      </p:sp>
    </p:spTree>
    <p:extLst>
      <p:ext uri="{BB962C8B-B14F-4D97-AF65-F5344CB8AC3E}">
        <p14:creationId xmlns:p14="http://schemas.microsoft.com/office/powerpoint/2010/main" val="32017958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A5B90-C1F5-B8EA-92EB-48D166D05F10}"/>
              </a:ext>
            </a:extLst>
          </p:cNvPr>
          <p:cNvSpPr>
            <a:spLocks noGrp="1"/>
          </p:cNvSpPr>
          <p:nvPr>
            <p:ph type="title"/>
          </p:nvPr>
        </p:nvSpPr>
        <p:spPr/>
        <p:txBody>
          <a:bodyPr/>
          <a:lstStyle/>
          <a:p>
            <a:r>
              <a:rPr lang="en-US" dirty="0">
                <a:solidFill>
                  <a:srgbClr val="0070C0"/>
                </a:solidFill>
              </a:rPr>
              <a:t>INTRODUCTION to wavelets</a:t>
            </a:r>
            <a:br>
              <a:rPr lang="en-US" dirty="0">
                <a:solidFill>
                  <a:srgbClr val="0070C0"/>
                </a:solidFill>
              </a:rPr>
            </a:br>
            <a:r>
              <a:rPr lang="en-US" sz="3200" dirty="0">
                <a:solidFill>
                  <a:srgbClr val="FF0000"/>
                </a:solidFill>
              </a:rPr>
              <a:t>it’s applications – Gravitational waves</a:t>
            </a:r>
            <a:endParaRPr lang="en-US" dirty="0"/>
          </a:p>
        </p:txBody>
      </p:sp>
      <p:sp>
        <p:nvSpPr>
          <p:cNvPr id="5" name="Footer Placeholder 4">
            <a:extLst>
              <a:ext uri="{FF2B5EF4-FFF2-40B4-BE49-F238E27FC236}">
                <a16:creationId xmlns:a16="http://schemas.microsoft.com/office/drawing/2014/main" id="{CFEBCFDA-9084-938E-3D26-BC0EF0F60D21}"/>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00004FD5-6FF2-B3D7-224E-E8B79BE8F844}"/>
              </a:ext>
            </a:extLst>
          </p:cNvPr>
          <p:cNvSpPr>
            <a:spLocks noGrp="1"/>
          </p:cNvSpPr>
          <p:nvPr>
            <p:ph type="sldNum" sz="quarter" idx="12"/>
          </p:nvPr>
        </p:nvSpPr>
        <p:spPr/>
        <p:txBody>
          <a:bodyPr/>
          <a:lstStyle/>
          <a:p>
            <a:fld id="{382B47E1-F59F-47B3-8D16-B2A0740F319A}" type="slidenum">
              <a:rPr lang="en-US" sz="1600" smtClean="0"/>
              <a:t>17</a:t>
            </a:fld>
            <a:endParaRPr lang="en-US" dirty="0"/>
          </a:p>
        </p:txBody>
      </p:sp>
      <p:pic>
        <p:nvPicPr>
          <p:cNvPr id="11" name="Content Placeholder 7">
            <a:extLst>
              <a:ext uri="{FF2B5EF4-FFF2-40B4-BE49-F238E27FC236}">
                <a16:creationId xmlns:a16="http://schemas.microsoft.com/office/drawing/2014/main" id="{F17A3950-292F-91AC-BDA5-CBFE200DBFD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57412" y="1886912"/>
            <a:ext cx="5289300" cy="4385872"/>
          </a:xfrm>
        </p:spPr>
      </p:pic>
      <p:pic>
        <p:nvPicPr>
          <p:cNvPr id="21" name="Content Placeholder 20">
            <a:extLst>
              <a:ext uri="{FF2B5EF4-FFF2-40B4-BE49-F238E27FC236}">
                <a16:creationId xmlns:a16="http://schemas.microsoft.com/office/drawing/2014/main" id="{75EA5B77-5C28-5819-4780-4D7753C5DBF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581389" y="2239718"/>
            <a:ext cx="6176023" cy="3815188"/>
          </a:xfrm>
        </p:spPr>
      </p:pic>
    </p:spTree>
    <p:extLst>
      <p:ext uri="{BB962C8B-B14F-4D97-AF65-F5344CB8AC3E}">
        <p14:creationId xmlns:p14="http://schemas.microsoft.com/office/powerpoint/2010/main" val="1141895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7F8C-5A9A-D796-0582-676CF4B60220}"/>
              </a:ext>
            </a:extLst>
          </p:cNvPr>
          <p:cNvSpPr>
            <a:spLocks noGrp="1"/>
          </p:cNvSpPr>
          <p:nvPr>
            <p:ph type="title"/>
          </p:nvPr>
        </p:nvSpPr>
        <p:spPr/>
        <p:txBody>
          <a:bodyPr/>
          <a:lstStyle/>
          <a:p>
            <a:r>
              <a:rPr lang="en-US" dirty="0">
                <a:solidFill>
                  <a:srgbClr val="0070C0"/>
                </a:solidFill>
              </a:rPr>
              <a:t>Fourier Analysis</a:t>
            </a:r>
            <a:br>
              <a:rPr lang="en-US" dirty="0">
                <a:solidFill>
                  <a:srgbClr val="0070C0"/>
                </a:solidFill>
              </a:rPr>
            </a:br>
            <a:r>
              <a:rPr lang="en-US" sz="3200" dirty="0">
                <a:solidFill>
                  <a:srgbClr val="FF0000"/>
                </a:solidFill>
              </a:rPr>
              <a:t>a serious drawback</a:t>
            </a:r>
            <a:endParaRPr lang="en-US" sz="4800" dirty="0">
              <a:solidFill>
                <a:srgbClr val="FF0000"/>
              </a:solidFill>
            </a:endParaRPr>
          </a:p>
        </p:txBody>
      </p:sp>
      <p:sp>
        <p:nvSpPr>
          <p:cNvPr id="3" name="Content Placeholder 2">
            <a:extLst>
              <a:ext uri="{FF2B5EF4-FFF2-40B4-BE49-F238E27FC236}">
                <a16:creationId xmlns:a16="http://schemas.microsoft.com/office/drawing/2014/main" id="{2C7D8993-7BEC-DC91-C582-D501FDC39C96}"/>
              </a:ext>
            </a:extLst>
          </p:cNvPr>
          <p:cNvSpPr>
            <a:spLocks noGrp="1"/>
          </p:cNvSpPr>
          <p:nvPr>
            <p:ph idx="1"/>
          </p:nvPr>
        </p:nvSpPr>
        <p:spPr/>
        <p:txBody>
          <a:bodyPr/>
          <a:lstStyle/>
          <a:p>
            <a:pPr>
              <a:buFont typeface="Wingdings" panose="05000000000000000000" pitchFamily="2" charset="2"/>
              <a:buChar char="q"/>
            </a:pPr>
            <a:r>
              <a:rPr lang="en-US" dirty="0"/>
              <a:t> Wavelets were developed </a:t>
            </a:r>
            <a:r>
              <a:rPr lang="en-US" b="1" dirty="0"/>
              <a:t>an alternative to Fourier analysis of signals</a:t>
            </a:r>
            <a:r>
              <a:rPr lang="en-US" dirty="0"/>
              <a:t>.</a:t>
            </a:r>
          </a:p>
          <a:p>
            <a:pPr lvl="1">
              <a:buFont typeface="Arial" panose="020B0604020202020204" pitchFamily="34" charset="0"/>
              <a:buChar char="•"/>
            </a:pPr>
            <a:r>
              <a:rPr lang="en-US" sz="2400" b="1" dirty="0">
                <a:solidFill>
                  <a:srgbClr val="FF0000"/>
                </a:solidFill>
              </a:rPr>
              <a:t> But Why?</a:t>
            </a:r>
          </a:p>
          <a:p>
            <a:pPr>
              <a:buFont typeface="Wingdings" panose="05000000000000000000" pitchFamily="2" charset="2"/>
              <a:buChar char="q"/>
            </a:pPr>
            <a:r>
              <a:rPr lang="en-US" dirty="0"/>
              <a:t> 1) </a:t>
            </a:r>
            <a:r>
              <a:rPr lang="en-US" b="1" dirty="0"/>
              <a:t>Location information is stored in phases and difficult to extract.</a:t>
            </a:r>
          </a:p>
          <a:p>
            <a:pPr lvl="1">
              <a:buFont typeface="Courier New" panose="02070309020205020404" pitchFamily="49" charset="0"/>
              <a:buChar char="o"/>
            </a:pPr>
            <a:r>
              <a:rPr lang="en-US" b="1" dirty="0"/>
              <a:t> </a:t>
            </a:r>
            <a:r>
              <a:rPr lang="en-US" dirty="0"/>
              <a:t>For example, consider discrete functions defined on an N -point grid with grid points :</a:t>
            </a:r>
          </a:p>
        </p:txBody>
      </p:sp>
      <p:sp>
        <p:nvSpPr>
          <p:cNvPr id="4" name="Footer Placeholder 3">
            <a:extLst>
              <a:ext uri="{FF2B5EF4-FFF2-40B4-BE49-F238E27FC236}">
                <a16:creationId xmlns:a16="http://schemas.microsoft.com/office/drawing/2014/main" id="{8B717CD1-7BC7-53B3-0416-612DD7448F1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E15575E-8DAA-F117-62A1-880717E77A11}"/>
              </a:ext>
            </a:extLst>
          </p:cNvPr>
          <p:cNvSpPr>
            <a:spLocks noGrp="1"/>
          </p:cNvSpPr>
          <p:nvPr>
            <p:ph type="sldNum" sz="quarter" idx="12"/>
          </p:nvPr>
        </p:nvSpPr>
        <p:spPr/>
        <p:txBody>
          <a:bodyPr/>
          <a:lstStyle/>
          <a:p>
            <a:fld id="{382B47E1-F59F-47B3-8D16-B2A0740F319A}" type="slidenum">
              <a:rPr lang="en-US" smtClean="0"/>
              <a:pPr/>
              <a:t>18</a:t>
            </a:fld>
            <a:endParaRPr lang="en-US" dirty="0"/>
          </a:p>
        </p:txBody>
      </p:sp>
      <p:pic>
        <p:nvPicPr>
          <p:cNvPr id="7" name="Picture 6">
            <a:extLst>
              <a:ext uri="{FF2B5EF4-FFF2-40B4-BE49-F238E27FC236}">
                <a16:creationId xmlns:a16="http://schemas.microsoft.com/office/drawing/2014/main" id="{A4B4B830-87D7-7095-689D-CD37654AE4C2}"/>
              </a:ext>
            </a:extLst>
          </p:cNvPr>
          <p:cNvPicPr>
            <a:picLocks/>
          </p:cNvPicPr>
          <p:nvPr/>
        </p:nvPicPr>
        <p:blipFill>
          <a:blip r:embed="rId2"/>
          <a:stretch>
            <a:fillRect/>
          </a:stretch>
        </p:blipFill>
        <p:spPr>
          <a:xfrm>
            <a:off x="2778760" y="4175760"/>
            <a:ext cx="6634480" cy="1964944"/>
          </a:xfrm>
          <a:prstGeom prst="rect">
            <a:avLst/>
          </a:prstGeom>
        </p:spPr>
      </p:pic>
    </p:spTree>
    <p:extLst>
      <p:ext uri="{BB962C8B-B14F-4D97-AF65-F5344CB8AC3E}">
        <p14:creationId xmlns:p14="http://schemas.microsoft.com/office/powerpoint/2010/main" val="474536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67382-BD87-7B04-5C9F-21F57533955E}"/>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p:sp>
        <p:nvSpPr>
          <p:cNvPr id="3" name="Content Placeholder 2">
            <a:extLst>
              <a:ext uri="{FF2B5EF4-FFF2-40B4-BE49-F238E27FC236}">
                <a16:creationId xmlns:a16="http://schemas.microsoft.com/office/drawing/2014/main" id="{96F325AC-8B6A-3582-95E1-4DC83DFE1BB5}"/>
              </a:ext>
            </a:extLst>
          </p:cNvPr>
          <p:cNvSpPr>
            <a:spLocks noGrp="1"/>
          </p:cNvSpPr>
          <p:nvPr>
            <p:ph sz="half" idx="1"/>
          </p:nvPr>
        </p:nvSpPr>
        <p:spPr>
          <a:xfrm>
            <a:off x="725613" y="2222042"/>
            <a:ext cx="4984307" cy="4023360"/>
          </a:xfrm>
        </p:spPr>
        <p:style>
          <a:lnRef idx="2">
            <a:schemeClr val="dk1"/>
          </a:lnRef>
          <a:fillRef idx="1">
            <a:schemeClr val="lt1"/>
          </a:fillRef>
          <a:effectRef idx="0">
            <a:schemeClr val="dk1"/>
          </a:effectRef>
          <a:fontRef idx="minor">
            <a:schemeClr val="dk1"/>
          </a:fontRef>
        </p:style>
        <p:txBody>
          <a:bodyPr>
            <a:normAutofit/>
          </a:bodyPr>
          <a:lstStyle/>
          <a:p>
            <a:pPr>
              <a:spcBef>
                <a:spcPts val="0"/>
              </a:spcBef>
              <a:buFont typeface="Wingdings" panose="05000000000000000000" pitchFamily="2" charset="2"/>
              <a:buChar char="q"/>
            </a:pPr>
            <a:r>
              <a:rPr lang="en-US" dirty="0"/>
              <a:t> We see that the </a:t>
            </a:r>
            <a:r>
              <a:rPr lang="en-US" b="1" dirty="0"/>
              <a:t>Fourier coefficients all have the same magnitude</a:t>
            </a:r>
            <a:r>
              <a:rPr lang="en-US" dirty="0"/>
              <a:t>, so</a:t>
            </a:r>
          </a:p>
          <a:p>
            <a:pPr marL="0" indent="0">
              <a:spcBef>
                <a:spcPts val="0"/>
              </a:spcBef>
              <a:buNone/>
            </a:pPr>
            <a:endParaRPr lang="en-US" dirty="0"/>
          </a:p>
          <a:p>
            <a:pPr marL="0" indent="0" algn="ctr">
              <a:buNone/>
            </a:pPr>
            <a:r>
              <a:rPr lang="en-US" dirty="0">
                <a:solidFill>
                  <a:srgbClr val="FF0000"/>
                </a:solidFill>
              </a:rPr>
              <a:t>The only way to tell from the Fourier transform that this function is concentrated at a single point in </a:t>
            </a:r>
            <a:r>
              <a:rPr lang="en-US" b="1" dirty="0">
                <a:solidFill>
                  <a:srgbClr val="FF0000"/>
                </a:solidFill>
              </a:rPr>
              <a:t>physical space</a:t>
            </a:r>
            <a:r>
              <a:rPr lang="en-US" dirty="0">
                <a:solidFill>
                  <a:srgbClr val="FF0000"/>
                </a:solidFill>
              </a:rPr>
              <a:t>, and to determine the location of that point, </a:t>
            </a:r>
            <a:r>
              <a:rPr lang="en-US" b="1" dirty="0">
                <a:solidFill>
                  <a:srgbClr val="FF0000"/>
                </a:solidFill>
              </a:rPr>
              <a:t>is to examine the phase of the coefficients</a:t>
            </a:r>
            <a:r>
              <a:rPr lang="en-US" dirty="0">
                <a:solidFill>
                  <a:srgbClr val="FF0000"/>
                </a:solidFill>
              </a:rPr>
              <a:t>.</a:t>
            </a:r>
          </a:p>
          <a:p>
            <a:pPr>
              <a:spcBef>
                <a:spcPts val="0"/>
              </a:spcBef>
            </a:pPr>
            <a:endParaRPr lang="en-US" dirty="0">
              <a:solidFill>
                <a:srgbClr val="C00000"/>
              </a:solidFill>
            </a:endParaRPr>
          </a:p>
        </p:txBody>
      </p:sp>
      <p:sp>
        <p:nvSpPr>
          <p:cNvPr id="5" name="Footer Placeholder 4">
            <a:extLst>
              <a:ext uri="{FF2B5EF4-FFF2-40B4-BE49-F238E27FC236}">
                <a16:creationId xmlns:a16="http://schemas.microsoft.com/office/drawing/2014/main" id="{47661F28-DB7F-A0C9-51A4-97BD653BDE29}"/>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174D370A-DCC5-FAE9-FCF5-7A3747A0DFC3}"/>
              </a:ext>
            </a:extLst>
          </p:cNvPr>
          <p:cNvSpPr>
            <a:spLocks noGrp="1"/>
          </p:cNvSpPr>
          <p:nvPr>
            <p:ph type="sldNum" sz="quarter" idx="12"/>
          </p:nvPr>
        </p:nvSpPr>
        <p:spPr/>
        <p:txBody>
          <a:bodyPr/>
          <a:lstStyle/>
          <a:p>
            <a:fld id="{382B47E1-F59F-47B3-8D16-B2A0740F319A}" type="slidenum">
              <a:rPr lang="en-US" sz="1600" smtClean="0"/>
              <a:t>19</a:t>
            </a:fld>
            <a:endParaRPr lang="en-US" dirty="0"/>
          </a:p>
        </p:txBody>
      </p:sp>
      <p:sp>
        <p:nvSpPr>
          <p:cNvPr id="12" name="TextBox 11">
            <a:extLst>
              <a:ext uri="{FF2B5EF4-FFF2-40B4-BE49-F238E27FC236}">
                <a16:creationId xmlns:a16="http://schemas.microsoft.com/office/drawing/2014/main" id="{E00F3EBB-BAEE-6609-2794-B4344D1FF762}"/>
              </a:ext>
            </a:extLst>
          </p:cNvPr>
          <p:cNvSpPr txBox="1"/>
          <p:nvPr/>
        </p:nvSpPr>
        <p:spPr>
          <a:xfrm>
            <a:off x="1790032" y="5377472"/>
            <a:ext cx="3029712"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From Standford Lectures:</a:t>
            </a:r>
          </a:p>
          <a:p>
            <a:pPr algn="ctr"/>
            <a:r>
              <a:rPr lang="en-US" dirty="0">
                <a:solidFill>
                  <a:srgbClr val="000000"/>
                </a:solidFill>
              </a:rPr>
              <a:t>[</a:t>
            </a:r>
            <a:r>
              <a:rPr lang="en-US" dirty="0">
                <a:solidFill>
                  <a:srgbClr val="000000"/>
                </a:solidFill>
                <a:hlinkClick r:id="rId3">
                  <a:extLst>
                    <a:ext uri="{A12FA001-AC4F-418D-AE19-62706E023703}">
                      <ahyp:hlinkClr xmlns:ahyp="http://schemas.microsoft.com/office/drawing/2018/hyperlinkcolor" val="tx"/>
                    </a:ext>
                  </a:extLst>
                </a:hlinkClick>
              </a:rPr>
              <a:t> Link To Lecture </a:t>
            </a:r>
            <a:r>
              <a:rPr lang="en-US" dirty="0"/>
              <a:t>]</a:t>
            </a:r>
          </a:p>
        </p:txBody>
      </p:sp>
      <p:pic>
        <p:nvPicPr>
          <p:cNvPr id="16" name="Content Placeholder 15">
            <a:extLst>
              <a:ext uri="{FF2B5EF4-FFF2-40B4-BE49-F238E27FC236}">
                <a16:creationId xmlns:a16="http://schemas.microsoft.com/office/drawing/2014/main" id="{56D1B1EC-D373-D1E6-4D20-39ED1CFDAC5C}"/>
              </a:ext>
            </a:extLst>
          </p:cNvPr>
          <p:cNvPicPr>
            <a:picLocks noGrp="1"/>
          </p:cNvPicPr>
          <p:nvPr>
            <p:ph sz="half" idx="2"/>
          </p:nvPr>
        </p:nvPicPr>
        <p:blipFill>
          <a:blip r:embed="rId4"/>
          <a:stretch>
            <a:fillRect/>
          </a:stretch>
        </p:blipFill>
        <p:spPr>
          <a:xfrm>
            <a:off x="6096000" y="2443641"/>
            <a:ext cx="5821362" cy="3580161"/>
          </a:xfrm>
          <a:prstGeom prst="rect">
            <a:avLst/>
          </a:prstGeom>
        </p:spPr>
      </p:pic>
    </p:spTree>
    <p:extLst>
      <p:ext uri="{BB962C8B-B14F-4D97-AF65-F5344CB8AC3E}">
        <p14:creationId xmlns:p14="http://schemas.microsoft.com/office/powerpoint/2010/main" val="719915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0E4A-3C9E-78C4-F7CF-446251E1083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p:sp>
        <p:nvSpPr>
          <p:cNvPr id="3" name="Content Placeholder 2">
            <a:extLst>
              <a:ext uri="{FF2B5EF4-FFF2-40B4-BE49-F238E27FC236}">
                <a16:creationId xmlns:a16="http://schemas.microsoft.com/office/drawing/2014/main" id="{2CF02A16-E126-1BFB-5246-F418228621DD}"/>
              </a:ext>
            </a:extLst>
          </p:cNvPr>
          <p:cNvSpPr>
            <a:spLocks noGrp="1"/>
          </p:cNvSpPr>
          <p:nvPr>
            <p:ph idx="1"/>
          </p:nvPr>
        </p:nvSpPr>
        <p:spPr/>
        <p:txBody>
          <a:bodyPr/>
          <a:lstStyle/>
          <a:p>
            <a:pPr>
              <a:buFont typeface="Wingdings" panose="05000000000000000000" pitchFamily="2" charset="2"/>
              <a:buChar char="q"/>
            </a:pPr>
            <a:r>
              <a:rPr lang="en-US" dirty="0">
                <a:solidFill>
                  <a:srgbClr val="000000"/>
                </a:solidFill>
              </a:rPr>
              <a:t> Because of this, it can be very difficult, if not impossible, to determine whether a signal includes a particular frequency at a particular point in physical space (which may refer to space or time).</a:t>
            </a:r>
          </a:p>
          <a:p>
            <a:pPr>
              <a:buFont typeface="Wingdings" panose="05000000000000000000" pitchFamily="2" charset="2"/>
              <a:buChar char="q"/>
            </a:pPr>
            <a:endParaRPr lang="en-US" dirty="0">
              <a:solidFill>
                <a:srgbClr val="000000"/>
              </a:solidFill>
            </a:endParaRPr>
          </a:p>
          <a:p>
            <a:pPr>
              <a:buFont typeface="Wingdings" panose="05000000000000000000" pitchFamily="2" charset="2"/>
              <a:buChar char="q"/>
            </a:pPr>
            <a:r>
              <a:rPr lang="en-US" dirty="0"/>
              <a:t> This is especially difficult for a high frequency, in view of the sampling theorem, which states that a signal with n frequencies can be represented with complete accuracy using 2n samples per second. However, this sampling rate must be maintained for the entire duration of the signal, not just the interval of interest.</a:t>
            </a:r>
          </a:p>
        </p:txBody>
      </p:sp>
      <p:sp>
        <p:nvSpPr>
          <p:cNvPr id="4" name="Footer Placeholder 3">
            <a:extLst>
              <a:ext uri="{FF2B5EF4-FFF2-40B4-BE49-F238E27FC236}">
                <a16:creationId xmlns:a16="http://schemas.microsoft.com/office/drawing/2014/main" id="{BBA2F5F3-9ADA-8EBF-6DF4-103791C17C0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B1D4835-0A54-85FB-6F8C-56A81F87ECAA}"/>
              </a:ext>
            </a:extLst>
          </p:cNvPr>
          <p:cNvSpPr>
            <a:spLocks noGrp="1"/>
          </p:cNvSpPr>
          <p:nvPr>
            <p:ph type="sldNum" sz="quarter" idx="12"/>
          </p:nvPr>
        </p:nvSpPr>
        <p:spPr/>
        <p:txBody>
          <a:bodyPr/>
          <a:lstStyle/>
          <a:p>
            <a:fld id="{382B47E1-F59F-47B3-8D16-B2A0740F319A}" type="slidenum">
              <a:rPr lang="en-US" smtClean="0"/>
              <a:pPr/>
              <a:t>20</a:t>
            </a:fld>
            <a:endParaRPr lang="en-US" dirty="0"/>
          </a:p>
        </p:txBody>
      </p:sp>
    </p:spTree>
    <p:extLst>
      <p:ext uri="{BB962C8B-B14F-4D97-AF65-F5344CB8AC3E}">
        <p14:creationId xmlns:p14="http://schemas.microsoft.com/office/powerpoint/2010/main" val="1226633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E595-0C2E-9F9C-0551-E1EAABA2703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 – Another example to clarify</a:t>
            </a:r>
            <a:endParaRPr lang="en-US" dirty="0"/>
          </a:p>
        </p:txBody>
      </p:sp>
      <p:sp>
        <p:nvSpPr>
          <p:cNvPr id="3" name="Text Placeholder 2">
            <a:extLst>
              <a:ext uri="{FF2B5EF4-FFF2-40B4-BE49-F238E27FC236}">
                <a16:creationId xmlns:a16="http://schemas.microsoft.com/office/drawing/2014/main" id="{EEF2AAA0-A901-612D-8C97-419F418A90BA}"/>
              </a:ext>
            </a:extLst>
          </p:cNvPr>
          <p:cNvSpPr>
            <a:spLocks noGrp="1"/>
          </p:cNvSpPr>
          <p:nvPr>
            <p:ph type="body" idx="1"/>
          </p:nvPr>
        </p:nvSpPr>
        <p:spPr>
          <a:xfrm>
            <a:off x="984429" y="2120539"/>
            <a:ext cx="6809232" cy="822960"/>
          </a:xfrm>
        </p:spPr>
        <p:txBody>
          <a:bodyPr/>
          <a:lstStyle/>
          <a:p>
            <a:r>
              <a:rPr lang="en-US" b="1" dirty="0">
                <a:solidFill>
                  <a:srgbClr val="000000"/>
                </a:solidFill>
              </a:rPr>
              <a:t>Example: Two musical notes played simultaneously</a:t>
            </a:r>
          </a:p>
        </p:txBody>
      </p:sp>
      <p:pic>
        <p:nvPicPr>
          <p:cNvPr id="10" name="Content Placeholder 9">
            <a:extLst>
              <a:ext uri="{FF2B5EF4-FFF2-40B4-BE49-F238E27FC236}">
                <a16:creationId xmlns:a16="http://schemas.microsoft.com/office/drawing/2014/main" id="{E873F53B-2907-0099-463B-B335D506BA1C}"/>
              </a:ext>
            </a:extLst>
          </p:cNvPr>
          <p:cNvPicPr>
            <a:picLocks noGrp="1" noChangeAspect="1"/>
          </p:cNvPicPr>
          <p:nvPr>
            <p:ph sz="half" idx="2"/>
          </p:nvPr>
        </p:nvPicPr>
        <p:blipFill>
          <a:blip r:embed="rId2"/>
          <a:stretch>
            <a:fillRect/>
          </a:stretch>
        </p:blipFill>
        <p:spPr>
          <a:xfrm>
            <a:off x="1348740" y="3868933"/>
            <a:ext cx="4754562" cy="2085766"/>
          </a:xfrm>
        </p:spPr>
      </p:pic>
      <p:sp>
        <p:nvSpPr>
          <p:cNvPr id="5" name="Text Placeholder 4">
            <a:extLst>
              <a:ext uri="{FF2B5EF4-FFF2-40B4-BE49-F238E27FC236}">
                <a16:creationId xmlns:a16="http://schemas.microsoft.com/office/drawing/2014/main" id="{B948AA60-9AF3-C772-3DF5-3DA8B466EC5E}"/>
              </a:ext>
            </a:extLst>
          </p:cNvPr>
          <p:cNvSpPr>
            <a:spLocks noGrp="1"/>
          </p:cNvSpPr>
          <p:nvPr>
            <p:ph type="body" sz="quarter" idx="3"/>
          </p:nvPr>
        </p:nvSpPr>
        <p:spPr>
          <a:xfrm>
            <a:off x="1242059" y="3011805"/>
            <a:ext cx="5072698" cy="822960"/>
          </a:xfrm>
        </p:spPr>
        <p:txBody>
          <a:bodyPr/>
          <a:lstStyle/>
          <a:p>
            <a:pPr algn="ctr"/>
            <a:r>
              <a:rPr lang="en-US" dirty="0">
                <a:solidFill>
                  <a:srgbClr val="000000"/>
                </a:solidFill>
              </a:rPr>
              <a:t>Signal f (x ) = sin(40</a:t>
            </a:r>
            <a:r>
              <a:rPr lang="el-GR" dirty="0">
                <a:solidFill>
                  <a:srgbClr val="000000"/>
                </a:solidFill>
              </a:rPr>
              <a:t>π</a:t>
            </a:r>
            <a:r>
              <a:rPr lang="en-US" dirty="0">
                <a:solidFill>
                  <a:srgbClr val="000000"/>
                </a:solidFill>
              </a:rPr>
              <a:t>x ) + sin(170</a:t>
            </a:r>
            <a:r>
              <a:rPr lang="el-GR" dirty="0">
                <a:solidFill>
                  <a:srgbClr val="000000"/>
                </a:solidFill>
              </a:rPr>
              <a:t>π</a:t>
            </a:r>
            <a:r>
              <a:rPr lang="en-US" dirty="0">
                <a:solidFill>
                  <a:srgbClr val="000000"/>
                </a:solidFill>
              </a:rPr>
              <a:t>x ) </a:t>
            </a:r>
          </a:p>
        </p:txBody>
      </p:sp>
      <p:pic>
        <p:nvPicPr>
          <p:cNvPr id="12" name="Content Placeholder 11">
            <a:extLst>
              <a:ext uri="{FF2B5EF4-FFF2-40B4-BE49-F238E27FC236}">
                <a16:creationId xmlns:a16="http://schemas.microsoft.com/office/drawing/2014/main" id="{E133BD1B-387B-24B9-FB8C-0727B01F109F}"/>
              </a:ext>
            </a:extLst>
          </p:cNvPr>
          <p:cNvPicPr>
            <a:picLocks noGrp="1" noChangeAspect="1"/>
          </p:cNvPicPr>
          <p:nvPr>
            <p:ph sz="quarter" idx="4"/>
          </p:nvPr>
        </p:nvPicPr>
        <p:blipFill>
          <a:blip r:embed="rId3"/>
          <a:stretch>
            <a:fillRect/>
          </a:stretch>
        </p:blipFill>
        <p:spPr>
          <a:xfrm>
            <a:off x="6314757" y="3951486"/>
            <a:ext cx="4754563" cy="1890930"/>
          </a:xfrm>
        </p:spPr>
      </p:pic>
      <p:sp>
        <p:nvSpPr>
          <p:cNvPr id="7" name="Footer Placeholder 6">
            <a:extLst>
              <a:ext uri="{FF2B5EF4-FFF2-40B4-BE49-F238E27FC236}">
                <a16:creationId xmlns:a16="http://schemas.microsoft.com/office/drawing/2014/main" id="{8876507E-FDAD-0D43-1A5D-7B4B150343F8}"/>
              </a:ext>
            </a:extLst>
          </p:cNvPr>
          <p:cNvSpPr>
            <a:spLocks noGrp="1"/>
          </p:cNvSpPr>
          <p:nvPr>
            <p:ph type="ftr" sz="quarter" idx="11"/>
          </p:nvPr>
        </p:nvSpPr>
        <p:spPr/>
        <p:txBody>
          <a:bodyPr/>
          <a:lstStyle/>
          <a:p>
            <a:r>
              <a:rPr lang="en-US" sz="1600" dirty="0"/>
              <a:t>Information Hiding, Shiraz university of technology</a:t>
            </a:r>
          </a:p>
        </p:txBody>
      </p:sp>
      <p:sp>
        <p:nvSpPr>
          <p:cNvPr id="8" name="Slide Number Placeholder 7">
            <a:extLst>
              <a:ext uri="{FF2B5EF4-FFF2-40B4-BE49-F238E27FC236}">
                <a16:creationId xmlns:a16="http://schemas.microsoft.com/office/drawing/2014/main" id="{ADC35176-E27B-8E38-4896-98DCCEB97A75}"/>
              </a:ext>
            </a:extLst>
          </p:cNvPr>
          <p:cNvSpPr>
            <a:spLocks noGrp="1"/>
          </p:cNvSpPr>
          <p:nvPr>
            <p:ph type="sldNum" sz="quarter" idx="12"/>
          </p:nvPr>
        </p:nvSpPr>
        <p:spPr/>
        <p:txBody>
          <a:bodyPr/>
          <a:lstStyle/>
          <a:p>
            <a:fld id="{382B47E1-F59F-47B3-8D16-B2A0740F319A}" type="slidenum">
              <a:rPr lang="en-US" sz="1600" smtClean="0"/>
              <a:t>21</a:t>
            </a:fld>
            <a:endParaRPr lang="en-US" dirty="0"/>
          </a:p>
        </p:txBody>
      </p:sp>
      <mc:AlternateContent xmlns:mc="http://schemas.openxmlformats.org/markup-compatibility/2006" xmlns:a14="http://schemas.microsoft.com/office/drawing/2010/main">
        <mc:Choice Requires="a14">
          <p:sp>
            <p:nvSpPr>
              <p:cNvPr id="13" name="Text Placeholder 4">
                <a:extLst>
                  <a:ext uri="{FF2B5EF4-FFF2-40B4-BE49-F238E27FC236}">
                    <a16:creationId xmlns:a16="http://schemas.microsoft.com/office/drawing/2014/main" id="{7F4FD9A5-741A-17DA-655F-A35CDC538E87}"/>
                  </a:ext>
                </a:extLst>
              </p:cNvPr>
              <p:cNvSpPr txBox="1">
                <a:spLocks/>
              </p:cNvSpPr>
              <p:nvPr/>
            </p:nvSpPr>
            <p:spPr>
              <a:xfrm>
                <a:off x="6209284" y="2991914"/>
                <a:ext cx="5072698" cy="822960"/>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accent1"/>
                  </a:buClr>
                  <a:buSzPct val="100000"/>
                  <a:buFont typeface="Tw Cen MT" panose="020B0602020104020603" pitchFamily="34" charset="0"/>
                  <a:buNone/>
                  <a:defRPr lang="en-US" sz="2300" b="0" kern="1200" cap="none" baseline="0" dirty="0">
                    <a:solidFill>
                      <a:schemeClr val="accent1"/>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9pPr>
              </a:lstStyle>
              <a:p>
                <a:pPr algn="ctr"/>
                <a:r>
                  <a:rPr lang="en-US" dirty="0">
                    <a:solidFill>
                      <a:srgbClr val="000000"/>
                    </a:solidFill>
                  </a:rPr>
                  <a:t> Fourier</a:t>
                </a:r>
              </a:p>
              <a:p>
                <a:pPr algn="ctr"/>
                <a:r>
                  <a:rPr lang="en-US" dirty="0">
                    <a:solidFill>
                      <a:srgbClr val="000000"/>
                    </a:solidFill>
                  </a:rPr>
                  <a:t>Transform </a:t>
                </a:r>
                <a14:m>
                  <m:oMath xmlns:m="http://schemas.openxmlformats.org/officeDocument/2006/math">
                    <m:r>
                      <a:rPr lang="en-US" b="0" i="1" dirty="0" smtClean="0">
                        <a:solidFill>
                          <a:srgbClr val="000000"/>
                        </a:solidFill>
                        <a:latin typeface="Cambria Math" panose="02040503050406030204" pitchFamily="18" charset="0"/>
                      </a:rPr>
                      <m:t> </m:t>
                    </m:r>
                    <m:acc>
                      <m:accPr>
                        <m:chr m:val="̂"/>
                        <m:ctrlPr>
                          <a:rPr lang="en-US" b="0" i="1" dirty="0" smtClean="0">
                            <a:solidFill>
                              <a:srgbClr val="000000"/>
                            </a:solidFill>
                            <a:latin typeface="Cambria Math" panose="02040503050406030204" pitchFamily="18" charset="0"/>
                          </a:rPr>
                        </m:ctrlPr>
                      </m:accPr>
                      <m:e>
                        <m:r>
                          <a:rPr lang="en-US" b="0" i="1" dirty="0" smtClean="0">
                            <a:solidFill>
                              <a:srgbClr val="000000"/>
                            </a:solidFill>
                            <a:latin typeface="Cambria Math" panose="02040503050406030204" pitchFamily="18" charset="0"/>
                          </a:rPr>
                          <m:t>𝑓</m:t>
                        </m:r>
                      </m:e>
                    </m:acc>
                    <m:r>
                      <a:rPr lang="en-US" i="1" dirty="0" smtClean="0">
                        <a:solidFill>
                          <a:srgbClr val="000000"/>
                        </a:solidFill>
                        <a:latin typeface="Cambria Math" panose="02040503050406030204" pitchFamily="18" charset="0"/>
                      </a:rPr>
                      <m:t>(</m:t>
                    </m:r>
                    <m:r>
                      <a:rPr lang="el-GR" i="1" dirty="0" smtClean="0">
                        <a:solidFill>
                          <a:srgbClr val="000000"/>
                        </a:solidFill>
                        <a:latin typeface="Cambria Math" panose="02040503050406030204" pitchFamily="18" charset="0"/>
                      </a:rPr>
                      <m:t>𝜈</m:t>
                    </m:r>
                    <m:r>
                      <a:rPr lang="el-GR" i="1" dirty="0" smtClean="0">
                        <a:solidFill>
                          <a:srgbClr val="000000"/>
                        </a:solidFill>
                        <a:latin typeface="Cambria Math" panose="02040503050406030204" pitchFamily="18" charset="0"/>
                      </a:rPr>
                      <m:t>)</m:t>
                    </m:r>
                  </m:oMath>
                </a14:m>
                <a:endParaRPr lang="en-US" dirty="0">
                  <a:solidFill>
                    <a:srgbClr val="000000"/>
                  </a:solidFill>
                </a:endParaRPr>
              </a:p>
            </p:txBody>
          </p:sp>
        </mc:Choice>
        <mc:Fallback xmlns="">
          <p:sp>
            <p:nvSpPr>
              <p:cNvPr id="13" name="Text Placeholder 4">
                <a:extLst>
                  <a:ext uri="{FF2B5EF4-FFF2-40B4-BE49-F238E27FC236}">
                    <a16:creationId xmlns:a16="http://schemas.microsoft.com/office/drawing/2014/main" id="{7F4FD9A5-741A-17DA-655F-A35CDC538E87}"/>
                  </a:ext>
                </a:extLst>
              </p:cNvPr>
              <p:cNvSpPr txBox="1">
                <a:spLocks noRot="1" noChangeAspect="1" noMove="1" noResize="1" noEditPoints="1" noAdjustHandles="1" noChangeArrowheads="1" noChangeShapeType="1" noTextEdit="1"/>
              </p:cNvSpPr>
              <p:nvPr/>
            </p:nvSpPr>
            <p:spPr>
              <a:xfrm>
                <a:off x="6209284" y="2991914"/>
                <a:ext cx="5072698" cy="822960"/>
              </a:xfrm>
              <a:prstGeom prst="rect">
                <a:avLst/>
              </a:prstGeom>
              <a:blipFill>
                <a:blip r:embed="rId4"/>
                <a:stretch>
                  <a:fillRect t="-5926" b="-11111"/>
                </a:stretch>
              </a:blipFill>
            </p:spPr>
            <p:txBody>
              <a:bodyPr/>
              <a:lstStyle/>
              <a:p>
                <a:r>
                  <a:rPr lang="en-US">
                    <a:noFill/>
                  </a:rPr>
                  <a:t> </a:t>
                </a:r>
              </a:p>
            </p:txBody>
          </p:sp>
        </mc:Fallback>
      </mc:AlternateContent>
    </p:spTree>
    <p:extLst>
      <p:ext uri="{BB962C8B-B14F-4D97-AF65-F5344CB8AC3E}">
        <p14:creationId xmlns:p14="http://schemas.microsoft.com/office/powerpoint/2010/main" val="2987293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03E63-A198-F42B-DABC-C27FE00AC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81E0C4-E5CD-2CDC-7B41-B561113E68C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 – Another example to clarify</a:t>
            </a:r>
            <a:endParaRPr lang="en-US" dirty="0"/>
          </a:p>
        </p:txBody>
      </p:sp>
      <p:sp>
        <p:nvSpPr>
          <p:cNvPr id="3" name="Text Placeholder 2">
            <a:extLst>
              <a:ext uri="{FF2B5EF4-FFF2-40B4-BE49-F238E27FC236}">
                <a16:creationId xmlns:a16="http://schemas.microsoft.com/office/drawing/2014/main" id="{B9D59B52-C59A-3B07-01D4-ED3DF1A9A40D}"/>
              </a:ext>
            </a:extLst>
          </p:cNvPr>
          <p:cNvSpPr>
            <a:spLocks noGrp="1"/>
          </p:cNvSpPr>
          <p:nvPr>
            <p:ph type="body" idx="1"/>
          </p:nvPr>
        </p:nvSpPr>
        <p:spPr>
          <a:xfrm>
            <a:off x="744128" y="1785750"/>
            <a:ext cx="6809232" cy="822960"/>
          </a:xfrm>
        </p:spPr>
        <p:txBody>
          <a:bodyPr/>
          <a:lstStyle/>
          <a:p>
            <a:r>
              <a:rPr lang="en-US" b="1" dirty="0">
                <a:solidFill>
                  <a:srgbClr val="000000"/>
                </a:solidFill>
              </a:rPr>
              <a:t>Example: Two musical notes played simultaneously</a:t>
            </a:r>
          </a:p>
        </p:txBody>
      </p:sp>
      <p:pic>
        <p:nvPicPr>
          <p:cNvPr id="10" name="Content Placeholder 9">
            <a:extLst>
              <a:ext uri="{FF2B5EF4-FFF2-40B4-BE49-F238E27FC236}">
                <a16:creationId xmlns:a16="http://schemas.microsoft.com/office/drawing/2014/main" id="{5902A04A-50A7-4597-0148-92EE817166F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651949" y="3949175"/>
            <a:ext cx="5508939" cy="2416702"/>
          </a:xfrm>
        </p:spPr>
      </p:pic>
      <p:pic>
        <p:nvPicPr>
          <p:cNvPr id="12" name="Content Placeholder 11">
            <a:extLst>
              <a:ext uri="{FF2B5EF4-FFF2-40B4-BE49-F238E27FC236}">
                <a16:creationId xmlns:a16="http://schemas.microsoft.com/office/drawing/2014/main" id="{F74BA684-1449-6148-B7BA-4C3ECB70284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rcRect/>
          <a:stretch/>
        </p:blipFill>
        <p:spPr>
          <a:xfrm>
            <a:off x="6216258" y="3951708"/>
            <a:ext cx="5836124" cy="2321076"/>
          </a:xfrm>
        </p:spPr>
      </p:pic>
      <p:sp>
        <p:nvSpPr>
          <p:cNvPr id="7" name="Footer Placeholder 6">
            <a:extLst>
              <a:ext uri="{FF2B5EF4-FFF2-40B4-BE49-F238E27FC236}">
                <a16:creationId xmlns:a16="http://schemas.microsoft.com/office/drawing/2014/main" id="{6251D043-83E3-EFC4-3FE4-AE9CEB022C66}"/>
              </a:ext>
            </a:extLst>
          </p:cNvPr>
          <p:cNvSpPr>
            <a:spLocks noGrp="1"/>
          </p:cNvSpPr>
          <p:nvPr>
            <p:ph type="ftr" sz="quarter" idx="11"/>
          </p:nvPr>
        </p:nvSpPr>
        <p:spPr/>
        <p:txBody>
          <a:bodyPr/>
          <a:lstStyle/>
          <a:p>
            <a:r>
              <a:rPr lang="en-US" sz="1600" dirty="0"/>
              <a:t>Information Hiding, Shiraz university of technology</a:t>
            </a:r>
          </a:p>
        </p:txBody>
      </p:sp>
      <p:sp>
        <p:nvSpPr>
          <p:cNvPr id="8" name="Slide Number Placeholder 7">
            <a:extLst>
              <a:ext uri="{FF2B5EF4-FFF2-40B4-BE49-F238E27FC236}">
                <a16:creationId xmlns:a16="http://schemas.microsoft.com/office/drawing/2014/main" id="{122E5CDC-E8EB-DF5C-CD01-7B64DFB3D78B}"/>
              </a:ext>
            </a:extLst>
          </p:cNvPr>
          <p:cNvSpPr>
            <a:spLocks noGrp="1"/>
          </p:cNvSpPr>
          <p:nvPr>
            <p:ph type="sldNum" sz="quarter" idx="12"/>
          </p:nvPr>
        </p:nvSpPr>
        <p:spPr/>
        <p:txBody>
          <a:bodyPr/>
          <a:lstStyle/>
          <a:p>
            <a:fld id="{382B47E1-F59F-47B3-8D16-B2A0740F319A}" type="slidenum">
              <a:rPr lang="en-US" sz="1600" smtClean="0"/>
              <a:t>22</a:t>
            </a:fld>
            <a:endParaRPr lang="en-US" dirty="0"/>
          </a:p>
        </p:txBody>
      </p:sp>
      <mc:AlternateContent xmlns:mc="http://schemas.openxmlformats.org/markup-compatibility/2006" xmlns:a14="http://schemas.microsoft.com/office/drawing/2010/main">
        <mc:Choice Requires="a14">
          <p:sp>
            <p:nvSpPr>
              <p:cNvPr id="13" name="Text Placeholder 4">
                <a:extLst>
                  <a:ext uri="{FF2B5EF4-FFF2-40B4-BE49-F238E27FC236}">
                    <a16:creationId xmlns:a16="http://schemas.microsoft.com/office/drawing/2014/main" id="{959C9AA0-FAE4-ABD7-F781-7099C2CCDEA0}"/>
                  </a:ext>
                </a:extLst>
              </p:cNvPr>
              <p:cNvSpPr txBox="1">
                <a:spLocks/>
              </p:cNvSpPr>
              <p:nvPr/>
            </p:nvSpPr>
            <p:spPr>
              <a:xfrm>
                <a:off x="6643807" y="3128893"/>
                <a:ext cx="5072698" cy="822960"/>
              </a:xfrm>
              <a:prstGeom prst="rect">
                <a:avLst/>
              </a:prstGeom>
            </p:spPr>
            <p:txBody>
              <a:bodyPr vert="horz" lIns="137160" tIns="45720" rIns="137160" bIns="45720" rtlCol="0" anchor="ctr">
                <a:normAutofit/>
              </a:bodyPr>
              <a:lstStyle>
                <a:lvl1pPr marL="0" indent="0" algn="l" defTabSz="914400" rtl="0" eaLnBrk="1" latinLnBrk="0" hangingPunct="1">
                  <a:lnSpc>
                    <a:spcPct val="90000"/>
                  </a:lnSpc>
                  <a:spcBef>
                    <a:spcPts val="0"/>
                  </a:spcBef>
                  <a:spcAft>
                    <a:spcPts val="0"/>
                  </a:spcAft>
                  <a:buClr>
                    <a:schemeClr val="accent1"/>
                  </a:buClr>
                  <a:buSzPct val="100000"/>
                  <a:buFont typeface="Tw Cen MT" panose="020B0602020104020603" pitchFamily="34" charset="0"/>
                  <a:buNone/>
                  <a:defRPr lang="en-US" sz="2300" b="0" kern="1200" cap="none" baseline="0" dirty="0">
                    <a:solidFill>
                      <a:schemeClr val="accent1"/>
                    </a:solidFill>
                    <a:latin typeface="+mn-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Wingdings 3" pitchFamily="18" charset="2"/>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Wingdings 3" pitchFamily="18" charset="2"/>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Wingdings 3" pitchFamily="18" charset="2"/>
                  <a:buNone/>
                  <a:defRPr sz="1600" b="1" kern="1200">
                    <a:solidFill>
                      <a:schemeClr val="tx1"/>
                    </a:solidFill>
                    <a:latin typeface="+mn-lt"/>
                    <a:ea typeface="+mn-ea"/>
                    <a:cs typeface="+mn-cs"/>
                  </a:defRPr>
                </a:lvl9pPr>
              </a:lstStyle>
              <a:p>
                <a:pPr algn="ctr"/>
                <a:r>
                  <a:rPr lang="en-US" dirty="0">
                    <a:solidFill>
                      <a:srgbClr val="000000"/>
                    </a:solidFill>
                  </a:rPr>
                  <a:t> Fourier</a:t>
                </a:r>
              </a:p>
              <a:p>
                <a:pPr algn="ctr"/>
                <a:r>
                  <a:rPr lang="en-US" dirty="0">
                    <a:solidFill>
                      <a:srgbClr val="000000"/>
                    </a:solidFill>
                  </a:rPr>
                  <a:t>Transform </a:t>
                </a:r>
                <a14:m>
                  <m:oMath xmlns:m="http://schemas.openxmlformats.org/officeDocument/2006/math">
                    <m:r>
                      <a:rPr lang="en-US" b="0" i="1" dirty="0" smtClean="0">
                        <a:solidFill>
                          <a:srgbClr val="000000"/>
                        </a:solidFill>
                        <a:latin typeface="Cambria Math" panose="02040503050406030204" pitchFamily="18" charset="0"/>
                      </a:rPr>
                      <m:t> </m:t>
                    </m:r>
                    <m:acc>
                      <m:accPr>
                        <m:chr m:val="̂"/>
                        <m:ctrlPr>
                          <a:rPr lang="en-US" b="0" i="1" dirty="0" smtClean="0">
                            <a:solidFill>
                              <a:srgbClr val="000000"/>
                            </a:solidFill>
                            <a:latin typeface="Cambria Math" panose="02040503050406030204" pitchFamily="18" charset="0"/>
                          </a:rPr>
                        </m:ctrlPr>
                      </m:accPr>
                      <m:e>
                        <m:r>
                          <a:rPr lang="en-US" b="0" i="1" dirty="0" smtClean="0">
                            <a:solidFill>
                              <a:srgbClr val="000000"/>
                            </a:solidFill>
                            <a:latin typeface="Cambria Math" panose="02040503050406030204" pitchFamily="18" charset="0"/>
                          </a:rPr>
                          <m:t>𝑓</m:t>
                        </m:r>
                      </m:e>
                    </m:acc>
                    <m:r>
                      <a:rPr lang="en-US" i="1" dirty="0" smtClean="0">
                        <a:solidFill>
                          <a:srgbClr val="000000"/>
                        </a:solidFill>
                        <a:latin typeface="Cambria Math" panose="02040503050406030204" pitchFamily="18" charset="0"/>
                      </a:rPr>
                      <m:t>(</m:t>
                    </m:r>
                    <m:r>
                      <a:rPr lang="el-GR" i="1" dirty="0" smtClean="0">
                        <a:solidFill>
                          <a:srgbClr val="000000"/>
                        </a:solidFill>
                        <a:latin typeface="Cambria Math" panose="02040503050406030204" pitchFamily="18" charset="0"/>
                      </a:rPr>
                      <m:t>𝜈</m:t>
                    </m:r>
                    <m:r>
                      <a:rPr lang="el-GR" i="1" dirty="0" smtClean="0">
                        <a:solidFill>
                          <a:srgbClr val="000000"/>
                        </a:solidFill>
                        <a:latin typeface="Cambria Math" panose="02040503050406030204" pitchFamily="18" charset="0"/>
                      </a:rPr>
                      <m:t>)</m:t>
                    </m:r>
                  </m:oMath>
                </a14:m>
                <a:endParaRPr lang="en-US" dirty="0">
                  <a:solidFill>
                    <a:srgbClr val="000000"/>
                  </a:solidFill>
                </a:endParaRPr>
              </a:p>
            </p:txBody>
          </p:sp>
        </mc:Choice>
        <mc:Fallback xmlns="">
          <p:sp>
            <p:nvSpPr>
              <p:cNvPr id="13" name="Text Placeholder 4">
                <a:extLst>
                  <a:ext uri="{FF2B5EF4-FFF2-40B4-BE49-F238E27FC236}">
                    <a16:creationId xmlns:a16="http://schemas.microsoft.com/office/drawing/2014/main" id="{959C9AA0-FAE4-ABD7-F781-7099C2CCDEA0}"/>
                  </a:ext>
                </a:extLst>
              </p:cNvPr>
              <p:cNvSpPr txBox="1">
                <a:spLocks noRot="1" noChangeAspect="1" noMove="1" noResize="1" noEditPoints="1" noAdjustHandles="1" noChangeArrowheads="1" noChangeShapeType="1" noTextEdit="1"/>
              </p:cNvSpPr>
              <p:nvPr/>
            </p:nvSpPr>
            <p:spPr>
              <a:xfrm>
                <a:off x="6643807" y="3128893"/>
                <a:ext cx="5072698" cy="822960"/>
              </a:xfrm>
              <a:prstGeom prst="rect">
                <a:avLst/>
              </a:prstGeom>
              <a:blipFill>
                <a:blip r:embed="rId4"/>
                <a:stretch>
                  <a:fillRect t="-5185" b="-11111"/>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AA01FF17-D72E-CC38-8B00-ED99DFDB0309}"/>
              </a:ext>
            </a:extLst>
          </p:cNvPr>
          <p:cNvSpPr txBox="1"/>
          <p:nvPr/>
        </p:nvSpPr>
        <p:spPr>
          <a:xfrm>
            <a:off x="1024128" y="2486816"/>
            <a:ext cx="9720072" cy="707886"/>
          </a:xfrm>
          <a:prstGeom prst="rect">
            <a:avLst/>
          </a:prstGeom>
          <a:noFill/>
        </p:spPr>
        <p:txBody>
          <a:bodyPr wrap="square" rtlCol="0">
            <a:spAutoFit/>
          </a:bodyPr>
          <a:lstStyle/>
          <a:p>
            <a:r>
              <a:rPr lang="en-US" sz="2000" b="1" dirty="0"/>
              <a:t>The frequency analysis does not provide information about transient phenomena in the signal, leading to a </a:t>
            </a:r>
            <a:r>
              <a:rPr lang="en-US" sz="2000" b="1" dirty="0">
                <a:solidFill>
                  <a:srgbClr val="FF0000"/>
                </a:solidFill>
              </a:rPr>
              <a:t>loss of temporal localization.</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8304A8F-3554-8571-2D7E-77FC68567B19}"/>
                  </a:ext>
                </a:extLst>
              </p:cNvPr>
              <p:cNvSpPr txBox="1"/>
              <p:nvPr/>
            </p:nvSpPr>
            <p:spPr>
              <a:xfrm>
                <a:off x="334032" y="3520855"/>
                <a:ext cx="6096000" cy="369332"/>
              </a:xfrm>
              <a:prstGeom prst="rect">
                <a:avLst/>
              </a:prstGeom>
              <a:noFill/>
            </p:spPr>
            <p:txBody>
              <a:bodyPr wrap="square">
                <a:spAutoFit/>
              </a:bodyPr>
              <a:lstStyle/>
              <a:p>
                <a:pPr algn="ctr"/>
                <a:r>
                  <a:rPr lang="en-US" dirty="0">
                    <a:solidFill>
                      <a:srgbClr val="000000"/>
                    </a:solidFill>
                  </a:rPr>
                  <a:t>Signal f (x ) </a:t>
                </a:r>
                <a14:m>
                  <m:oMath xmlns:m="http://schemas.openxmlformats.org/officeDocument/2006/math">
                    <m:r>
                      <a:rPr lang="en-US" i="1" smtClean="0">
                        <a:solidFill>
                          <a:srgbClr val="000000"/>
                        </a:solidFill>
                        <a:latin typeface="Cambria Math" panose="02040503050406030204" pitchFamily="18" charset="0"/>
                        <a:ea typeface="Cambria Math" panose="02040503050406030204" pitchFamily="18" charset="0"/>
                      </a:rPr>
                      <m:t>≠</m:t>
                    </m:r>
                  </m:oMath>
                </a14:m>
                <a:r>
                  <a:rPr lang="en-US" dirty="0">
                    <a:solidFill>
                      <a:srgbClr val="000000"/>
                    </a:solidFill>
                  </a:rPr>
                  <a:t> sin(40</a:t>
                </a:r>
                <a:r>
                  <a:rPr lang="el-GR" dirty="0">
                    <a:solidFill>
                      <a:srgbClr val="000000"/>
                    </a:solidFill>
                  </a:rPr>
                  <a:t>π</a:t>
                </a:r>
                <a:r>
                  <a:rPr lang="en-US" dirty="0">
                    <a:solidFill>
                      <a:srgbClr val="000000"/>
                    </a:solidFill>
                  </a:rPr>
                  <a:t>x ) + sin(170</a:t>
                </a:r>
                <a:r>
                  <a:rPr lang="el-GR" dirty="0">
                    <a:solidFill>
                      <a:srgbClr val="000000"/>
                    </a:solidFill>
                  </a:rPr>
                  <a:t>π</a:t>
                </a:r>
                <a:r>
                  <a:rPr lang="en-US" dirty="0">
                    <a:solidFill>
                      <a:srgbClr val="000000"/>
                    </a:solidFill>
                  </a:rPr>
                  <a:t>x ) </a:t>
                </a:r>
              </a:p>
            </p:txBody>
          </p:sp>
        </mc:Choice>
        <mc:Fallback xmlns="">
          <p:sp>
            <p:nvSpPr>
              <p:cNvPr id="18" name="TextBox 17">
                <a:extLst>
                  <a:ext uri="{FF2B5EF4-FFF2-40B4-BE49-F238E27FC236}">
                    <a16:creationId xmlns:a16="http://schemas.microsoft.com/office/drawing/2014/main" id="{A8304A8F-3554-8571-2D7E-77FC68567B19}"/>
                  </a:ext>
                </a:extLst>
              </p:cNvPr>
              <p:cNvSpPr txBox="1">
                <a:spLocks noRot="1" noChangeAspect="1" noMove="1" noResize="1" noEditPoints="1" noAdjustHandles="1" noChangeArrowheads="1" noChangeShapeType="1" noTextEdit="1"/>
              </p:cNvSpPr>
              <p:nvPr/>
            </p:nvSpPr>
            <p:spPr>
              <a:xfrm>
                <a:off x="334032" y="3520855"/>
                <a:ext cx="6096000" cy="369332"/>
              </a:xfrm>
              <a:prstGeom prst="rect">
                <a:avLst/>
              </a:prstGeom>
              <a:blipFill>
                <a:blip r:embed="rId5"/>
                <a:stretch>
                  <a:fillRect t="-10000" b="-26667"/>
                </a:stretch>
              </a:blipFill>
            </p:spPr>
            <p:txBody>
              <a:bodyPr/>
              <a:lstStyle/>
              <a:p>
                <a:r>
                  <a:rPr lang="en-US">
                    <a:noFill/>
                  </a:rPr>
                  <a:t> </a:t>
                </a:r>
              </a:p>
            </p:txBody>
          </p:sp>
        </mc:Fallback>
      </mc:AlternateContent>
    </p:spTree>
    <p:extLst>
      <p:ext uri="{BB962C8B-B14F-4D97-AF65-F5344CB8AC3E}">
        <p14:creationId xmlns:p14="http://schemas.microsoft.com/office/powerpoint/2010/main" val="23486743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612B3C9F-ECD6-8633-5EAC-C2300067E03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899920" y="1791689"/>
            <a:ext cx="8023879" cy="4588792"/>
          </a:xfrm>
        </p:spPr>
      </p:pic>
      <p:sp>
        <p:nvSpPr>
          <p:cNvPr id="2" name="Title 1">
            <a:extLst>
              <a:ext uri="{FF2B5EF4-FFF2-40B4-BE49-F238E27FC236}">
                <a16:creationId xmlns:a16="http://schemas.microsoft.com/office/drawing/2014/main" id="{3FCE73D5-035C-0D1A-E5D4-19CDCB511A60}"/>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 – more example to clarify</a:t>
            </a:r>
            <a:endParaRPr lang="en-US" dirty="0"/>
          </a:p>
        </p:txBody>
      </p:sp>
      <p:sp>
        <p:nvSpPr>
          <p:cNvPr id="4" name="Footer Placeholder 3">
            <a:extLst>
              <a:ext uri="{FF2B5EF4-FFF2-40B4-BE49-F238E27FC236}">
                <a16:creationId xmlns:a16="http://schemas.microsoft.com/office/drawing/2014/main" id="{92E29BB5-990A-B8F2-37F5-F49564EACEC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4A2B91A-6F53-DE9C-B4A4-62FE1788CCF9}"/>
              </a:ext>
            </a:extLst>
          </p:cNvPr>
          <p:cNvSpPr>
            <a:spLocks noGrp="1"/>
          </p:cNvSpPr>
          <p:nvPr>
            <p:ph type="sldNum" sz="quarter" idx="12"/>
          </p:nvPr>
        </p:nvSpPr>
        <p:spPr/>
        <p:txBody>
          <a:bodyPr/>
          <a:lstStyle/>
          <a:p>
            <a:fld id="{382B47E1-F59F-47B3-8D16-B2A0740F319A}" type="slidenum">
              <a:rPr lang="en-US" smtClean="0"/>
              <a:pPr/>
              <a:t>23</a:t>
            </a:fld>
            <a:endParaRPr lang="en-US" dirty="0"/>
          </a:p>
        </p:txBody>
      </p:sp>
    </p:spTree>
    <p:extLst>
      <p:ext uri="{BB962C8B-B14F-4D97-AF65-F5344CB8AC3E}">
        <p14:creationId xmlns:p14="http://schemas.microsoft.com/office/powerpoint/2010/main" val="3851569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6D10F7-98E1-2EF9-AFA7-FF7C9A4EFDAE}"/>
              </a:ext>
            </a:extLst>
          </p:cNvPr>
          <p:cNvSpPr>
            <a:spLocks noGrp="1"/>
          </p:cNvSpPr>
          <p:nvPr>
            <p:ph type="ftr" sz="quarter" idx="11"/>
          </p:nvPr>
        </p:nvSpPr>
        <p:spPr/>
        <p:txBody>
          <a:bodyPr/>
          <a:lstStyle/>
          <a:p>
            <a:r>
              <a:rPr lang="en-US" sz="1600" dirty="0"/>
              <a:t>Information Hiding, Shiraz university of technology</a:t>
            </a:r>
          </a:p>
        </p:txBody>
      </p:sp>
      <p:sp>
        <p:nvSpPr>
          <p:cNvPr id="3" name="Slide Number Placeholder 2">
            <a:extLst>
              <a:ext uri="{FF2B5EF4-FFF2-40B4-BE49-F238E27FC236}">
                <a16:creationId xmlns:a16="http://schemas.microsoft.com/office/drawing/2014/main" id="{ABB4B228-3783-8D6C-5EB5-751DB9D8A710}"/>
              </a:ext>
            </a:extLst>
          </p:cNvPr>
          <p:cNvSpPr>
            <a:spLocks noGrp="1"/>
          </p:cNvSpPr>
          <p:nvPr>
            <p:ph type="sldNum" sz="quarter" idx="12"/>
          </p:nvPr>
        </p:nvSpPr>
        <p:spPr/>
        <p:txBody>
          <a:bodyPr/>
          <a:lstStyle/>
          <a:p>
            <a:fld id="{382B47E1-F59F-47B3-8D16-B2A0740F319A}" type="slidenum">
              <a:rPr lang="en-US" sz="1600" smtClean="0"/>
              <a:t>24</a:t>
            </a:fld>
            <a:endParaRPr lang="en-US" sz="1600" dirty="0"/>
          </a:p>
        </p:txBody>
      </p:sp>
      <p:pic>
        <p:nvPicPr>
          <p:cNvPr id="5" name="Picture 4">
            <a:extLst>
              <a:ext uri="{FF2B5EF4-FFF2-40B4-BE49-F238E27FC236}">
                <a16:creationId xmlns:a16="http://schemas.microsoft.com/office/drawing/2014/main" id="{98DC2FD2-5FE5-431F-6BA8-435247C4456C}"/>
              </a:ext>
            </a:extLst>
          </p:cNvPr>
          <p:cNvPicPr>
            <a:picLocks noChangeAspect="1"/>
          </p:cNvPicPr>
          <p:nvPr/>
        </p:nvPicPr>
        <p:blipFill>
          <a:blip r:embed="rId2"/>
          <a:stretch>
            <a:fillRect/>
          </a:stretch>
        </p:blipFill>
        <p:spPr>
          <a:xfrm>
            <a:off x="2247977" y="364352"/>
            <a:ext cx="7696045" cy="5724067"/>
          </a:xfrm>
          <a:prstGeom prst="rect">
            <a:avLst/>
          </a:prstGeom>
        </p:spPr>
      </p:pic>
    </p:spTree>
    <p:extLst>
      <p:ext uri="{BB962C8B-B14F-4D97-AF65-F5344CB8AC3E}">
        <p14:creationId xmlns:p14="http://schemas.microsoft.com/office/powerpoint/2010/main" val="3560458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75BAD-CAE5-E4F0-CC9B-0017942DB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F49C8-4C13-5D72-09AC-F9CA791CFEB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BE2B57-8762-DCEB-BFDF-085BFB994F51}"/>
                  </a:ext>
                </a:extLst>
              </p:cNvPr>
              <p:cNvSpPr>
                <a:spLocks noGrp="1"/>
              </p:cNvSpPr>
              <p:nvPr>
                <p:ph idx="1"/>
              </p:nvPr>
            </p:nvSpPr>
            <p:spPr/>
            <p:txBody>
              <a:bodyPr/>
              <a:lstStyle/>
              <a:p>
                <a:pPr>
                  <a:buFont typeface="Wingdings" panose="05000000000000000000" pitchFamily="2" charset="2"/>
                  <a:buChar char="q"/>
                </a:pPr>
                <a:r>
                  <a:rPr lang="en-US" dirty="0">
                    <a:solidFill>
                      <a:srgbClr val="000000"/>
                    </a:solidFill>
                  </a:rPr>
                  <a:t> 2) </a:t>
                </a:r>
                <a:r>
                  <a:rPr lang="en-US" b="1" dirty="0">
                    <a:solidFill>
                      <a:srgbClr val="000000"/>
                    </a:solidFill>
                  </a:rPr>
                  <a:t>The Fourier transform is very sensitive to changes in the function</a:t>
                </a:r>
                <a:r>
                  <a:rPr lang="en-US" dirty="0">
                    <a:solidFill>
                      <a:srgbClr val="000000"/>
                    </a:solidFill>
                  </a:rPr>
                  <a:t>. </a:t>
                </a:r>
              </a:p>
              <a:p>
                <a:pPr lvl="1">
                  <a:buFont typeface="Wingdings" panose="05000000000000000000" pitchFamily="2" charset="2"/>
                  <a:buChar char="§"/>
                </a:pPr>
                <a:r>
                  <a:rPr lang="en-US" dirty="0">
                    <a:solidFill>
                      <a:srgbClr val="000000"/>
                    </a:solidFill>
                  </a:rPr>
                  <a:t> </a:t>
                </a:r>
                <a:r>
                  <a:rPr lang="en-US" sz="2000" dirty="0">
                    <a:solidFill>
                      <a:srgbClr val="000000"/>
                    </a:solidFill>
                  </a:rPr>
                  <a:t>In view of the previous example, a change of O(</a:t>
                </a:r>
                <a14:m>
                  <m:oMath xmlns:m="http://schemas.openxmlformats.org/officeDocument/2006/math">
                    <m:r>
                      <a:rPr lang="en-US" sz="2000" i="1" smtClean="0">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rPr>
                  <a:t>) in one point of a discrete function can cause as much as O(</a:t>
                </a:r>
                <a14:m>
                  <m:oMath xmlns:m="http://schemas.openxmlformats.org/officeDocument/2006/math">
                    <m:r>
                      <a:rPr lang="en-US" sz="2000" i="1">
                        <a:solidFill>
                          <a:srgbClr val="000000"/>
                        </a:solidFill>
                        <a:latin typeface="Cambria Math" panose="02040503050406030204" pitchFamily="18" charset="0"/>
                        <a:ea typeface="Cambria Math" panose="02040503050406030204" pitchFamily="18" charset="0"/>
                      </a:rPr>
                      <m:t>∈</m:t>
                    </m:r>
                  </m:oMath>
                </a14:m>
                <a:r>
                  <a:rPr lang="en-US" sz="2000" dirty="0">
                    <a:solidFill>
                      <a:srgbClr val="000000"/>
                    </a:solidFill>
                  </a:rPr>
                  <a:t>) change in every Fourier coefficient. Similarly, a change in any one Fourier coefficient can cause a change of similar magnitude at every point in physical space.</a:t>
                </a:r>
              </a:p>
              <a:p>
                <a:pPr lvl="1">
                  <a:buFont typeface="Wingdings" panose="05000000000000000000" pitchFamily="2" charset="2"/>
                  <a:buChar char="§"/>
                </a:pPr>
                <a:endParaRPr lang="en-US" sz="2000" dirty="0">
                  <a:solidFill>
                    <a:srgbClr val="000000"/>
                  </a:solidFill>
                </a:endParaRPr>
              </a:p>
              <a:p>
                <a:pPr lvl="1">
                  <a:buFont typeface="Wingdings" panose="05000000000000000000" pitchFamily="2" charset="2"/>
                  <a:buChar char="§"/>
                </a:pPr>
                <a:r>
                  <a:rPr lang="en-US" sz="2000" b="1" dirty="0">
                    <a:solidFill>
                      <a:srgbClr val="000000"/>
                    </a:solidFill>
                  </a:rPr>
                  <a:t> </a:t>
                </a:r>
                <a:r>
                  <a:rPr lang="en-US" sz="2400" b="1" dirty="0">
                    <a:solidFill>
                      <a:srgbClr val="000000"/>
                    </a:solidFill>
                  </a:rPr>
                  <a:t>To overcome these drawbacks, we can use </a:t>
                </a:r>
                <a:r>
                  <a:rPr lang="en-US" sz="2400" b="1" i="1" dirty="0">
                    <a:solidFill>
                      <a:srgbClr val="000000"/>
                    </a:solidFill>
                  </a:rPr>
                  <a:t>Windowed Fourier Transform </a:t>
                </a:r>
                <a:r>
                  <a:rPr lang="en-US" sz="2400" b="1" dirty="0">
                    <a:solidFill>
                      <a:srgbClr val="000000"/>
                    </a:solidFill>
                  </a:rPr>
                  <a:t>!</a:t>
                </a:r>
              </a:p>
              <a:p>
                <a:pPr lvl="1">
                  <a:buFont typeface="Wingdings" panose="05000000000000000000" pitchFamily="2" charset="2"/>
                  <a:buChar char="§"/>
                </a:pPr>
                <a:r>
                  <a:rPr lang="en-US" sz="2000" b="1" dirty="0">
                    <a:solidFill>
                      <a:srgbClr val="000000"/>
                    </a:solidFill>
                  </a:rPr>
                  <a:t> </a:t>
                </a:r>
                <a:r>
                  <a:rPr lang="en-US" sz="2400" b="1" dirty="0">
                    <a:solidFill>
                      <a:srgbClr val="000000"/>
                    </a:solidFill>
                  </a:rPr>
                  <a:t>But it has its own issues … (will be discussed.)</a:t>
                </a:r>
                <a:endParaRPr lang="en-US" b="1" dirty="0"/>
              </a:p>
            </p:txBody>
          </p:sp>
        </mc:Choice>
        <mc:Fallback xmlns="">
          <p:sp>
            <p:nvSpPr>
              <p:cNvPr id="3" name="Content Placeholder 2">
                <a:extLst>
                  <a:ext uri="{FF2B5EF4-FFF2-40B4-BE49-F238E27FC236}">
                    <a16:creationId xmlns:a16="http://schemas.microsoft.com/office/drawing/2014/main" id="{2BBE2B57-8762-DCEB-BFDF-085BFB994F51}"/>
                  </a:ext>
                </a:extLst>
              </p:cNvPr>
              <p:cNvSpPr>
                <a:spLocks noGrp="1" noRot="1" noChangeAspect="1" noMove="1" noResize="1" noEditPoints="1" noAdjustHandles="1" noChangeArrowheads="1" noChangeShapeType="1" noTextEdit="1"/>
              </p:cNvSpPr>
              <p:nvPr>
                <p:ph idx="1"/>
              </p:nvPr>
            </p:nvSpPr>
            <p:spPr>
              <a:blipFill>
                <a:blip r:embed="rId2"/>
                <a:stretch>
                  <a:fillRect l="-1069" t="-181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A0C0068-ABA2-796C-A6D7-1E4074AAD00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478218D-A8BA-1044-8658-2735E6F018E3}"/>
              </a:ext>
            </a:extLst>
          </p:cNvPr>
          <p:cNvSpPr>
            <a:spLocks noGrp="1"/>
          </p:cNvSpPr>
          <p:nvPr>
            <p:ph type="sldNum" sz="quarter" idx="12"/>
          </p:nvPr>
        </p:nvSpPr>
        <p:spPr/>
        <p:txBody>
          <a:bodyPr/>
          <a:lstStyle/>
          <a:p>
            <a:fld id="{382B47E1-F59F-47B3-8D16-B2A0740F319A}" type="slidenum">
              <a:rPr lang="en-US" smtClean="0"/>
              <a:pPr/>
              <a:t>25</a:t>
            </a:fld>
            <a:endParaRPr lang="en-US" dirty="0"/>
          </a:p>
        </p:txBody>
      </p:sp>
    </p:spTree>
    <p:extLst>
      <p:ext uri="{BB962C8B-B14F-4D97-AF65-F5344CB8AC3E}">
        <p14:creationId xmlns:p14="http://schemas.microsoft.com/office/powerpoint/2010/main" val="3509466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AFF5-9A10-B616-D3F5-5BD4DC4C4DE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p:pic>
        <p:nvPicPr>
          <p:cNvPr id="7" name="Content Placeholder 6">
            <a:extLst>
              <a:ext uri="{FF2B5EF4-FFF2-40B4-BE49-F238E27FC236}">
                <a16:creationId xmlns:a16="http://schemas.microsoft.com/office/drawing/2014/main" id="{A07067F7-717E-4035-6F51-C9C42E668359}"/>
              </a:ext>
            </a:extLst>
          </p:cNvPr>
          <p:cNvPicPr>
            <a:picLocks noGrp="1" noChangeAspect="1"/>
          </p:cNvPicPr>
          <p:nvPr>
            <p:ph idx="1"/>
          </p:nvPr>
        </p:nvPicPr>
        <p:blipFill>
          <a:blip r:embed="rId2"/>
          <a:stretch>
            <a:fillRect/>
          </a:stretch>
        </p:blipFill>
        <p:spPr>
          <a:xfrm>
            <a:off x="2244560" y="2805380"/>
            <a:ext cx="7825856" cy="3655715"/>
          </a:xfrm>
        </p:spPr>
      </p:pic>
      <p:sp>
        <p:nvSpPr>
          <p:cNvPr id="4" name="Footer Placeholder 3">
            <a:extLst>
              <a:ext uri="{FF2B5EF4-FFF2-40B4-BE49-F238E27FC236}">
                <a16:creationId xmlns:a16="http://schemas.microsoft.com/office/drawing/2014/main" id="{89122521-7CFB-652A-B5F9-DAF59E286D1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8CFBD6F-A99C-579D-CC72-F1403499693F}"/>
              </a:ext>
            </a:extLst>
          </p:cNvPr>
          <p:cNvSpPr>
            <a:spLocks noGrp="1"/>
          </p:cNvSpPr>
          <p:nvPr>
            <p:ph type="sldNum" sz="quarter" idx="12"/>
          </p:nvPr>
        </p:nvSpPr>
        <p:spPr/>
        <p:txBody>
          <a:bodyPr/>
          <a:lstStyle/>
          <a:p>
            <a:fld id="{382B47E1-F59F-47B3-8D16-B2A0740F319A}" type="slidenum">
              <a:rPr lang="en-US" smtClean="0"/>
              <a:pPr/>
              <a:t>26</a:t>
            </a:fld>
            <a:endParaRPr lang="en-US" dirty="0"/>
          </a:p>
        </p:txBody>
      </p:sp>
      <p:sp>
        <p:nvSpPr>
          <p:cNvPr id="8" name="TextBox 7">
            <a:extLst>
              <a:ext uri="{FF2B5EF4-FFF2-40B4-BE49-F238E27FC236}">
                <a16:creationId xmlns:a16="http://schemas.microsoft.com/office/drawing/2014/main" id="{5856FA05-151C-DC47-9CE2-4C421B67F5AF}"/>
              </a:ext>
            </a:extLst>
          </p:cNvPr>
          <p:cNvSpPr txBox="1"/>
          <p:nvPr/>
        </p:nvSpPr>
        <p:spPr>
          <a:xfrm>
            <a:off x="1137920" y="2193474"/>
            <a:ext cx="8839200" cy="1015663"/>
          </a:xfrm>
          <a:prstGeom prst="rect">
            <a:avLst/>
          </a:prstGeom>
          <a:noFill/>
        </p:spPr>
        <p:txBody>
          <a:bodyPr wrap="square" rtlCol="0">
            <a:spAutoFit/>
          </a:bodyPr>
          <a:lstStyle/>
          <a:p>
            <a:r>
              <a:rPr lang="en-US" sz="2000" dirty="0">
                <a:solidFill>
                  <a:srgbClr val="FF0000"/>
                </a:solidFill>
              </a:rPr>
              <a:t>In transforming to the frequency domain, time information is lost. </a:t>
            </a:r>
            <a:r>
              <a:rPr lang="en-US" sz="2000" dirty="0"/>
              <a:t>When looking at a Fourier transform of a signal, it is impossible to tell when a particular event took place.</a:t>
            </a:r>
          </a:p>
        </p:txBody>
      </p:sp>
    </p:spTree>
    <p:extLst>
      <p:ext uri="{BB962C8B-B14F-4D97-AF65-F5344CB8AC3E}">
        <p14:creationId xmlns:p14="http://schemas.microsoft.com/office/powerpoint/2010/main" val="2545599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E976-080C-6318-FA0A-A73256515213}"/>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p:sp>
        <p:nvSpPr>
          <p:cNvPr id="3" name="Content Placeholder 2">
            <a:extLst>
              <a:ext uri="{FF2B5EF4-FFF2-40B4-BE49-F238E27FC236}">
                <a16:creationId xmlns:a16="http://schemas.microsoft.com/office/drawing/2014/main" id="{3D050777-8924-2853-DFFD-833FF3D69480}"/>
              </a:ext>
            </a:extLst>
          </p:cNvPr>
          <p:cNvSpPr>
            <a:spLocks noGrp="1"/>
          </p:cNvSpPr>
          <p:nvPr>
            <p:ph idx="1"/>
          </p:nvPr>
        </p:nvSpPr>
        <p:spPr/>
        <p:txBody>
          <a:bodyPr/>
          <a:lstStyle/>
          <a:p>
            <a:pPr>
              <a:buFont typeface="Wingdings" panose="05000000000000000000" pitchFamily="2" charset="2"/>
              <a:buChar char="q"/>
            </a:pPr>
            <a:r>
              <a:rPr lang="en-US" sz="2400" dirty="0"/>
              <a:t> </a:t>
            </a:r>
            <a:r>
              <a:rPr lang="en-US" sz="2400" b="1" dirty="0"/>
              <a:t>Fourier Transform (FT</a:t>
            </a:r>
            <a:r>
              <a:rPr lang="en-US" sz="2400" dirty="0"/>
              <a:t>) </a:t>
            </a:r>
            <a:r>
              <a:rPr lang="en-US" sz="2400" b="1" dirty="0"/>
              <a:t>is good at Stationary signals.</a:t>
            </a:r>
          </a:p>
          <a:p>
            <a:pPr>
              <a:buFont typeface="Wingdings" panose="05000000000000000000" pitchFamily="2" charset="2"/>
              <a:buChar char="q"/>
            </a:pPr>
            <a:endParaRPr lang="en-US" b="1" dirty="0"/>
          </a:p>
          <a:p>
            <a:pPr>
              <a:buFont typeface="Wingdings" panose="05000000000000000000" pitchFamily="2" charset="2"/>
              <a:buChar char="q"/>
            </a:pPr>
            <a:endParaRPr lang="en-US" b="1" dirty="0"/>
          </a:p>
          <a:p>
            <a:pPr marL="0" indent="0">
              <a:buNone/>
            </a:pPr>
            <a:endParaRPr lang="en-US" b="1" dirty="0"/>
          </a:p>
          <a:p>
            <a:pPr marL="0" indent="0">
              <a:buNone/>
            </a:pPr>
            <a:r>
              <a:rPr lang="en-US" b="1" dirty="0"/>
              <a:t>                                               </a:t>
            </a:r>
          </a:p>
          <a:p>
            <a:pPr marL="0" indent="0">
              <a:buNone/>
            </a:pPr>
            <a:endParaRPr lang="en-US" b="1" dirty="0"/>
          </a:p>
        </p:txBody>
      </p:sp>
      <p:sp>
        <p:nvSpPr>
          <p:cNvPr id="4" name="Footer Placeholder 3">
            <a:extLst>
              <a:ext uri="{FF2B5EF4-FFF2-40B4-BE49-F238E27FC236}">
                <a16:creationId xmlns:a16="http://schemas.microsoft.com/office/drawing/2014/main" id="{EC8432AD-8863-3D21-E7BE-0EDDE24B850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29A0031-C554-1658-5289-F44C7E7EC161}"/>
              </a:ext>
            </a:extLst>
          </p:cNvPr>
          <p:cNvSpPr>
            <a:spLocks noGrp="1"/>
          </p:cNvSpPr>
          <p:nvPr>
            <p:ph type="sldNum" sz="quarter" idx="12"/>
          </p:nvPr>
        </p:nvSpPr>
        <p:spPr/>
        <p:txBody>
          <a:bodyPr/>
          <a:lstStyle/>
          <a:p>
            <a:fld id="{382B47E1-F59F-47B3-8D16-B2A0740F319A}" type="slidenum">
              <a:rPr lang="en-US" smtClean="0"/>
              <a:pPr/>
              <a:t>27</a:t>
            </a:fld>
            <a:endParaRPr lang="en-US" dirty="0"/>
          </a:p>
        </p:txBody>
      </p:sp>
      <p:pic>
        <p:nvPicPr>
          <p:cNvPr id="13" name="Picture 12">
            <a:extLst>
              <a:ext uri="{FF2B5EF4-FFF2-40B4-BE49-F238E27FC236}">
                <a16:creationId xmlns:a16="http://schemas.microsoft.com/office/drawing/2014/main" id="{E9D224C8-C6D0-D4AD-B422-BEE0DA6080F3}"/>
              </a:ext>
            </a:extLst>
          </p:cNvPr>
          <p:cNvPicPr>
            <a:picLocks/>
          </p:cNvPicPr>
          <p:nvPr/>
        </p:nvPicPr>
        <p:blipFill>
          <a:blip r:embed="rId2"/>
          <a:stretch>
            <a:fillRect/>
          </a:stretch>
        </p:blipFill>
        <p:spPr>
          <a:xfrm>
            <a:off x="2063008" y="2914710"/>
            <a:ext cx="7792192" cy="1028580"/>
          </a:xfrm>
          <a:prstGeom prst="rect">
            <a:avLst/>
          </a:prstGeom>
        </p:spPr>
      </p:pic>
      <p:sp>
        <p:nvSpPr>
          <p:cNvPr id="14" name="TextBox 13">
            <a:extLst>
              <a:ext uri="{FF2B5EF4-FFF2-40B4-BE49-F238E27FC236}">
                <a16:creationId xmlns:a16="http://schemas.microsoft.com/office/drawing/2014/main" id="{202D6F93-8783-BF80-5062-BD2762C482AF}"/>
              </a:ext>
            </a:extLst>
          </p:cNvPr>
          <p:cNvSpPr txBox="1"/>
          <p:nvPr/>
        </p:nvSpPr>
        <p:spPr>
          <a:xfrm>
            <a:off x="5496560" y="4011395"/>
            <a:ext cx="4023360"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t>All frequency components exist at all times</a:t>
            </a:r>
          </a:p>
        </p:txBody>
      </p:sp>
      <p:pic>
        <p:nvPicPr>
          <p:cNvPr id="15" name="Picture 14">
            <a:extLst>
              <a:ext uri="{FF2B5EF4-FFF2-40B4-BE49-F238E27FC236}">
                <a16:creationId xmlns:a16="http://schemas.microsoft.com/office/drawing/2014/main" id="{585A544D-CC4C-16BC-FDB1-F8B7777C9F24}"/>
              </a:ext>
            </a:extLst>
          </p:cNvPr>
          <p:cNvPicPr>
            <a:picLocks/>
          </p:cNvPicPr>
          <p:nvPr/>
        </p:nvPicPr>
        <p:blipFill>
          <a:blip r:embed="rId3"/>
          <a:stretch>
            <a:fillRect/>
          </a:stretch>
        </p:blipFill>
        <p:spPr>
          <a:xfrm>
            <a:off x="2063008" y="5316042"/>
            <a:ext cx="5638272" cy="400110"/>
          </a:xfrm>
          <a:prstGeom prst="rect">
            <a:avLst/>
          </a:prstGeom>
        </p:spPr>
      </p:pic>
    </p:spTree>
    <p:extLst>
      <p:ext uri="{BB962C8B-B14F-4D97-AF65-F5344CB8AC3E}">
        <p14:creationId xmlns:p14="http://schemas.microsoft.com/office/powerpoint/2010/main" val="2285314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9C38A-3FB6-B021-820E-372CCD3F6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FC850-DA77-CA7D-E73E-58D0E77CBA3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a:t>
            </a:r>
            <a:endParaRPr lang="en-US" dirty="0"/>
          </a:p>
        </p:txBody>
      </p:sp>
      <p:sp>
        <p:nvSpPr>
          <p:cNvPr id="3" name="Content Placeholder 2">
            <a:extLst>
              <a:ext uri="{FF2B5EF4-FFF2-40B4-BE49-F238E27FC236}">
                <a16:creationId xmlns:a16="http://schemas.microsoft.com/office/drawing/2014/main" id="{65B1324C-4D5F-1429-70B6-6E0DBE6303FF}"/>
              </a:ext>
            </a:extLst>
          </p:cNvPr>
          <p:cNvSpPr>
            <a:spLocks noGrp="1"/>
          </p:cNvSpPr>
          <p:nvPr>
            <p:ph idx="1"/>
          </p:nvPr>
        </p:nvSpPr>
        <p:spPr/>
        <p:txBody>
          <a:bodyPr/>
          <a:lstStyle/>
          <a:p>
            <a:pPr marL="0" indent="0">
              <a:buNone/>
            </a:pPr>
            <a:endParaRPr lang="en-US" b="1" dirty="0"/>
          </a:p>
          <a:p>
            <a:pPr>
              <a:buFont typeface="Wingdings" panose="05000000000000000000" pitchFamily="2" charset="2"/>
              <a:buChar char="q"/>
            </a:pPr>
            <a:endParaRPr lang="en-US" b="1" dirty="0"/>
          </a:p>
          <a:p>
            <a:pPr marL="0" indent="0">
              <a:buNone/>
            </a:pPr>
            <a:endParaRPr lang="en-US" b="1" dirty="0"/>
          </a:p>
          <a:p>
            <a:pPr marL="0" indent="0">
              <a:buNone/>
            </a:pPr>
            <a:r>
              <a:rPr lang="en-US" b="1" dirty="0"/>
              <a:t>                                               </a:t>
            </a:r>
          </a:p>
          <a:p>
            <a:pPr marL="0" indent="0">
              <a:buNone/>
            </a:pPr>
            <a:endParaRPr lang="en-US" b="1" dirty="0"/>
          </a:p>
        </p:txBody>
      </p:sp>
      <p:sp>
        <p:nvSpPr>
          <p:cNvPr id="4" name="Footer Placeholder 3">
            <a:extLst>
              <a:ext uri="{FF2B5EF4-FFF2-40B4-BE49-F238E27FC236}">
                <a16:creationId xmlns:a16="http://schemas.microsoft.com/office/drawing/2014/main" id="{9BBD6E59-F964-5509-674E-17902D355DF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DE47191-24EE-4C9E-8181-48203556F403}"/>
              </a:ext>
            </a:extLst>
          </p:cNvPr>
          <p:cNvSpPr>
            <a:spLocks noGrp="1"/>
          </p:cNvSpPr>
          <p:nvPr>
            <p:ph type="sldNum" sz="quarter" idx="12"/>
          </p:nvPr>
        </p:nvSpPr>
        <p:spPr/>
        <p:txBody>
          <a:bodyPr/>
          <a:lstStyle/>
          <a:p>
            <a:fld id="{382B47E1-F59F-47B3-8D16-B2A0740F319A}" type="slidenum">
              <a:rPr lang="en-US" smtClean="0"/>
              <a:pPr/>
              <a:t>28</a:t>
            </a:fld>
            <a:endParaRPr lang="en-US" dirty="0"/>
          </a:p>
        </p:txBody>
      </p:sp>
      <p:pic>
        <p:nvPicPr>
          <p:cNvPr id="7" name="Picture 6">
            <a:extLst>
              <a:ext uri="{FF2B5EF4-FFF2-40B4-BE49-F238E27FC236}">
                <a16:creationId xmlns:a16="http://schemas.microsoft.com/office/drawing/2014/main" id="{20DAB2BD-A870-E25E-9875-A7D3DDB32DCB}"/>
              </a:ext>
            </a:extLst>
          </p:cNvPr>
          <p:cNvPicPr>
            <a:picLocks noChangeAspect="1"/>
          </p:cNvPicPr>
          <p:nvPr/>
        </p:nvPicPr>
        <p:blipFill>
          <a:blip r:embed="rId2"/>
          <a:stretch>
            <a:fillRect/>
          </a:stretch>
        </p:blipFill>
        <p:spPr>
          <a:xfrm>
            <a:off x="2115913" y="1865739"/>
            <a:ext cx="7606076" cy="4524236"/>
          </a:xfrm>
          <a:prstGeom prst="rect">
            <a:avLst/>
          </a:prstGeom>
        </p:spPr>
      </p:pic>
    </p:spTree>
    <p:extLst>
      <p:ext uri="{BB962C8B-B14F-4D97-AF65-F5344CB8AC3E}">
        <p14:creationId xmlns:p14="http://schemas.microsoft.com/office/powerpoint/2010/main" val="3756014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29A3-C961-02FC-299D-062EAAC1D875}"/>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502343DF-A319-3C9E-0932-46F96D8A4B2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084060" y="1791689"/>
            <a:ext cx="8023879" cy="4588792"/>
          </a:xfrm>
        </p:spPr>
      </p:pic>
      <p:sp>
        <p:nvSpPr>
          <p:cNvPr id="2" name="Title 1">
            <a:extLst>
              <a:ext uri="{FF2B5EF4-FFF2-40B4-BE49-F238E27FC236}">
                <a16:creationId xmlns:a16="http://schemas.microsoft.com/office/drawing/2014/main" id="{530CD3A2-1F9C-76BE-9191-B41DE2B27CFE}"/>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serious drawback – Back to our example</a:t>
            </a:r>
            <a:endParaRPr lang="en-US" dirty="0"/>
          </a:p>
        </p:txBody>
      </p:sp>
      <p:sp>
        <p:nvSpPr>
          <p:cNvPr id="4" name="Footer Placeholder 3">
            <a:extLst>
              <a:ext uri="{FF2B5EF4-FFF2-40B4-BE49-F238E27FC236}">
                <a16:creationId xmlns:a16="http://schemas.microsoft.com/office/drawing/2014/main" id="{EB52E713-3F6E-2E8E-4CED-7B18896CE38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90B61C8-95CF-5AEF-71CB-E9E0B6B48D10}"/>
              </a:ext>
            </a:extLst>
          </p:cNvPr>
          <p:cNvSpPr>
            <a:spLocks noGrp="1"/>
          </p:cNvSpPr>
          <p:nvPr>
            <p:ph type="sldNum" sz="quarter" idx="12"/>
          </p:nvPr>
        </p:nvSpPr>
        <p:spPr/>
        <p:txBody>
          <a:bodyPr/>
          <a:lstStyle/>
          <a:p>
            <a:fld id="{382B47E1-F59F-47B3-8D16-B2A0740F319A}" type="slidenum">
              <a:rPr lang="en-US" smtClean="0"/>
              <a:pPr/>
              <a:t>29</a:t>
            </a:fld>
            <a:endParaRPr lang="en-US" dirty="0"/>
          </a:p>
        </p:txBody>
      </p:sp>
    </p:spTree>
    <p:extLst>
      <p:ext uri="{BB962C8B-B14F-4D97-AF65-F5344CB8AC3E}">
        <p14:creationId xmlns:p14="http://schemas.microsoft.com/office/powerpoint/2010/main" val="1492374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6EAA-3058-DE63-D555-0376FD932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03A6C-EE4C-9FC9-423C-B29D33DC6D4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Fourier's drawbacks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4881B9-CE18-5E99-1E5B-22311974B7D0}"/>
                  </a:ext>
                </a:extLst>
              </p:cNvPr>
              <p:cNvSpPr>
                <a:spLocks noGrp="1"/>
              </p:cNvSpPr>
              <p:nvPr>
                <p:ph idx="1"/>
              </p:nvPr>
            </p:nvSpPr>
            <p:spPr/>
            <p:txBody>
              <a:bodyPr/>
              <a:lstStyle/>
              <a:p>
                <a:pPr>
                  <a:buFont typeface="Wingdings" panose="05000000000000000000" pitchFamily="2" charset="2"/>
                  <a:buChar char="q"/>
                </a:pPr>
                <a:r>
                  <a:rPr lang="en-US" b="1" dirty="0"/>
                  <a:t> In Windowed Fourier Transform (WFT) </a:t>
                </a:r>
                <a:r>
                  <a:rPr lang="en-US" dirty="0"/>
                  <a:t>we take the Fourier transform of a function </a:t>
                </a:r>
                <a14:m>
                  <m:oMath xmlns:m="http://schemas.openxmlformats.org/officeDocument/2006/math">
                    <m:r>
                      <a:rPr lang="en-US" b="1" i="1" smtClean="0">
                        <a:latin typeface="Cambria Math" panose="02040503050406030204" pitchFamily="18" charset="0"/>
                      </a:rPr>
                      <m:t>𝒇</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r>
                  <a:rPr lang="en-US" b="1" dirty="0"/>
                  <a:t> </a:t>
                </a:r>
                <a:r>
                  <a:rPr lang="en-US" dirty="0"/>
                  <a:t>that is multiplied by a window function </a:t>
                </a:r>
                <a14:m>
                  <m:oMath xmlns:m="http://schemas.openxmlformats.org/officeDocument/2006/math">
                    <m:r>
                      <a:rPr lang="en-US" b="1" i="1" smtClean="0">
                        <a:latin typeface="Cambria Math" panose="02040503050406030204" pitchFamily="18" charset="0"/>
                      </a:rPr>
                      <m:t>𝒈</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r>
                          <a:rPr lang="en-US" b="1" i="1" smtClean="0">
                            <a:latin typeface="Cambria Math" panose="02040503050406030204" pitchFamily="18" charset="0"/>
                          </a:rPr>
                          <m:t>−</m:t>
                        </m:r>
                        <m:r>
                          <a:rPr lang="en-US" b="1" i="1" smtClean="0">
                            <a:latin typeface="Cambria Math" panose="02040503050406030204" pitchFamily="18" charset="0"/>
                          </a:rPr>
                          <m:t>𝒃</m:t>
                        </m:r>
                      </m:e>
                    </m:d>
                  </m:oMath>
                </a14:m>
                <a:r>
                  <a:rPr lang="en-US" b="1" dirty="0"/>
                  <a:t>, for some shift b called the center of the window</a:t>
                </a:r>
                <a:r>
                  <a:rPr lang="en-US" dirty="0"/>
                  <a:t>, where </a:t>
                </a:r>
                <a14:m>
                  <m:oMath xmlns:m="http://schemas.openxmlformats.org/officeDocument/2006/math">
                    <m:r>
                      <a:rPr lang="en-US" b="1" i="1" smtClean="0">
                        <a:latin typeface="Cambria Math" panose="02040503050406030204" pitchFamily="18" charset="0"/>
                      </a:rPr>
                      <m:t>𝒈</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oMath>
                </a14:m>
                <a:r>
                  <a:rPr lang="en-US" b="1" dirty="0"/>
                  <a:t> is a smooth function with compact support</a:t>
                </a:r>
                <a:r>
                  <a:rPr lang="en-US" dirty="0"/>
                  <a:t>. The Coefficients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𝐹</m:t>
                        </m:r>
                      </m:e>
                      <m:sup>
                        <m:r>
                          <a:rPr lang="en-US" b="0" i="1" smtClean="0">
                            <a:latin typeface="Cambria Math" panose="02040503050406030204" pitchFamily="18" charset="0"/>
                          </a:rPr>
                          <m:t>𝑤𝑖𝑛</m:t>
                        </m:r>
                      </m:sup>
                    </m:sSup>
                    <m:d>
                      <m:dPr>
                        <m:ctrlPr>
                          <a:rPr lang="en-US"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d>
                  </m:oMath>
                </a14:m>
                <a:r>
                  <a:rPr lang="en-US" dirty="0"/>
                  <a:t> of the WFT are given by:</a:t>
                </a:r>
              </a:p>
              <a:p>
                <a:pPr>
                  <a:buFont typeface="Wingdings" panose="05000000000000000000" pitchFamily="2" charset="2"/>
                  <a:buChar char="q"/>
                </a:pPr>
                <a:endParaRPr lang="en-US" b="1" dirty="0"/>
              </a:p>
            </p:txBody>
          </p:sp>
        </mc:Choice>
        <mc:Fallback xmlns="">
          <p:sp>
            <p:nvSpPr>
              <p:cNvPr id="3" name="Content Placeholder 2">
                <a:extLst>
                  <a:ext uri="{FF2B5EF4-FFF2-40B4-BE49-F238E27FC236}">
                    <a16:creationId xmlns:a16="http://schemas.microsoft.com/office/drawing/2014/main" id="{2B4881B9-CE18-5E99-1E5B-22311974B7D0}"/>
                  </a:ext>
                </a:extLst>
              </p:cNvPr>
              <p:cNvSpPr>
                <a:spLocks noGrp="1" noRot="1" noChangeAspect="1" noMove="1" noResize="1" noEditPoints="1" noAdjustHandles="1" noChangeArrowheads="1" noChangeShapeType="1" noTextEdit="1"/>
              </p:cNvSpPr>
              <p:nvPr>
                <p:ph idx="1"/>
              </p:nvPr>
            </p:nvSpPr>
            <p:spPr>
              <a:blipFill>
                <a:blip r:embed="rId2"/>
                <a:stretch>
                  <a:fillRect l="-1069" t="-181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0A3A6E6-9A89-2606-7CA0-2F98269AD54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5ED91C9-D1F2-BEB5-0A1D-10768F1E4539}"/>
              </a:ext>
            </a:extLst>
          </p:cNvPr>
          <p:cNvSpPr>
            <a:spLocks noGrp="1"/>
          </p:cNvSpPr>
          <p:nvPr>
            <p:ph type="sldNum" sz="quarter" idx="12"/>
          </p:nvPr>
        </p:nvSpPr>
        <p:spPr/>
        <p:txBody>
          <a:bodyPr/>
          <a:lstStyle/>
          <a:p>
            <a:fld id="{382B47E1-F59F-47B3-8D16-B2A0740F319A}" type="slidenum">
              <a:rPr lang="en-US" smtClean="0"/>
              <a:pPr/>
              <a:t>30</a:t>
            </a:fld>
            <a:endParaRPr lang="en-US" dirty="0"/>
          </a:p>
        </p:txBody>
      </p:sp>
      <p:pic>
        <p:nvPicPr>
          <p:cNvPr id="6" name="Picture 5">
            <a:extLst>
              <a:ext uri="{FF2B5EF4-FFF2-40B4-BE49-F238E27FC236}">
                <a16:creationId xmlns:a16="http://schemas.microsoft.com/office/drawing/2014/main" id="{A13A4B42-D40E-1F98-2AF1-28F01681B85D}"/>
              </a:ext>
            </a:extLst>
          </p:cNvPr>
          <p:cNvPicPr>
            <a:picLocks/>
          </p:cNvPicPr>
          <p:nvPr/>
        </p:nvPicPr>
        <p:blipFill>
          <a:blip r:embed="rId3"/>
          <a:stretch>
            <a:fillRect/>
          </a:stretch>
        </p:blipFill>
        <p:spPr>
          <a:xfrm>
            <a:off x="3414288" y="4297680"/>
            <a:ext cx="5486400" cy="1097280"/>
          </a:xfrm>
          <a:prstGeom prst="rect">
            <a:avLst/>
          </a:prstGeom>
        </p:spPr>
      </p:pic>
    </p:spTree>
    <p:extLst>
      <p:ext uri="{BB962C8B-B14F-4D97-AF65-F5344CB8AC3E}">
        <p14:creationId xmlns:p14="http://schemas.microsoft.com/office/powerpoint/2010/main" val="2273123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5BD64-695C-069E-8AE3-BFD67E8D6A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A8719-18C4-C764-FE75-D9FEF0F6BF15}"/>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Fourier's drawbacks</a:t>
            </a:r>
            <a:endParaRPr lang="en-US" dirty="0"/>
          </a:p>
        </p:txBody>
      </p:sp>
      <p:sp>
        <p:nvSpPr>
          <p:cNvPr id="3" name="Content Placeholder 2">
            <a:extLst>
              <a:ext uri="{FF2B5EF4-FFF2-40B4-BE49-F238E27FC236}">
                <a16:creationId xmlns:a16="http://schemas.microsoft.com/office/drawing/2014/main" id="{F8E5E176-1DB6-154B-E9B6-2921B2FE0747}"/>
              </a:ext>
            </a:extLst>
          </p:cNvPr>
          <p:cNvSpPr>
            <a:spLocks noGrp="1"/>
          </p:cNvSpPr>
          <p:nvPr>
            <p:ph idx="1"/>
          </p:nvPr>
        </p:nvSpPr>
        <p:spPr/>
        <p:txBody>
          <a:bodyPr>
            <a:normAutofit/>
          </a:bodyPr>
          <a:lstStyle/>
          <a:p>
            <a:pPr>
              <a:buFont typeface="Wingdings" panose="05000000000000000000" pitchFamily="2" charset="2"/>
              <a:buChar char="q"/>
            </a:pPr>
            <a:endParaRPr lang="en-US" b="1" dirty="0"/>
          </a:p>
          <a:p>
            <a:pPr>
              <a:buFont typeface="Wingdings" panose="05000000000000000000" pitchFamily="2" charset="2"/>
              <a:buChar char="q"/>
            </a:pPr>
            <a:endParaRPr lang="en-US" b="1" dirty="0"/>
          </a:p>
          <a:p>
            <a:pPr>
              <a:buFont typeface="Wingdings" panose="05000000000000000000" pitchFamily="2" charset="2"/>
              <a:buChar char="q"/>
            </a:pPr>
            <a:endParaRPr lang="en-US" b="1" dirty="0"/>
          </a:p>
          <a:p>
            <a:pPr>
              <a:buFont typeface="Wingdings" panose="05000000000000000000" pitchFamily="2" charset="2"/>
              <a:buChar char="q"/>
            </a:pPr>
            <a:r>
              <a:rPr lang="en-US" b="1" dirty="0"/>
              <a:t> Unfortunately, this transform is difficult to invert, due to its excessive redundancy, and it does not capture short “pulses” accurately, unless a very small window is used.</a:t>
            </a:r>
          </a:p>
          <a:p>
            <a:pPr>
              <a:buFont typeface="Wingdings" panose="05000000000000000000" pitchFamily="2" charset="2"/>
              <a:buChar char="q"/>
            </a:pPr>
            <a:endParaRPr lang="en-US" b="1" dirty="0"/>
          </a:p>
          <a:p>
            <a:pPr>
              <a:buFont typeface="Wingdings" panose="05000000000000000000" pitchFamily="2" charset="2"/>
              <a:buChar char="q"/>
            </a:pPr>
            <a:r>
              <a:rPr lang="en-US" b="1" dirty="0"/>
              <a:t> But in that case, low-frequency content cannot be accurately captured. This is due to the Uncertainty Principle, which states that a function cannot be simultaneously concentrated in both physical space and Fourier space.</a:t>
            </a:r>
          </a:p>
        </p:txBody>
      </p:sp>
      <p:sp>
        <p:nvSpPr>
          <p:cNvPr id="4" name="Footer Placeholder 3">
            <a:extLst>
              <a:ext uri="{FF2B5EF4-FFF2-40B4-BE49-F238E27FC236}">
                <a16:creationId xmlns:a16="http://schemas.microsoft.com/office/drawing/2014/main" id="{883AFC39-2C8F-9A29-652B-A58A023EA6F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DF45526-D8C1-3F8A-B5A8-FB1A29A031FB}"/>
              </a:ext>
            </a:extLst>
          </p:cNvPr>
          <p:cNvSpPr>
            <a:spLocks noGrp="1"/>
          </p:cNvSpPr>
          <p:nvPr>
            <p:ph type="sldNum" sz="quarter" idx="12"/>
          </p:nvPr>
        </p:nvSpPr>
        <p:spPr/>
        <p:txBody>
          <a:bodyPr/>
          <a:lstStyle/>
          <a:p>
            <a:fld id="{382B47E1-F59F-47B3-8D16-B2A0740F319A}" type="slidenum">
              <a:rPr lang="en-US" smtClean="0"/>
              <a:pPr/>
              <a:t>31</a:t>
            </a:fld>
            <a:endParaRPr lang="en-US" dirty="0"/>
          </a:p>
        </p:txBody>
      </p:sp>
      <p:pic>
        <p:nvPicPr>
          <p:cNvPr id="6" name="Picture 5">
            <a:extLst>
              <a:ext uri="{FF2B5EF4-FFF2-40B4-BE49-F238E27FC236}">
                <a16:creationId xmlns:a16="http://schemas.microsoft.com/office/drawing/2014/main" id="{A80B5DFB-0A4B-209E-A616-A14C0B907E8B}"/>
              </a:ext>
            </a:extLst>
          </p:cNvPr>
          <p:cNvPicPr>
            <a:picLocks/>
          </p:cNvPicPr>
          <p:nvPr/>
        </p:nvPicPr>
        <p:blipFill>
          <a:blip r:embed="rId2"/>
          <a:stretch>
            <a:fillRect/>
          </a:stretch>
        </p:blipFill>
        <p:spPr>
          <a:xfrm>
            <a:off x="3352800" y="2331720"/>
            <a:ext cx="5486400" cy="1097280"/>
          </a:xfrm>
          <a:prstGeom prst="rect">
            <a:avLst/>
          </a:prstGeom>
        </p:spPr>
      </p:pic>
    </p:spTree>
    <p:extLst>
      <p:ext uri="{BB962C8B-B14F-4D97-AF65-F5344CB8AC3E}">
        <p14:creationId xmlns:p14="http://schemas.microsoft.com/office/powerpoint/2010/main" val="25365061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4BCF5-46B4-9E7A-EC83-88C0D2FDE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C145C-E7CD-254E-FF1C-D319CE475640}"/>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Fourier's drawbacks</a:t>
            </a:r>
            <a:endParaRPr lang="en-US" dirty="0"/>
          </a:p>
        </p:txBody>
      </p:sp>
      <p:sp>
        <p:nvSpPr>
          <p:cNvPr id="3" name="Content Placeholder 2">
            <a:extLst>
              <a:ext uri="{FF2B5EF4-FFF2-40B4-BE49-F238E27FC236}">
                <a16:creationId xmlns:a16="http://schemas.microsoft.com/office/drawing/2014/main" id="{5D31023C-484C-B7BB-4BC8-2F0E27C29981}"/>
              </a:ext>
            </a:extLst>
          </p:cNvPr>
          <p:cNvSpPr>
            <a:spLocks noGrp="1"/>
          </p:cNvSpPr>
          <p:nvPr>
            <p:ph idx="1"/>
          </p:nvPr>
        </p:nvSpPr>
        <p:spPr/>
        <p:txBody>
          <a:bodyPr>
            <a:normAutofit/>
          </a:bodyPr>
          <a:lstStyle/>
          <a:p>
            <a:pPr>
              <a:buFont typeface="Wingdings" panose="05000000000000000000" pitchFamily="2" charset="2"/>
              <a:buChar char="q"/>
            </a:pPr>
            <a:r>
              <a:rPr lang="en-US" b="1" dirty="0"/>
              <a:t> Windowed Fourier Transform (WFT) is also called “Short-Time Fourier Transform” or “STFT”.   (Leads to Gabor’s proposal)</a:t>
            </a:r>
          </a:p>
        </p:txBody>
      </p:sp>
      <p:sp>
        <p:nvSpPr>
          <p:cNvPr id="4" name="Footer Placeholder 3">
            <a:extLst>
              <a:ext uri="{FF2B5EF4-FFF2-40B4-BE49-F238E27FC236}">
                <a16:creationId xmlns:a16="http://schemas.microsoft.com/office/drawing/2014/main" id="{96CBA421-5C73-19B9-C2F8-6600AC38DA2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C87D597-F262-1980-631D-43EA93225123}"/>
              </a:ext>
            </a:extLst>
          </p:cNvPr>
          <p:cNvSpPr>
            <a:spLocks noGrp="1"/>
          </p:cNvSpPr>
          <p:nvPr>
            <p:ph type="sldNum" sz="quarter" idx="12"/>
          </p:nvPr>
        </p:nvSpPr>
        <p:spPr/>
        <p:txBody>
          <a:bodyPr/>
          <a:lstStyle/>
          <a:p>
            <a:fld id="{382B47E1-F59F-47B3-8D16-B2A0740F319A}" type="slidenum">
              <a:rPr lang="en-US" smtClean="0"/>
              <a:pPr/>
              <a:t>32</a:t>
            </a:fld>
            <a:endParaRPr lang="en-US" dirty="0"/>
          </a:p>
        </p:txBody>
      </p:sp>
      <p:pic>
        <p:nvPicPr>
          <p:cNvPr id="8" name="Picture 7">
            <a:extLst>
              <a:ext uri="{FF2B5EF4-FFF2-40B4-BE49-F238E27FC236}">
                <a16:creationId xmlns:a16="http://schemas.microsoft.com/office/drawing/2014/main" id="{4FC04C93-D668-2FFB-4A22-7CC295376A94}"/>
              </a:ext>
            </a:extLst>
          </p:cNvPr>
          <p:cNvPicPr>
            <a:picLocks noChangeAspect="1"/>
          </p:cNvPicPr>
          <p:nvPr/>
        </p:nvPicPr>
        <p:blipFill>
          <a:blip r:embed="rId2"/>
          <a:stretch>
            <a:fillRect/>
          </a:stretch>
        </p:blipFill>
        <p:spPr>
          <a:xfrm>
            <a:off x="1708692" y="3256722"/>
            <a:ext cx="8897592" cy="2762636"/>
          </a:xfrm>
          <a:prstGeom prst="rect">
            <a:avLst/>
          </a:prstGeom>
        </p:spPr>
      </p:pic>
    </p:spTree>
    <p:extLst>
      <p:ext uri="{BB962C8B-B14F-4D97-AF65-F5344CB8AC3E}">
        <p14:creationId xmlns:p14="http://schemas.microsoft.com/office/powerpoint/2010/main" val="51452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2AF6F2C2-0A7D-1123-73DD-A01BA0766B7C}"/>
              </a:ext>
            </a:extLst>
          </p:cNvPr>
          <p:cNvPicPr>
            <a:picLocks noGrp="1" noChangeAspect="1"/>
          </p:cNvPicPr>
          <p:nvPr>
            <p:ph sz="half" idx="2"/>
          </p:nvPr>
        </p:nvPicPr>
        <p:blipFill>
          <a:blip r:embed="rId2"/>
          <a:stretch>
            <a:fillRect/>
          </a:stretch>
        </p:blipFill>
        <p:spPr>
          <a:xfrm>
            <a:off x="6515077" y="1293125"/>
            <a:ext cx="5295923" cy="5177579"/>
          </a:xfrm>
        </p:spPr>
      </p:pic>
      <p:sp>
        <p:nvSpPr>
          <p:cNvPr id="2" name="Title 1">
            <a:extLst>
              <a:ext uri="{FF2B5EF4-FFF2-40B4-BE49-F238E27FC236}">
                <a16:creationId xmlns:a16="http://schemas.microsoft.com/office/drawing/2014/main" id="{3AAC6061-2EE5-6CB3-AC9E-EA071B80140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Fourier's drawbacks</a:t>
            </a:r>
            <a:endParaRPr lang="en-US" dirty="0"/>
          </a:p>
        </p:txBody>
      </p:sp>
      <p:sp>
        <p:nvSpPr>
          <p:cNvPr id="3" name="Content Placeholder 2">
            <a:extLst>
              <a:ext uri="{FF2B5EF4-FFF2-40B4-BE49-F238E27FC236}">
                <a16:creationId xmlns:a16="http://schemas.microsoft.com/office/drawing/2014/main" id="{700C881D-7ECA-5782-1A62-E83B833F1956}"/>
              </a:ext>
            </a:extLst>
          </p:cNvPr>
          <p:cNvSpPr>
            <a:spLocks noGrp="1"/>
          </p:cNvSpPr>
          <p:nvPr>
            <p:ph sz="half" idx="1"/>
          </p:nvPr>
        </p:nvSpPr>
        <p:spPr/>
        <p:txBody>
          <a:bodyPr>
            <a:normAutofit/>
          </a:bodyPr>
          <a:lstStyle/>
          <a:p>
            <a:pPr>
              <a:buFont typeface="Wingdings" panose="05000000000000000000" pitchFamily="2" charset="2"/>
              <a:buChar char="q"/>
            </a:pPr>
            <a:r>
              <a:rPr lang="en-US" dirty="0"/>
              <a:t> This transform provides a redundant time-frequency representation of the signal.</a:t>
            </a:r>
          </a:p>
          <a:p>
            <a:pPr marL="0" indent="0">
              <a:buNone/>
            </a:pPr>
            <a:endParaRPr lang="en-US" dirty="0"/>
          </a:p>
          <a:p>
            <a:pPr>
              <a:buFont typeface="Wingdings" panose="05000000000000000000" pitchFamily="2" charset="2"/>
              <a:buChar char="q"/>
            </a:pPr>
            <a:r>
              <a:rPr lang="en-US" dirty="0"/>
              <a:t> The original signal f can be recovered from its STFT coefficients using the inverse Short Time Fourier Transform:</a:t>
            </a:r>
          </a:p>
        </p:txBody>
      </p:sp>
      <p:sp>
        <p:nvSpPr>
          <p:cNvPr id="5" name="Footer Placeholder 4">
            <a:extLst>
              <a:ext uri="{FF2B5EF4-FFF2-40B4-BE49-F238E27FC236}">
                <a16:creationId xmlns:a16="http://schemas.microsoft.com/office/drawing/2014/main" id="{6F484281-4C87-DC68-1485-D5C67BB0BF9E}"/>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26E59F41-4799-DD2F-4EF9-930117E429A9}"/>
              </a:ext>
            </a:extLst>
          </p:cNvPr>
          <p:cNvSpPr>
            <a:spLocks noGrp="1"/>
          </p:cNvSpPr>
          <p:nvPr>
            <p:ph type="sldNum" sz="quarter" idx="12"/>
          </p:nvPr>
        </p:nvSpPr>
        <p:spPr/>
        <p:txBody>
          <a:bodyPr/>
          <a:lstStyle/>
          <a:p>
            <a:fld id="{382B47E1-F59F-47B3-8D16-B2A0740F319A}" type="slidenum">
              <a:rPr lang="en-US" sz="1600" smtClean="0"/>
              <a:t>33</a:t>
            </a:fld>
            <a:endParaRPr lang="en-US" sz="1600" dirty="0"/>
          </a:p>
        </p:txBody>
      </p:sp>
      <p:pic>
        <p:nvPicPr>
          <p:cNvPr id="13" name="Picture 12">
            <a:extLst>
              <a:ext uri="{FF2B5EF4-FFF2-40B4-BE49-F238E27FC236}">
                <a16:creationId xmlns:a16="http://schemas.microsoft.com/office/drawing/2014/main" id="{6795BB9D-A3C7-846F-FAD3-EAC93B2A0FBF}"/>
              </a:ext>
            </a:extLst>
          </p:cNvPr>
          <p:cNvPicPr>
            <a:picLocks noChangeAspect="1"/>
          </p:cNvPicPr>
          <p:nvPr/>
        </p:nvPicPr>
        <p:blipFill>
          <a:blip r:embed="rId3"/>
          <a:stretch>
            <a:fillRect/>
          </a:stretch>
        </p:blipFill>
        <p:spPr>
          <a:xfrm>
            <a:off x="1163320" y="5172656"/>
            <a:ext cx="5578789" cy="835719"/>
          </a:xfrm>
          <a:prstGeom prst="rect">
            <a:avLst/>
          </a:prstGeom>
        </p:spPr>
      </p:pic>
    </p:spTree>
    <p:extLst>
      <p:ext uri="{BB962C8B-B14F-4D97-AF65-F5344CB8AC3E}">
        <p14:creationId xmlns:p14="http://schemas.microsoft.com/office/powerpoint/2010/main" val="30613083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15644-2530-C2A3-B631-D6418BAFF35E}"/>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Fourier's drawbacks</a:t>
            </a:r>
            <a:endParaRPr lang="en-US" dirty="0"/>
          </a:p>
        </p:txBody>
      </p:sp>
      <p:pic>
        <p:nvPicPr>
          <p:cNvPr id="7" name="Content Placeholder 6">
            <a:extLst>
              <a:ext uri="{FF2B5EF4-FFF2-40B4-BE49-F238E27FC236}">
                <a16:creationId xmlns:a16="http://schemas.microsoft.com/office/drawing/2014/main" id="{9FAFFF56-876D-B3F4-5ED5-352B31E3F687}"/>
              </a:ext>
            </a:extLst>
          </p:cNvPr>
          <p:cNvPicPr>
            <a:picLocks noGrp="1" noChangeAspect="1"/>
          </p:cNvPicPr>
          <p:nvPr>
            <p:ph idx="1"/>
          </p:nvPr>
        </p:nvPicPr>
        <p:blipFill>
          <a:blip r:embed="rId2"/>
          <a:stretch>
            <a:fillRect/>
          </a:stretch>
        </p:blipFill>
        <p:spPr>
          <a:xfrm>
            <a:off x="1895445" y="3020313"/>
            <a:ext cx="8401110" cy="2855960"/>
          </a:xfrm>
        </p:spPr>
      </p:pic>
      <p:sp>
        <p:nvSpPr>
          <p:cNvPr id="4" name="Footer Placeholder 3">
            <a:extLst>
              <a:ext uri="{FF2B5EF4-FFF2-40B4-BE49-F238E27FC236}">
                <a16:creationId xmlns:a16="http://schemas.microsoft.com/office/drawing/2014/main" id="{B07A2A5E-D389-8A32-B898-CA76E7AAC9B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70A11FA-D66A-4578-86D0-905B00C7D217}"/>
              </a:ext>
            </a:extLst>
          </p:cNvPr>
          <p:cNvSpPr>
            <a:spLocks noGrp="1"/>
          </p:cNvSpPr>
          <p:nvPr>
            <p:ph type="sldNum" sz="quarter" idx="12"/>
          </p:nvPr>
        </p:nvSpPr>
        <p:spPr/>
        <p:txBody>
          <a:bodyPr/>
          <a:lstStyle/>
          <a:p>
            <a:fld id="{382B47E1-F59F-47B3-8D16-B2A0740F319A}" type="slidenum">
              <a:rPr lang="en-US" smtClean="0"/>
              <a:pPr/>
              <a:t>34</a:t>
            </a:fld>
            <a:endParaRPr lang="en-US" dirty="0"/>
          </a:p>
        </p:txBody>
      </p:sp>
      <p:sp>
        <p:nvSpPr>
          <p:cNvPr id="8" name="TextBox 7">
            <a:extLst>
              <a:ext uri="{FF2B5EF4-FFF2-40B4-BE49-F238E27FC236}">
                <a16:creationId xmlns:a16="http://schemas.microsoft.com/office/drawing/2014/main" id="{677161EA-973A-01B5-4E69-E220C6C36263}"/>
              </a:ext>
            </a:extLst>
          </p:cNvPr>
          <p:cNvSpPr txBox="1"/>
          <p:nvPr/>
        </p:nvSpPr>
        <p:spPr>
          <a:xfrm>
            <a:off x="5130800" y="2497093"/>
            <a:ext cx="1452880" cy="52322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800" b="1" dirty="0"/>
              <a:t>Shifting</a:t>
            </a:r>
            <a:endParaRPr lang="en-US" b="1" dirty="0"/>
          </a:p>
        </p:txBody>
      </p:sp>
    </p:spTree>
    <p:extLst>
      <p:ext uri="{BB962C8B-B14F-4D97-AF65-F5344CB8AC3E}">
        <p14:creationId xmlns:p14="http://schemas.microsoft.com/office/powerpoint/2010/main" val="3629111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E7F33-F70B-0936-9041-34112C434AF8}"/>
            </a:ext>
          </a:extLst>
        </p:cNvPr>
        <p:cNvGrpSpPr/>
        <p:nvPr/>
      </p:nvGrpSpPr>
      <p:grpSpPr>
        <a:xfrm>
          <a:off x="0" y="0"/>
          <a:ext cx="0" cy="0"/>
          <a:chOff x="0" y="0"/>
          <a:chExt cx="0" cy="0"/>
        </a:xfrm>
      </p:grpSpPr>
      <p:pic>
        <p:nvPicPr>
          <p:cNvPr id="14" name="Content Placeholder 13">
            <a:extLst>
              <a:ext uri="{FF2B5EF4-FFF2-40B4-BE49-F238E27FC236}">
                <a16:creationId xmlns:a16="http://schemas.microsoft.com/office/drawing/2014/main" id="{A3E066BB-41D4-1D02-3A43-44C3CE174576}"/>
              </a:ext>
            </a:extLst>
          </p:cNvPr>
          <p:cNvPicPr>
            <a:picLocks noGrp="1" noChangeAspect="1"/>
          </p:cNvPicPr>
          <p:nvPr>
            <p:ph idx="1"/>
          </p:nvPr>
        </p:nvPicPr>
        <p:blipFill>
          <a:blip r:embed="rId2"/>
          <a:stretch>
            <a:fillRect/>
          </a:stretch>
        </p:blipFill>
        <p:spPr>
          <a:xfrm>
            <a:off x="1419163" y="1788280"/>
            <a:ext cx="6920983" cy="4672815"/>
          </a:xfrm>
        </p:spPr>
      </p:pic>
      <p:sp>
        <p:nvSpPr>
          <p:cNvPr id="2" name="Title 1">
            <a:extLst>
              <a:ext uri="{FF2B5EF4-FFF2-40B4-BE49-F238E27FC236}">
                <a16:creationId xmlns:a16="http://schemas.microsoft.com/office/drawing/2014/main" id="{751AAE68-87AA-00AC-8EF5-8B6D00FA9438}"/>
              </a:ext>
            </a:extLst>
          </p:cNvPr>
          <p:cNvSpPr>
            <a:spLocks noGrp="1"/>
          </p:cNvSpPr>
          <p:nvPr>
            <p:ph type="title"/>
          </p:nvPr>
        </p:nvSpPr>
        <p:spPr>
          <a:xfrm>
            <a:off x="1024127" y="414655"/>
            <a:ext cx="10266723" cy="1499616"/>
          </a:xfrm>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From the STFT to the Spectrogram</a:t>
            </a:r>
            <a:endParaRPr lang="en-US" dirty="0"/>
          </a:p>
        </p:txBody>
      </p:sp>
      <p:sp>
        <p:nvSpPr>
          <p:cNvPr id="4" name="Footer Placeholder 3">
            <a:extLst>
              <a:ext uri="{FF2B5EF4-FFF2-40B4-BE49-F238E27FC236}">
                <a16:creationId xmlns:a16="http://schemas.microsoft.com/office/drawing/2014/main" id="{DEACDFD0-D161-4736-8F55-561EF2358E0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AA55AF3-1806-BE26-AF53-43893C34FB7A}"/>
              </a:ext>
            </a:extLst>
          </p:cNvPr>
          <p:cNvSpPr>
            <a:spLocks noGrp="1"/>
          </p:cNvSpPr>
          <p:nvPr>
            <p:ph type="sldNum" sz="quarter" idx="12"/>
          </p:nvPr>
        </p:nvSpPr>
        <p:spPr/>
        <p:txBody>
          <a:bodyPr/>
          <a:lstStyle/>
          <a:p>
            <a:fld id="{382B47E1-F59F-47B3-8D16-B2A0740F319A}" type="slidenum">
              <a:rPr lang="en-US" smtClean="0"/>
              <a:pPr/>
              <a:t>35</a:t>
            </a:fld>
            <a:endParaRPr lang="en-US" dirty="0"/>
          </a:p>
        </p:txBody>
      </p:sp>
      <p:pic>
        <p:nvPicPr>
          <p:cNvPr id="10" name="Picture 9">
            <a:extLst>
              <a:ext uri="{FF2B5EF4-FFF2-40B4-BE49-F238E27FC236}">
                <a16:creationId xmlns:a16="http://schemas.microsoft.com/office/drawing/2014/main" id="{45250EAE-9A38-344A-7189-1FDF3E795558}"/>
              </a:ext>
            </a:extLst>
          </p:cNvPr>
          <p:cNvPicPr>
            <a:picLocks noChangeAspect="1"/>
          </p:cNvPicPr>
          <p:nvPr/>
        </p:nvPicPr>
        <p:blipFill>
          <a:blip r:embed="rId3"/>
          <a:stretch>
            <a:fillRect/>
          </a:stretch>
        </p:blipFill>
        <p:spPr>
          <a:xfrm>
            <a:off x="5783024" y="3514780"/>
            <a:ext cx="4496427" cy="2857899"/>
          </a:xfrm>
          <a:prstGeom prst="rect">
            <a:avLst/>
          </a:prstGeom>
        </p:spPr>
      </p:pic>
    </p:spTree>
    <p:extLst>
      <p:ext uri="{BB962C8B-B14F-4D97-AF65-F5344CB8AC3E}">
        <p14:creationId xmlns:p14="http://schemas.microsoft.com/office/powerpoint/2010/main" val="497319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E8F7F-6E75-8869-BDB6-E10E887E7EDC}"/>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8C637F4-8531-29CA-9135-F940D3485B01}"/>
              </a:ext>
            </a:extLst>
          </p:cNvPr>
          <p:cNvPicPr>
            <a:picLocks noGrp="1" noChangeAspect="1"/>
          </p:cNvPicPr>
          <p:nvPr>
            <p:ph idx="1"/>
          </p:nvPr>
        </p:nvPicPr>
        <p:blipFill>
          <a:blip r:embed="rId2"/>
          <a:stretch>
            <a:fillRect/>
          </a:stretch>
        </p:blipFill>
        <p:spPr>
          <a:xfrm>
            <a:off x="1161976" y="1558311"/>
            <a:ext cx="8628530" cy="4902784"/>
          </a:xfrm>
        </p:spPr>
      </p:pic>
      <p:sp>
        <p:nvSpPr>
          <p:cNvPr id="2" name="Title 1">
            <a:extLst>
              <a:ext uri="{FF2B5EF4-FFF2-40B4-BE49-F238E27FC236}">
                <a16:creationId xmlns:a16="http://schemas.microsoft.com/office/drawing/2014/main" id="{9ACCE398-4E2A-8494-CA7E-3731A852FE61}"/>
              </a:ext>
            </a:extLst>
          </p:cNvPr>
          <p:cNvSpPr>
            <a:spLocks noGrp="1"/>
          </p:cNvSpPr>
          <p:nvPr>
            <p:ph type="title"/>
          </p:nvPr>
        </p:nvSpPr>
        <p:spPr>
          <a:xfrm>
            <a:off x="1024127" y="414655"/>
            <a:ext cx="10266723" cy="1499616"/>
          </a:xfrm>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From the STFT to the Spectrogram</a:t>
            </a:r>
            <a:endParaRPr lang="en-US" dirty="0"/>
          </a:p>
        </p:txBody>
      </p:sp>
      <p:sp>
        <p:nvSpPr>
          <p:cNvPr id="4" name="Footer Placeholder 3">
            <a:extLst>
              <a:ext uri="{FF2B5EF4-FFF2-40B4-BE49-F238E27FC236}">
                <a16:creationId xmlns:a16="http://schemas.microsoft.com/office/drawing/2014/main" id="{D2D8F93B-68FD-A819-0F2A-53EFF46D334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FC2F036-F3A8-0032-D0DD-6FE7CAA1ECC4}"/>
              </a:ext>
            </a:extLst>
          </p:cNvPr>
          <p:cNvSpPr>
            <a:spLocks noGrp="1"/>
          </p:cNvSpPr>
          <p:nvPr>
            <p:ph type="sldNum" sz="quarter" idx="12"/>
          </p:nvPr>
        </p:nvSpPr>
        <p:spPr/>
        <p:txBody>
          <a:bodyPr/>
          <a:lstStyle/>
          <a:p>
            <a:fld id="{382B47E1-F59F-47B3-8D16-B2A0740F319A}" type="slidenum">
              <a:rPr lang="en-US" smtClean="0"/>
              <a:pPr/>
              <a:t>36</a:t>
            </a:fld>
            <a:endParaRPr lang="en-US" dirty="0"/>
          </a:p>
        </p:txBody>
      </p:sp>
      <p:sp>
        <p:nvSpPr>
          <p:cNvPr id="9" name="Oval 8">
            <a:extLst>
              <a:ext uri="{FF2B5EF4-FFF2-40B4-BE49-F238E27FC236}">
                <a16:creationId xmlns:a16="http://schemas.microsoft.com/office/drawing/2014/main" id="{B269042F-73A3-4E1F-3790-EC87E2CAFE3B}"/>
              </a:ext>
            </a:extLst>
          </p:cNvPr>
          <p:cNvSpPr/>
          <p:nvPr/>
        </p:nvSpPr>
        <p:spPr>
          <a:xfrm>
            <a:off x="1161976" y="3327095"/>
            <a:ext cx="382345" cy="1158240"/>
          </a:xfrm>
          <a:prstGeom prst="ellipse">
            <a:avLst/>
          </a:prstGeom>
          <a:no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BD5286E-47A7-1F71-76C3-16AEF2D7B8C8}"/>
              </a:ext>
            </a:extLst>
          </p:cNvPr>
          <p:cNvCxnSpPr>
            <a:stCxn id="9" idx="3"/>
          </p:cNvCxnSpPr>
          <p:nvPr/>
        </p:nvCxnSpPr>
        <p:spPr>
          <a:xfrm flipH="1">
            <a:off x="833121" y="4315715"/>
            <a:ext cx="384848" cy="62682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43CFCAB-0371-B17B-8A1A-8C81D982638E}"/>
              </a:ext>
            </a:extLst>
          </p:cNvPr>
          <p:cNvSpPr txBox="1"/>
          <p:nvPr/>
        </p:nvSpPr>
        <p:spPr>
          <a:xfrm>
            <a:off x="335281" y="4952695"/>
            <a:ext cx="120904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Frequency</a:t>
            </a:r>
          </a:p>
        </p:txBody>
      </p:sp>
      <p:sp>
        <p:nvSpPr>
          <p:cNvPr id="15" name="TextBox 14">
            <a:extLst>
              <a:ext uri="{FF2B5EF4-FFF2-40B4-BE49-F238E27FC236}">
                <a16:creationId xmlns:a16="http://schemas.microsoft.com/office/drawing/2014/main" id="{1B117B0C-BD32-75E3-BE43-C8062A02A2E4}"/>
              </a:ext>
            </a:extLst>
          </p:cNvPr>
          <p:cNvSpPr txBox="1"/>
          <p:nvPr/>
        </p:nvSpPr>
        <p:spPr>
          <a:xfrm>
            <a:off x="9790506" y="2475054"/>
            <a:ext cx="2316481" cy="230832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In time-frequency analysis, when the representation </a:t>
            </a:r>
            <a:r>
              <a:rPr lang="en-US" b="1" dirty="0"/>
              <a:t>shifts from </a:t>
            </a:r>
            <a:r>
              <a:rPr lang="en-US" b="1" i="1" dirty="0"/>
              <a:t>frequency</a:t>
            </a:r>
            <a:r>
              <a:rPr lang="en-US" b="1" dirty="0"/>
              <a:t> to </a:t>
            </a:r>
            <a:r>
              <a:rPr lang="en-US" b="1" i="1" dirty="0"/>
              <a:t>scale</a:t>
            </a:r>
            <a:r>
              <a:rPr lang="en-US" b="1" dirty="0"/>
              <a:t> </a:t>
            </a:r>
            <a:r>
              <a:rPr lang="en-US" dirty="0"/>
              <a:t>the resulting visualization is termed a </a:t>
            </a:r>
            <a:r>
              <a:rPr lang="en-US" b="1" dirty="0">
                <a:solidFill>
                  <a:srgbClr val="C00000"/>
                </a:solidFill>
              </a:rPr>
              <a:t>Scalogram</a:t>
            </a:r>
            <a:r>
              <a:rPr lang="en-US" b="1" dirty="0"/>
              <a:t> rather than a </a:t>
            </a:r>
            <a:r>
              <a:rPr lang="en-US" b="1" dirty="0">
                <a:solidFill>
                  <a:srgbClr val="C00000"/>
                </a:solidFill>
              </a:rPr>
              <a:t>Spectrogram</a:t>
            </a:r>
            <a:r>
              <a:rPr lang="en-US" b="1" dirty="0"/>
              <a:t>.</a:t>
            </a:r>
          </a:p>
        </p:txBody>
      </p:sp>
    </p:spTree>
    <p:extLst>
      <p:ext uri="{BB962C8B-B14F-4D97-AF65-F5344CB8AC3E}">
        <p14:creationId xmlns:p14="http://schemas.microsoft.com/office/powerpoint/2010/main" val="468786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D6B2-2DF6-29C4-1CE3-098E22E87022}"/>
            </a:ext>
          </a:extLst>
        </p:cNvPr>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F8E1A1A8-0071-51BF-1A70-A19A3FC60C19}"/>
              </a:ext>
            </a:extLst>
          </p:cNvPr>
          <p:cNvPicPr>
            <a:picLocks noGrp="1" noChangeAspect="1"/>
          </p:cNvPicPr>
          <p:nvPr>
            <p:ph idx="1"/>
          </p:nvPr>
        </p:nvPicPr>
        <p:blipFill>
          <a:blip r:embed="rId2"/>
          <a:stretch>
            <a:fillRect/>
          </a:stretch>
        </p:blipFill>
        <p:spPr>
          <a:xfrm>
            <a:off x="1894840" y="1803143"/>
            <a:ext cx="8402320" cy="4640202"/>
          </a:xfrm>
        </p:spPr>
      </p:pic>
      <p:sp>
        <p:nvSpPr>
          <p:cNvPr id="2" name="Title 1">
            <a:extLst>
              <a:ext uri="{FF2B5EF4-FFF2-40B4-BE49-F238E27FC236}">
                <a16:creationId xmlns:a16="http://schemas.microsoft.com/office/drawing/2014/main" id="{05A8FF55-23D3-61AD-7791-26B96CFF1937}"/>
              </a:ext>
            </a:extLst>
          </p:cNvPr>
          <p:cNvSpPr>
            <a:spLocks noGrp="1"/>
          </p:cNvSpPr>
          <p:nvPr>
            <p:ph type="title"/>
          </p:nvPr>
        </p:nvSpPr>
        <p:spPr>
          <a:xfrm>
            <a:off x="1024127" y="414655"/>
            <a:ext cx="10266723" cy="1499616"/>
          </a:xfrm>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From the STFT to the Spectrogram</a:t>
            </a:r>
            <a:endParaRPr lang="en-US" dirty="0"/>
          </a:p>
        </p:txBody>
      </p:sp>
      <p:sp>
        <p:nvSpPr>
          <p:cNvPr id="4" name="Footer Placeholder 3">
            <a:extLst>
              <a:ext uri="{FF2B5EF4-FFF2-40B4-BE49-F238E27FC236}">
                <a16:creationId xmlns:a16="http://schemas.microsoft.com/office/drawing/2014/main" id="{214F09BD-85B3-8638-F39E-04F4300BAB2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71DF402-7B48-5A5E-FFE9-5F9732F396AF}"/>
              </a:ext>
            </a:extLst>
          </p:cNvPr>
          <p:cNvSpPr>
            <a:spLocks noGrp="1"/>
          </p:cNvSpPr>
          <p:nvPr>
            <p:ph type="sldNum" sz="quarter" idx="12"/>
          </p:nvPr>
        </p:nvSpPr>
        <p:spPr/>
        <p:txBody>
          <a:bodyPr/>
          <a:lstStyle/>
          <a:p>
            <a:fld id="{382B47E1-F59F-47B3-8D16-B2A0740F319A}" type="slidenum">
              <a:rPr lang="en-US" smtClean="0"/>
              <a:pPr/>
              <a:t>37</a:t>
            </a:fld>
            <a:endParaRPr lang="en-US" dirty="0"/>
          </a:p>
        </p:txBody>
      </p:sp>
      <p:sp>
        <p:nvSpPr>
          <p:cNvPr id="9" name="Oval 8">
            <a:extLst>
              <a:ext uri="{FF2B5EF4-FFF2-40B4-BE49-F238E27FC236}">
                <a16:creationId xmlns:a16="http://schemas.microsoft.com/office/drawing/2014/main" id="{D6AD38D9-0CB2-7AC3-A5D5-F98CA27D0EA5}"/>
              </a:ext>
            </a:extLst>
          </p:cNvPr>
          <p:cNvSpPr/>
          <p:nvPr/>
        </p:nvSpPr>
        <p:spPr>
          <a:xfrm>
            <a:off x="2329308" y="3906326"/>
            <a:ext cx="500945" cy="1158240"/>
          </a:xfrm>
          <a:prstGeom prst="ellipse">
            <a:avLst/>
          </a:prstGeom>
          <a:noFill/>
          <a:ln>
            <a:solidFill>
              <a:srgbClr val="7030A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E3E9DDE-8E25-E526-3A9F-22F5B9C2FFB4}"/>
              </a:ext>
            </a:extLst>
          </p:cNvPr>
          <p:cNvCxnSpPr>
            <a:cxnSpLocks/>
          </p:cNvCxnSpPr>
          <p:nvPr/>
        </p:nvCxnSpPr>
        <p:spPr>
          <a:xfrm flipH="1">
            <a:off x="1706880" y="4485446"/>
            <a:ext cx="622428" cy="472634"/>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94FC08F-C715-E690-12E6-EC0DA4DC66B8}"/>
              </a:ext>
            </a:extLst>
          </p:cNvPr>
          <p:cNvSpPr txBox="1"/>
          <p:nvPr/>
        </p:nvSpPr>
        <p:spPr>
          <a:xfrm>
            <a:off x="497840" y="4958080"/>
            <a:ext cx="120904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Frequency</a:t>
            </a:r>
          </a:p>
        </p:txBody>
      </p:sp>
    </p:spTree>
    <p:extLst>
      <p:ext uri="{BB962C8B-B14F-4D97-AF65-F5344CB8AC3E}">
        <p14:creationId xmlns:p14="http://schemas.microsoft.com/office/powerpoint/2010/main" val="478163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367D6-0557-D7B5-E46E-C8ED27CA77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B2A40-DB06-C981-22A6-FC6D96C2ABB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STFT – SPECIAL CASE ( THE GABOR TRANSFORM )</a:t>
            </a:r>
            <a:endParaRPr lang="en-US" dirty="0"/>
          </a:p>
        </p:txBody>
      </p:sp>
      <p:sp>
        <p:nvSpPr>
          <p:cNvPr id="5" name="Footer Placeholder 4">
            <a:extLst>
              <a:ext uri="{FF2B5EF4-FFF2-40B4-BE49-F238E27FC236}">
                <a16:creationId xmlns:a16="http://schemas.microsoft.com/office/drawing/2014/main" id="{C7AB6931-9F75-82BD-A759-D82454630DA9}"/>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F9269409-B3D7-3AC6-C682-7F0ED900D1A0}"/>
              </a:ext>
            </a:extLst>
          </p:cNvPr>
          <p:cNvSpPr>
            <a:spLocks noGrp="1"/>
          </p:cNvSpPr>
          <p:nvPr>
            <p:ph type="sldNum" sz="quarter" idx="12"/>
          </p:nvPr>
        </p:nvSpPr>
        <p:spPr/>
        <p:txBody>
          <a:bodyPr/>
          <a:lstStyle/>
          <a:p>
            <a:fld id="{382B47E1-F59F-47B3-8D16-B2A0740F319A}" type="slidenum">
              <a:rPr lang="en-US" sz="1600" smtClean="0"/>
              <a:t>38</a:t>
            </a:fld>
            <a:endParaRPr lang="en-US" sz="1600" dirty="0"/>
          </a:p>
        </p:txBody>
      </p:sp>
      <p:pic>
        <p:nvPicPr>
          <p:cNvPr id="12" name="Content Placeholder 11">
            <a:extLst>
              <a:ext uri="{FF2B5EF4-FFF2-40B4-BE49-F238E27FC236}">
                <a16:creationId xmlns:a16="http://schemas.microsoft.com/office/drawing/2014/main" id="{BE08FAFB-B38A-EAC3-3178-D82DE5F97BB0}"/>
              </a:ext>
            </a:extLst>
          </p:cNvPr>
          <p:cNvPicPr>
            <a:picLocks noGrp="1" noChangeAspect="1"/>
          </p:cNvPicPr>
          <p:nvPr>
            <p:ph sz="half" idx="1"/>
          </p:nvPr>
        </p:nvPicPr>
        <p:blipFill>
          <a:blip r:embed="rId3"/>
          <a:stretch>
            <a:fillRect/>
          </a:stretch>
        </p:blipFill>
        <p:spPr>
          <a:xfrm>
            <a:off x="1075956" y="2084832"/>
            <a:ext cx="10040088" cy="2521534"/>
          </a:xfrm>
        </p:spPr>
      </p:pic>
      <p:pic>
        <p:nvPicPr>
          <p:cNvPr id="15" name="Picture 14">
            <a:extLst>
              <a:ext uri="{FF2B5EF4-FFF2-40B4-BE49-F238E27FC236}">
                <a16:creationId xmlns:a16="http://schemas.microsoft.com/office/drawing/2014/main" id="{4BCFB247-B7C9-A125-FB07-C98EC1C49596}"/>
              </a:ext>
            </a:extLst>
          </p:cNvPr>
          <p:cNvPicPr>
            <a:picLocks noChangeAspect="1"/>
          </p:cNvPicPr>
          <p:nvPr/>
        </p:nvPicPr>
        <p:blipFill>
          <a:blip r:embed="rId4"/>
          <a:stretch>
            <a:fillRect/>
          </a:stretch>
        </p:blipFill>
        <p:spPr>
          <a:xfrm>
            <a:off x="989890" y="4606366"/>
            <a:ext cx="10112606" cy="1681569"/>
          </a:xfrm>
          <a:prstGeom prst="rect">
            <a:avLst/>
          </a:prstGeom>
        </p:spPr>
      </p:pic>
    </p:spTree>
    <p:extLst>
      <p:ext uri="{BB962C8B-B14F-4D97-AF65-F5344CB8AC3E}">
        <p14:creationId xmlns:p14="http://schemas.microsoft.com/office/powerpoint/2010/main" val="1513123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29D4-5339-7852-FE6C-77AE69684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EA054-488B-76AE-55B4-4F785810387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STFT – SPECIAL CASE ( THE GABOR TRANSFORM )</a:t>
            </a:r>
            <a:endParaRPr lang="en-US" dirty="0"/>
          </a:p>
        </p:txBody>
      </p:sp>
      <p:sp>
        <p:nvSpPr>
          <p:cNvPr id="5" name="Footer Placeholder 4">
            <a:extLst>
              <a:ext uri="{FF2B5EF4-FFF2-40B4-BE49-F238E27FC236}">
                <a16:creationId xmlns:a16="http://schemas.microsoft.com/office/drawing/2014/main" id="{8E44FD53-166B-93E9-2532-9C2323158A38}"/>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C65116D5-1389-FCB9-989D-E7C494F6E977}"/>
              </a:ext>
            </a:extLst>
          </p:cNvPr>
          <p:cNvSpPr>
            <a:spLocks noGrp="1"/>
          </p:cNvSpPr>
          <p:nvPr>
            <p:ph type="sldNum" sz="quarter" idx="12"/>
          </p:nvPr>
        </p:nvSpPr>
        <p:spPr/>
        <p:txBody>
          <a:bodyPr/>
          <a:lstStyle/>
          <a:p>
            <a:fld id="{382B47E1-F59F-47B3-8D16-B2A0740F319A}" type="slidenum">
              <a:rPr lang="en-US" sz="1600" smtClean="0"/>
              <a:t>39</a:t>
            </a:fld>
            <a:endParaRPr lang="en-US" sz="1600" dirty="0"/>
          </a:p>
        </p:txBody>
      </p:sp>
      <p:pic>
        <p:nvPicPr>
          <p:cNvPr id="8" name="Content Placeholder 7">
            <a:extLst>
              <a:ext uri="{FF2B5EF4-FFF2-40B4-BE49-F238E27FC236}">
                <a16:creationId xmlns:a16="http://schemas.microsoft.com/office/drawing/2014/main" id="{D5D461B0-BE31-9DDE-2740-F17B05E5D601}"/>
              </a:ext>
            </a:extLst>
          </p:cNvPr>
          <p:cNvPicPr>
            <a:picLocks noGrp="1" noChangeAspect="1"/>
          </p:cNvPicPr>
          <p:nvPr>
            <p:ph sz="half" idx="1"/>
          </p:nvPr>
        </p:nvPicPr>
        <p:blipFill>
          <a:blip r:embed="rId3"/>
          <a:stretch>
            <a:fillRect/>
          </a:stretch>
        </p:blipFill>
        <p:spPr>
          <a:xfrm>
            <a:off x="1087326" y="2084832"/>
            <a:ext cx="10017347" cy="4073443"/>
          </a:xfrm>
        </p:spPr>
      </p:pic>
    </p:spTree>
    <p:extLst>
      <p:ext uri="{BB962C8B-B14F-4D97-AF65-F5344CB8AC3E}">
        <p14:creationId xmlns:p14="http://schemas.microsoft.com/office/powerpoint/2010/main" val="19456047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0E08E-AEBD-8A61-57E2-F38894DBA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A5E1B-CB7A-6D96-940C-989F60475146}"/>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STFT – SPECIAL CASE ( THE GABOR TRANSFORM )</a:t>
            </a:r>
            <a:endParaRPr lang="en-US" dirty="0"/>
          </a:p>
        </p:txBody>
      </p:sp>
      <p:sp>
        <p:nvSpPr>
          <p:cNvPr id="5" name="Footer Placeholder 4">
            <a:extLst>
              <a:ext uri="{FF2B5EF4-FFF2-40B4-BE49-F238E27FC236}">
                <a16:creationId xmlns:a16="http://schemas.microsoft.com/office/drawing/2014/main" id="{1C5A6195-4B10-577E-37BC-DB06D05D9606}"/>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66A998DC-7C93-BFB1-35FE-D8041658A83C}"/>
              </a:ext>
            </a:extLst>
          </p:cNvPr>
          <p:cNvSpPr>
            <a:spLocks noGrp="1"/>
          </p:cNvSpPr>
          <p:nvPr>
            <p:ph type="sldNum" sz="quarter" idx="12"/>
          </p:nvPr>
        </p:nvSpPr>
        <p:spPr/>
        <p:txBody>
          <a:bodyPr/>
          <a:lstStyle/>
          <a:p>
            <a:fld id="{382B47E1-F59F-47B3-8D16-B2A0740F319A}" type="slidenum">
              <a:rPr lang="en-US" sz="1600" smtClean="0"/>
              <a:t>40</a:t>
            </a:fld>
            <a:endParaRPr lang="en-US" sz="1600" dirty="0"/>
          </a:p>
        </p:txBody>
      </p:sp>
      <p:sp>
        <p:nvSpPr>
          <p:cNvPr id="4" name="Content Placeholder 3">
            <a:extLst>
              <a:ext uri="{FF2B5EF4-FFF2-40B4-BE49-F238E27FC236}">
                <a16:creationId xmlns:a16="http://schemas.microsoft.com/office/drawing/2014/main" id="{E4450CA8-D278-04C5-9506-DAA3F9B98B59}"/>
              </a:ext>
            </a:extLst>
          </p:cNvPr>
          <p:cNvSpPr>
            <a:spLocks noGrp="1"/>
          </p:cNvSpPr>
          <p:nvPr>
            <p:ph sz="half" idx="1"/>
          </p:nvPr>
        </p:nvSpPr>
        <p:spPr>
          <a:xfrm>
            <a:off x="1024126" y="2286000"/>
            <a:ext cx="10304273" cy="4023360"/>
          </a:xfrm>
        </p:spPr>
        <p:txBody>
          <a:bodyPr/>
          <a:lstStyle/>
          <a:p>
            <a:pPr>
              <a:buFont typeface="Wingdings" panose="05000000000000000000" pitchFamily="2" charset="2"/>
              <a:buChar char="q"/>
            </a:pPr>
            <a:r>
              <a:rPr lang="en-US" dirty="0"/>
              <a:t> The time-frequency analysis allows us to recover both the frequencies (notes) and the temporal information (order in time) of the signal:</a:t>
            </a:r>
          </a:p>
        </p:txBody>
      </p:sp>
      <p:pic>
        <p:nvPicPr>
          <p:cNvPr id="11" name="Picture 10">
            <a:extLst>
              <a:ext uri="{FF2B5EF4-FFF2-40B4-BE49-F238E27FC236}">
                <a16:creationId xmlns:a16="http://schemas.microsoft.com/office/drawing/2014/main" id="{D2056257-6B67-E6D1-C222-7888081589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79729" y="3370079"/>
            <a:ext cx="4896533" cy="2211947"/>
          </a:xfrm>
          <a:prstGeom prst="rect">
            <a:avLst/>
          </a:prstGeom>
        </p:spPr>
      </p:pic>
      <p:pic>
        <p:nvPicPr>
          <p:cNvPr id="13" name="Picture 12">
            <a:extLst>
              <a:ext uri="{FF2B5EF4-FFF2-40B4-BE49-F238E27FC236}">
                <a16:creationId xmlns:a16="http://schemas.microsoft.com/office/drawing/2014/main" id="{CF8C68A2-2628-382B-DC29-400940511F84}"/>
              </a:ext>
            </a:extLst>
          </p:cNvPr>
          <p:cNvPicPr>
            <a:picLocks noChangeAspect="1"/>
          </p:cNvPicPr>
          <p:nvPr/>
        </p:nvPicPr>
        <p:blipFill>
          <a:blip r:embed="rId4"/>
          <a:stretch>
            <a:fillRect/>
          </a:stretch>
        </p:blipFill>
        <p:spPr>
          <a:xfrm>
            <a:off x="6554100" y="3429000"/>
            <a:ext cx="5029902" cy="1924319"/>
          </a:xfrm>
          <a:prstGeom prst="rect">
            <a:avLst/>
          </a:prstGeom>
        </p:spPr>
      </p:pic>
      <p:pic>
        <p:nvPicPr>
          <p:cNvPr id="17" name="Picture 16">
            <a:extLst>
              <a:ext uri="{FF2B5EF4-FFF2-40B4-BE49-F238E27FC236}">
                <a16:creationId xmlns:a16="http://schemas.microsoft.com/office/drawing/2014/main" id="{F09CA471-CEBE-255D-8600-AED556B71AC7}"/>
              </a:ext>
            </a:extLst>
          </p:cNvPr>
          <p:cNvPicPr>
            <a:picLocks noChangeAspect="1"/>
          </p:cNvPicPr>
          <p:nvPr/>
        </p:nvPicPr>
        <p:blipFill>
          <a:blip r:embed="rId5"/>
          <a:stretch>
            <a:fillRect/>
          </a:stretch>
        </p:blipFill>
        <p:spPr>
          <a:xfrm>
            <a:off x="2107287" y="5486872"/>
            <a:ext cx="8526065" cy="685896"/>
          </a:xfrm>
          <a:prstGeom prst="rect">
            <a:avLst/>
          </a:prstGeom>
        </p:spPr>
      </p:pic>
    </p:spTree>
    <p:extLst>
      <p:ext uri="{BB962C8B-B14F-4D97-AF65-F5344CB8AC3E}">
        <p14:creationId xmlns:p14="http://schemas.microsoft.com/office/powerpoint/2010/main" val="36895739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1A9EE7A-3E89-8AEE-EA53-DEBE4847559B}"/>
              </a:ext>
            </a:extLst>
          </p:cNvPr>
          <p:cNvPicPr>
            <a:picLocks noGrp="1" noChangeAspect="1"/>
          </p:cNvPicPr>
          <p:nvPr>
            <p:ph sz="half" idx="1"/>
          </p:nvPr>
        </p:nvPicPr>
        <p:blipFill>
          <a:blip r:embed="rId2"/>
          <a:stretch>
            <a:fillRect/>
          </a:stretch>
        </p:blipFill>
        <p:spPr>
          <a:xfrm>
            <a:off x="2951242" y="1618309"/>
            <a:ext cx="6698513" cy="1810691"/>
          </a:xfrm>
        </p:spPr>
      </p:pic>
      <p:sp>
        <p:nvSpPr>
          <p:cNvPr id="2" name="Title 1">
            <a:extLst>
              <a:ext uri="{FF2B5EF4-FFF2-40B4-BE49-F238E27FC236}">
                <a16:creationId xmlns:a16="http://schemas.microsoft.com/office/drawing/2014/main" id="{75545E9F-2585-2FA3-8474-2AA02F020CE1}"/>
              </a:ext>
            </a:extLst>
          </p:cNvPr>
          <p:cNvSpPr>
            <a:spLocks noGrp="1"/>
          </p:cNvSpPr>
          <p:nvPr>
            <p:ph type="title"/>
          </p:nvPr>
        </p:nvSpPr>
        <p:spPr>
          <a:xfrm>
            <a:off x="1024319" y="436360"/>
            <a:ext cx="9720072" cy="1499616"/>
          </a:xfrm>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STFT – Analogy with music scores</a:t>
            </a:r>
            <a:endParaRPr lang="en-US" dirty="0"/>
          </a:p>
        </p:txBody>
      </p:sp>
      <p:pic>
        <p:nvPicPr>
          <p:cNvPr id="10" name="Content Placeholder 9">
            <a:extLst>
              <a:ext uri="{FF2B5EF4-FFF2-40B4-BE49-F238E27FC236}">
                <a16:creationId xmlns:a16="http://schemas.microsoft.com/office/drawing/2014/main" id="{880030F2-861B-ED2C-1455-9A282720F2B8}"/>
              </a:ext>
            </a:extLst>
          </p:cNvPr>
          <p:cNvPicPr>
            <a:picLocks noGrp="1" noChangeAspect="1"/>
          </p:cNvPicPr>
          <p:nvPr>
            <p:ph sz="half" idx="2"/>
          </p:nvPr>
        </p:nvPicPr>
        <p:blipFill>
          <a:blip r:embed="rId3"/>
          <a:stretch>
            <a:fillRect/>
          </a:stretch>
        </p:blipFill>
        <p:spPr>
          <a:xfrm>
            <a:off x="3637754" y="3245426"/>
            <a:ext cx="5325491" cy="3265714"/>
          </a:xfrm>
        </p:spPr>
      </p:pic>
      <p:sp>
        <p:nvSpPr>
          <p:cNvPr id="5" name="Footer Placeholder 4">
            <a:extLst>
              <a:ext uri="{FF2B5EF4-FFF2-40B4-BE49-F238E27FC236}">
                <a16:creationId xmlns:a16="http://schemas.microsoft.com/office/drawing/2014/main" id="{635B9694-0DC8-E5E9-7BD5-D99F441F195B}"/>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3D5F00BF-11F5-C893-1C43-2977E97CA4D3}"/>
              </a:ext>
            </a:extLst>
          </p:cNvPr>
          <p:cNvSpPr>
            <a:spLocks noGrp="1"/>
          </p:cNvSpPr>
          <p:nvPr>
            <p:ph type="sldNum" sz="quarter" idx="12"/>
          </p:nvPr>
        </p:nvSpPr>
        <p:spPr/>
        <p:txBody>
          <a:bodyPr/>
          <a:lstStyle/>
          <a:p>
            <a:fld id="{382B47E1-F59F-47B3-8D16-B2A0740F319A}" type="slidenum">
              <a:rPr lang="en-US" sz="1600" smtClean="0"/>
              <a:t>41</a:t>
            </a:fld>
            <a:endParaRPr lang="en-US" sz="1600" dirty="0"/>
          </a:p>
        </p:txBody>
      </p:sp>
      <p:sp>
        <p:nvSpPr>
          <p:cNvPr id="12" name="TextBox 11">
            <a:extLst>
              <a:ext uri="{FF2B5EF4-FFF2-40B4-BE49-F238E27FC236}">
                <a16:creationId xmlns:a16="http://schemas.microsoft.com/office/drawing/2014/main" id="{DCD02329-D14E-A157-4D55-E47A01994523}"/>
              </a:ext>
            </a:extLst>
          </p:cNvPr>
          <p:cNvSpPr txBox="1"/>
          <p:nvPr/>
        </p:nvSpPr>
        <p:spPr>
          <a:xfrm>
            <a:off x="587669" y="5267696"/>
            <a:ext cx="2368183"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dirty="0"/>
              <a:t>Credits:</a:t>
            </a:r>
          </a:p>
          <a:p>
            <a:pPr algn="ctr"/>
            <a:r>
              <a:rPr lang="en-US" dirty="0"/>
              <a:t> Patrick Flandrin, </a:t>
            </a:r>
          </a:p>
          <a:p>
            <a:pPr algn="ctr"/>
            <a:r>
              <a:rPr lang="en-US" dirty="0"/>
              <a:t>"Au-</a:t>
            </a:r>
            <a:r>
              <a:rPr lang="en-US" dirty="0" err="1"/>
              <a:t>delà</a:t>
            </a:r>
            <a:r>
              <a:rPr lang="en-US" dirty="0"/>
              <a:t> de Fourier, un monde qui vibre" (interstices.info)</a:t>
            </a:r>
          </a:p>
        </p:txBody>
      </p:sp>
    </p:spTree>
    <p:extLst>
      <p:ext uri="{BB962C8B-B14F-4D97-AF65-F5344CB8AC3E}">
        <p14:creationId xmlns:p14="http://schemas.microsoft.com/office/powerpoint/2010/main" val="14136568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C6573-7566-4104-05B3-B86E58D88D9A}"/>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FAC097CC-B229-15A2-EDC3-398F2144F818}"/>
              </a:ext>
            </a:extLst>
          </p:cNvPr>
          <p:cNvSpPr txBox="1"/>
          <p:nvPr/>
        </p:nvSpPr>
        <p:spPr>
          <a:xfrm>
            <a:off x="72924" y="3429000"/>
            <a:ext cx="6286139" cy="185576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en-US" dirty="0"/>
          </a:p>
        </p:txBody>
      </p:sp>
      <p:sp>
        <p:nvSpPr>
          <p:cNvPr id="2" name="Title 1">
            <a:extLst>
              <a:ext uri="{FF2B5EF4-FFF2-40B4-BE49-F238E27FC236}">
                <a16:creationId xmlns:a16="http://schemas.microsoft.com/office/drawing/2014/main" id="{5692BD34-B91A-418E-DFFC-C18EB2FB3E67}"/>
              </a:ext>
            </a:extLst>
          </p:cNvPr>
          <p:cNvSpPr>
            <a:spLocks noGrp="1"/>
          </p:cNvSpPr>
          <p:nvPr>
            <p:ph type="title"/>
          </p:nvPr>
        </p:nvSpPr>
        <p:spPr>
          <a:xfrm>
            <a:off x="1024319" y="436360"/>
            <a:ext cx="9720072" cy="1499616"/>
          </a:xfrm>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 boxes - Time-frequency localization and spread</a:t>
            </a:r>
            <a:endParaRPr lang="en-US" dirty="0"/>
          </a:p>
        </p:txBody>
      </p:sp>
      <p:sp>
        <p:nvSpPr>
          <p:cNvPr id="5" name="Footer Placeholder 4">
            <a:extLst>
              <a:ext uri="{FF2B5EF4-FFF2-40B4-BE49-F238E27FC236}">
                <a16:creationId xmlns:a16="http://schemas.microsoft.com/office/drawing/2014/main" id="{C75F4419-D362-994D-A33E-CD8FED8E71A8}"/>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31146DD1-0BA0-C172-0314-A0B433E46593}"/>
              </a:ext>
            </a:extLst>
          </p:cNvPr>
          <p:cNvSpPr>
            <a:spLocks noGrp="1"/>
          </p:cNvSpPr>
          <p:nvPr>
            <p:ph type="sldNum" sz="quarter" idx="12"/>
          </p:nvPr>
        </p:nvSpPr>
        <p:spPr/>
        <p:txBody>
          <a:bodyPr/>
          <a:lstStyle/>
          <a:p>
            <a:fld id="{382B47E1-F59F-47B3-8D16-B2A0740F319A}" type="slidenum">
              <a:rPr lang="en-US" sz="1600" smtClean="0"/>
              <a:t>42</a:t>
            </a:fld>
            <a:endParaRPr lang="en-US" sz="1600" dirty="0"/>
          </a:p>
        </p:txBody>
      </p:sp>
      <p:pic>
        <p:nvPicPr>
          <p:cNvPr id="15" name="Picture 14">
            <a:extLst>
              <a:ext uri="{FF2B5EF4-FFF2-40B4-BE49-F238E27FC236}">
                <a16:creationId xmlns:a16="http://schemas.microsoft.com/office/drawing/2014/main" id="{100F1A1B-5760-BC05-1777-7760D8A9451A}"/>
              </a:ext>
            </a:extLst>
          </p:cNvPr>
          <p:cNvPicPr>
            <a:picLocks noChangeAspect="1"/>
          </p:cNvPicPr>
          <p:nvPr/>
        </p:nvPicPr>
        <p:blipFill>
          <a:blip r:embed="rId2"/>
          <a:stretch>
            <a:fillRect/>
          </a:stretch>
        </p:blipFill>
        <p:spPr>
          <a:xfrm>
            <a:off x="6359063" y="1847629"/>
            <a:ext cx="5528586" cy="4574011"/>
          </a:xfrm>
          <a:prstGeom prst="rect">
            <a:avLst/>
          </a:prstGeom>
        </p:spPr>
      </p:pic>
      <p:pic>
        <p:nvPicPr>
          <p:cNvPr id="19" name="Content Placeholder 18">
            <a:extLst>
              <a:ext uri="{FF2B5EF4-FFF2-40B4-BE49-F238E27FC236}">
                <a16:creationId xmlns:a16="http://schemas.microsoft.com/office/drawing/2014/main" id="{EE5DDC9F-5E80-0C75-397B-D79BA8B67885}"/>
              </a:ext>
            </a:extLst>
          </p:cNvPr>
          <p:cNvPicPr>
            <a:picLocks noGrp="1" noChangeAspect="1"/>
          </p:cNvPicPr>
          <p:nvPr>
            <p:ph sz="half" idx="2"/>
          </p:nvPr>
        </p:nvPicPr>
        <p:blipFill>
          <a:blip r:embed="rId3"/>
          <a:stretch>
            <a:fillRect/>
          </a:stretch>
        </p:blipFill>
        <p:spPr>
          <a:xfrm>
            <a:off x="341043" y="2391486"/>
            <a:ext cx="6023076" cy="4998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21" name="Picture 20">
            <a:extLst>
              <a:ext uri="{FF2B5EF4-FFF2-40B4-BE49-F238E27FC236}">
                <a16:creationId xmlns:a16="http://schemas.microsoft.com/office/drawing/2014/main" id="{03B0EBC3-FB02-C8EC-F995-05C29BA44D64}"/>
              </a:ext>
            </a:extLst>
          </p:cNvPr>
          <p:cNvPicPr>
            <a:picLocks noChangeAspect="1"/>
          </p:cNvPicPr>
          <p:nvPr/>
        </p:nvPicPr>
        <p:blipFill>
          <a:blip r:embed="rId4"/>
          <a:stretch>
            <a:fillRect/>
          </a:stretch>
        </p:blipFill>
        <p:spPr>
          <a:xfrm>
            <a:off x="131686" y="3499050"/>
            <a:ext cx="6168613" cy="771633"/>
          </a:xfrm>
          <a:prstGeom prst="rect">
            <a:avLst/>
          </a:prstGeom>
        </p:spPr>
      </p:pic>
      <p:pic>
        <p:nvPicPr>
          <p:cNvPr id="23" name="Picture 22">
            <a:extLst>
              <a:ext uri="{FF2B5EF4-FFF2-40B4-BE49-F238E27FC236}">
                <a16:creationId xmlns:a16="http://schemas.microsoft.com/office/drawing/2014/main" id="{B018C21F-0F07-59F7-3BD4-5F23CB60A802}"/>
              </a:ext>
            </a:extLst>
          </p:cNvPr>
          <p:cNvPicPr>
            <a:picLocks noChangeAspect="1"/>
          </p:cNvPicPr>
          <p:nvPr/>
        </p:nvPicPr>
        <p:blipFill>
          <a:blip r:embed="rId5"/>
          <a:stretch>
            <a:fillRect/>
          </a:stretch>
        </p:blipFill>
        <p:spPr>
          <a:xfrm>
            <a:off x="131686" y="4491469"/>
            <a:ext cx="6168613" cy="633707"/>
          </a:xfrm>
          <a:prstGeom prst="rect">
            <a:avLst/>
          </a:prstGeom>
        </p:spPr>
      </p:pic>
    </p:spTree>
    <p:extLst>
      <p:ext uri="{BB962C8B-B14F-4D97-AF65-F5344CB8AC3E}">
        <p14:creationId xmlns:p14="http://schemas.microsoft.com/office/powerpoint/2010/main" val="24596121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23949-1781-5BFB-19C9-C0ADA9CD7B2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 boxes - Time-frequency localization and spread</a:t>
            </a:r>
            <a:endParaRPr lang="en-US" dirty="0"/>
          </a:p>
        </p:txBody>
      </p:sp>
      <p:pic>
        <p:nvPicPr>
          <p:cNvPr id="7" name="Content Placeholder 6">
            <a:extLst>
              <a:ext uri="{FF2B5EF4-FFF2-40B4-BE49-F238E27FC236}">
                <a16:creationId xmlns:a16="http://schemas.microsoft.com/office/drawing/2014/main" id="{500976F4-BB92-61B9-BE08-ADD3324DFE59}"/>
              </a:ext>
            </a:extLst>
          </p:cNvPr>
          <p:cNvPicPr>
            <a:picLocks noGrp="1" noChangeAspect="1"/>
          </p:cNvPicPr>
          <p:nvPr>
            <p:ph idx="1"/>
          </p:nvPr>
        </p:nvPicPr>
        <p:blipFill>
          <a:blip r:embed="rId2"/>
          <a:stretch>
            <a:fillRect/>
          </a:stretch>
        </p:blipFill>
        <p:spPr>
          <a:xfrm>
            <a:off x="5402654" y="1765064"/>
            <a:ext cx="5888196" cy="4833191"/>
          </a:xfrm>
        </p:spPr>
      </p:pic>
      <p:sp>
        <p:nvSpPr>
          <p:cNvPr id="4" name="Footer Placeholder 3">
            <a:extLst>
              <a:ext uri="{FF2B5EF4-FFF2-40B4-BE49-F238E27FC236}">
                <a16:creationId xmlns:a16="http://schemas.microsoft.com/office/drawing/2014/main" id="{A513ED85-23C1-E4F6-9640-D8AB14BAE03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47019A8-7D30-381B-B4EC-17770343F0C3}"/>
              </a:ext>
            </a:extLst>
          </p:cNvPr>
          <p:cNvSpPr>
            <a:spLocks noGrp="1"/>
          </p:cNvSpPr>
          <p:nvPr>
            <p:ph type="sldNum" sz="quarter" idx="12"/>
          </p:nvPr>
        </p:nvSpPr>
        <p:spPr/>
        <p:txBody>
          <a:bodyPr/>
          <a:lstStyle/>
          <a:p>
            <a:fld id="{382B47E1-F59F-47B3-8D16-B2A0740F319A}" type="slidenum">
              <a:rPr lang="en-US" smtClean="0"/>
              <a:pPr/>
              <a:t>43</a:t>
            </a:fld>
            <a:endParaRPr lang="en-US"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77F24F0-FDBC-9E63-890B-A19FDD458963}"/>
                  </a:ext>
                </a:extLst>
              </p:cNvPr>
              <p:cNvSpPr txBox="1"/>
              <p:nvPr/>
            </p:nvSpPr>
            <p:spPr>
              <a:xfrm>
                <a:off x="1024127" y="3262691"/>
                <a:ext cx="4175760" cy="1648465"/>
              </a:xfrm>
              <a:prstGeom prst="rect">
                <a:avLst/>
              </a:prstGeom>
              <a:noFill/>
            </p:spPr>
            <p:txBody>
              <a:bodyPr wrap="square" rtlCol="0">
                <a:spAutoFit/>
              </a:bodyPr>
              <a:lstStyle/>
              <a:p>
                <a:pPr marL="285750" indent="-285750" algn="ctr">
                  <a:buFont typeface="Wingdings" panose="05000000000000000000" pitchFamily="2" charset="2"/>
                  <a:buChar char="q"/>
                </a:pPr>
                <a:r>
                  <a:rPr lang="en-US" sz="2000" b="1" dirty="0"/>
                  <a:t>Can we construct a function </a:t>
                </a:r>
                <a14:m>
                  <m:oMath xmlns:m="http://schemas.openxmlformats.org/officeDocument/2006/math">
                    <m:r>
                      <a:rPr lang="en-US" sz="2000" b="1" i="1" dirty="0" smtClean="0">
                        <a:latin typeface="Cambria Math" panose="02040503050406030204" pitchFamily="18" charset="0"/>
                      </a:rPr>
                      <m:t>𝒇</m:t>
                    </m:r>
                  </m:oMath>
                </a14:m>
                <a:r>
                  <a:rPr lang="en-US" sz="2000" b="1" dirty="0"/>
                  <a:t> with energy that is highly localized</a:t>
                </a:r>
                <a:r>
                  <a:rPr lang="fa-IR" sz="2000" b="1" dirty="0"/>
                  <a:t> </a:t>
                </a:r>
                <a:r>
                  <a:rPr lang="en-US" sz="2000" b="1" dirty="0"/>
                  <a:t>in time, while its Fourier transform</a:t>
                </a:r>
                <a:r>
                  <a:rPr lang="fa-IR" sz="2000" b="1" dirty="0"/>
                  <a:t> </a:t>
                </a:r>
                <a14:m>
                  <m:oMath xmlns:m="http://schemas.openxmlformats.org/officeDocument/2006/math">
                    <m:acc>
                      <m:accPr>
                        <m:chr m:val="̂"/>
                        <m:ctrlPr>
                          <a:rPr lang="fa-IR" sz="2000" b="1" i="1" smtClean="0">
                            <a:latin typeface="Cambria Math" panose="02040503050406030204" pitchFamily="18" charset="0"/>
                          </a:rPr>
                        </m:ctrlPr>
                      </m:accPr>
                      <m:e>
                        <m:r>
                          <a:rPr lang="en-US" sz="2000" b="1" i="1" smtClean="0">
                            <a:latin typeface="Cambria Math" panose="02040503050406030204" pitchFamily="18" charset="0"/>
                          </a:rPr>
                          <m:t>𝒇</m:t>
                        </m:r>
                      </m:e>
                    </m:acc>
                    <m:r>
                      <a:rPr lang="en-US" sz="2000" b="1" i="1" smtClean="0">
                        <a:latin typeface="Cambria Math" panose="02040503050406030204" pitchFamily="18" charset="0"/>
                      </a:rPr>
                      <m:t> </m:t>
                    </m:r>
                  </m:oMath>
                </a14:m>
                <a:r>
                  <a:rPr lang="en-US" sz="2000" b="1" dirty="0"/>
                  <a:t>has energy</a:t>
                </a:r>
                <a:r>
                  <a:rPr lang="fa-IR" sz="2000" b="1" dirty="0"/>
                  <a:t> </a:t>
                </a:r>
                <a:r>
                  <a:rPr lang="en-US" sz="2000" b="1" dirty="0"/>
                  <a:t>concentrated in a</a:t>
                </a:r>
                <a:r>
                  <a:rPr lang="fa-IR" sz="2000" b="1" dirty="0"/>
                  <a:t> </a:t>
                </a:r>
                <a:r>
                  <a:rPr lang="en-US" sz="2000" b="1" dirty="0"/>
                  <a:t>small frequency interval?</a:t>
                </a:r>
              </a:p>
            </p:txBody>
          </p:sp>
        </mc:Choice>
        <mc:Fallback xmlns="">
          <p:sp>
            <p:nvSpPr>
              <p:cNvPr id="13" name="TextBox 12">
                <a:extLst>
                  <a:ext uri="{FF2B5EF4-FFF2-40B4-BE49-F238E27FC236}">
                    <a16:creationId xmlns:a16="http://schemas.microsoft.com/office/drawing/2014/main" id="{677F24F0-FDBC-9E63-890B-A19FDD458963}"/>
                  </a:ext>
                </a:extLst>
              </p:cNvPr>
              <p:cNvSpPr txBox="1">
                <a:spLocks noRot="1" noChangeAspect="1" noMove="1" noResize="1" noEditPoints="1" noAdjustHandles="1" noChangeArrowheads="1" noChangeShapeType="1" noTextEdit="1"/>
              </p:cNvSpPr>
              <p:nvPr/>
            </p:nvSpPr>
            <p:spPr>
              <a:xfrm>
                <a:off x="1024127" y="3262691"/>
                <a:ext cx="4175760" cy="1648465"/>
              </a:xfrm>
              <a:prstGeom prst="rect">
                <a:avLst/>
              </a:prstGeom>
              <a:blipFill>
                <a:blip r:embed="rId3"/>
                <a:stretch>
                  <a:fillRect l="-1022" t="-1845" r="-2920" b="-5535"/>
                </a:stretch>
              </a:blipFill>
            </p:spPr>
            <p:txBody>
              <a:bodyPr/>
              <a:lstStyle/>
              <a:p>
                <a:r>
                  <a:rPr lang="en-US">
                    <a:noFill/>
                  </a:rPr>
                  <a:t> </a:t>
                </a:r>
              </a:p>
            </p:txBody>
          </p:sp>
        </mc:Fallback>
      </mc:AlternateContent>
    </p:spTree>
    <p:extLst>
      <p:ext uri="{BB962C8B-B14F-4D97-AF65-F5344CB8AC3E}">
        <p14:creationId xmlns:p14="http://schemas.microsoft.com/office/powerpoint/2010/main" val="1108190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AF539-3443-7085-C717-1032BCB7B7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89651A-341C-643D-F42C-8D977F23987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 boxes - Time-frequency localization and spread</a:t>
            </a:r>
            <a:endParaRPr lang="en-US" dirty="0"/>
          </a:p>
        </p:txBody>
      </p:sp>
      <p:sp>
        <p:nvSpPr>
          <p:cNvPr id="4" name="Footer Placeholder 3">
            <a:extLst>
              <a:ext uri="{FF2B5EF4-FFF2-40B4-BE49-F238E27FC236}">
                <a16:creationId xmlns:a16="http://schemas.microsoft.com/office/drawing/2014/main" id="{DC882201-0A31-75F7-9A57-E7D68632B3F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D3103DF-7490-F166-B009-D76AC10A2AD9}"/>
              </a:ext>
            </a:extLst>
          </p:cNvPr>
          <p:cNvSpPr>
            <a:spLocks noGrp="1"/>
          </p:cNvSpPr>
          <p:nvPr>
            <p:ph type="sldNum" sz="quarter" idx="12"/>
          </p:nvPr>
        </p:nvSpPr>
        <p:spPr/>
        <p:txBody>
          <a:bodyPr/>
          <a:lstStyle/>
          <a:p>
            <a:fld id="{382B47E1-F59F-47B3-8D16-B2A0740F319A}" type="slidenum">
              <a:rPr lang="en-US" smtClean="0"/>
              <a:pPr/>
              <a:t>44</a:t>
            </a:fld>
            <a:endParaRPr lang="en-US" dirty="0"/>
          </a:p>
        </p:txBody>
      </p:sp>
      <p:pic>
        <p:nvPicPr>
          <p:cNvPr id="9" name="Content Placeholder 8">
            <a:extLst>
              <a:ext uri="{FF2B5EF4-FFF2-40B4-BE49-F238E27FC236}">
                <a16:creationId xmlns:a16="http://schemas.microsoft.com/office/drawing/2014/main" id="{DB752EAE-9749-C105-4939-874B6CDBBE40}"/>
              </a:ext>
            </a:extLst>
          </p:cNvPr>
          <p:cNvPicPr>
            <a:picLocks noGrp="1" noChangeAspect="1"/>
          </p:cNvPicPr>
          <p:nvPr>
            <p:ph idx="1"/>
          </p:nvPr>
        </p:nvPicPr>
        <p:blipFill>
          <a:blip r:embed="rId2"/>
          <a:stretch>
            <a:fillRect/>
          </a:stretch>
        </p:blipFill>
        <p:spPr>
          <a:xfrm>
            <a:off x="1852171" y="2084832"/>
            <a:ext cx="8487657" cy="3035585"/>
          </a:xfrm>
        </p:spPr>
      </p:pic>
      <p:pic>
        <p:nvPicPr>
          <p:cNvPr id="6" name="Picture 5">
            <a:extLst>
              <a:ext uri="{FF2B5EF4-FFF2-40B4-BE49-F238E27FC236}">
                <a16:creationId xmlns:a16="http://schemas.microsoft.com/office/drawing/2014/main" id="{2852DCB0-67B9-35FC-9694-E26EBB945105}"/>
              </a:ext>
            </a:extLst>
          </p:cNvPr>
          <p:cNvPicPr>
            <a:picLocks noChangeAspect="1"/>
          </p:cNvPicPr>
          <p:nvPr/>
        </p:nvPicPr>
        <p:blipFill>
          <a:blip r:embed="rId3"/>
          <a:stretch>
            <a:fillRect/>
          </a:stretch>
        </p:blipFill>
        <p:spPr>
          <a:xfrm>
            <a:off x="1561467" y="4940695"/>
            <a:ext cx="9069066" cy="1505160"/>
          </a:xfrm>
          <a:prstGeom prst="rect">
            <a:avLst/>
          </a:prstGeom>
        </p:spPr>
      </p:pic>
    </p:spTree>
    <p:extLst>
      <p:ext uri="{BB962C8B-B14F-4D97-AF65-F5344CB8AC3E}">
        <p14:creationId xmlns:p14="http://schemas.microsoft.com/office/powerpoint/2010/main" val="2231798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3345-4F0F-49F2-0FE6-FA844ACC6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A2091-E4B0-3761-ACE8-77E72F70439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1D043318-F4F7-0547-FC68-CECA329EC6C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5C2DF52-3F8E-908F-68CE-5EA872F7FE04}"/>
              </a:ext>
            </a:extLst>
          </p:cNvPr>
          <p:cNvSpPr>
            <a:spLocks noGrp="1"/>
          </p:cNvSpPr>
          <p:nvPr>
            <p:ph type="sldNum" sz="quarter" idx="12"/>
          </p:nvPr>
        </p:nvSpPr>
        <p:spPr/>
        <p:txBody>
          <a:bodyPr/>
          <a:lstStyle/>
          <a:p>
            <a:fld id="{382B47E1-F59F-47B3-8D16-B2A0740F319A}" type="slidenum">
              <a:rPr lang="en-US" smtClean="0"/>
              <a:pPr/>
              <a:t>45</a:t>
            </a:fld>
            <a:endParaRPr lang="en-US" dirty="0"/>
          </a:p>
        </p:txBody>
      </p:sp>
      <p:pic>
        <p:nvPicPr>
          <p:cNvPr id="10" name="Content Placeholder 9">
            <a:extLst>
              <a:ext uri="{FF2B5EF4-FFF2-40B4-BE49-F238E27FC236}">
                <a16:creationId xmlns:a16="http://schemas.microsoft.com/office/drawing/2014/main" id="{95788B42-0949-CAC9-AF15-5AD480E10247}"/>
              </a:ext>
            </a:extLst>
          </p:cNvPr>
          <p:cNvPicPr>
            <a:picLocks noGrp="1" noChangeAspect="1"/>
          </p:cNvPicPr>
          <p:nvPr>
            <p:ph idx="1"/>
          </p:nvPr>
        </p:nvPicPr>
        <p:blipFill>
          <a:blip r:embed="rId2"/>
          <a:stretch>
            <a:fillRect/>
          </a:stretch>
        </p:blipFill>
        <p:spPr>
          <a:xfrm>
            <a:off x="883686" y="2353243"/>
            <a:ext cx="10712997" cy="3121202"/>
          </a:xfrm>
        </p:spPr>
      </p:pic>
    </p:spTree>
    <p:extLst>
      <p:ext uri="{BB962C8B-B14F-4D97-AF65-F5344CB8AC3E}">
        <p14:creationId xmlns:p14="http://schemas.microsoft.com/office/powerpoint/2010/main" val="16960788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2321D-B90C-8ECF-520A-018FB13299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2823BA-2C8A-89D0-7032-EDE624FA825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1006FA41-23A3-F05A-5F5E-05D53E7B801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EF9281B-A6D7-BA82-4A95-6B25DCBFE648}"/>
              </a:ext>
            </a:extLst>
          </p:cNvPr>
          <p:cNvSpPr>
            <a:spLocks noGrp="1"/>
          </p:cNvSpPr>
          <p:nvPr>
            <p:ph type="sldNum" sz="quarter" idx="12"/>
          </p:nvPr>
        </p:nvSpPr>
        <p:spPr/>
        <p:txBody>
          <a:bodyPr/>
          <a:lstStyle/>
          <a:p>
            <a:fld id="{382B47E1-F59F-47B3-8D16-B2A0740F319A}" type="slidenum">
              <a:rPr lang="en-US" smtClean="0"/>
              <a:pPr/>
              <a:t>46</a:t>
            </a:fld>
            <a:endParaRPr lang="en-US" dirty="0"/>
          </a:p>
        </p:txBody>
      </p:sp>
      <p:pic>
        <p:nvPicPr>
          <p:cNvPr id="10" name="Content Placeholder 9">
            <a:extLst>
              <a:ext uri="{FF2B5EF4-FFF2-40B4-BE49-F238E27FC236}">
                <a16:creationId xmlns:a16="http://schemas.microsoft.com/office/drawing/2014/main" id="{370C0CE4-EFB9-38D9-CB03-A00AE8DD08B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033887" y="2242405"/>
            <a:ext cx="10124226" cy="3640235"/>
          </a:xfrm>
        </p:spPr>
      </p:pic>
    </p:spTree>
    <p:extLst>
      <p:ext uri="{BB962C8B-B14F-4D97-AF65-F5344CB8AC3E}">
        <p14:creationId xmlns:p14="http://schemas.microsoft.com/office/powerpoint/2010/main" val="36643648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0FFC8-452C-8B4E-062F-6BDE27C37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29891A-C017-3C74-FFE4-DF69ED0DA523}"/>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31EF767E-44FB-6998-6F13-129D0336437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A3A6870-7483-312A-314A-E5E338638039}"/>
              </a:ext>
            </a:extLst>
          </p:cNvPr>
          <p:cNvSpPr>
            <a:spLocks noGrp="1"/>
          </p:cNvSpPr>
          <p:nvPr>
            <p:ph type="sldNum" sz="quarter" idx="12"/>
          </p:nvPr>
        </p:nvSpPr>
        <p:spPr/>
        <p:txBody>
          <a:bodyPr/>
          <a:lstStyle/>
          <a:p>
            <a:fld id="{382B47E1-F59F-47B3-8D16-B2A0740F319A}" type="slidenum">
              <a:rPr lang="en-US" smtClean="0"/>
              <a:pPr/>
              <a:t>47</a:t>
            </a:fld>
            <a:endParaRPr lang="en-US" dirty="0"/>
          </a:p>
        </p:txBody>
      </p:sp>
      <p:pic>
        <p:nvPicPr>
          <p:cNvPr id="8" name="Content Placeholder 7">
            <a:extLst>
              <a:ext uri="{FF2B5EF4-FFF2-40B4-BE49-F238E27FC236}">
                <a16:creationId xmlns:a16="http://schemas.microsoft.com/office/drawing/2014/main" id="{57BE0797-66EA-8EB0-B3E0-ED848C77C59E}"/>
              </a:ext>
            </a:extLst>
          </p:cNvPr>
          <p:cNvPicPr>
            <a:picLocks noGrp="1" noChangeAspect="1"/>
          </p:cNvPicPr>
          <p:nvPr>
            <p:ph idx="1"/>
          </p:nvPr>
        </p:nvPicPr>
        <p:blipFill>
          <a:blip r:embed="rId2"/>
          <a:stretch>
            <a:fillRect/>
          </a:stretch>
        </p:blipFill>
        <p:spPr>
          <a:xfrm>
            <a:off x="1371600" y="2451655"/>
            <a:ext cx="9786901" cy="3109172"/>
          </a:xfrm>
        </p:spPr>
      </p:pic>
    </p:spTree>
    <p:extLst>
      <p:ext uri="{BB962C8B-B14F-4D97-AF65-F5344CB8AC3E}">
        <p14:creationId xmlns:p14="http://schemas.microsoft.com/office/powerpoint/2010/main" val="1946129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DF75-30A7-689C-8401-2DC477928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0B40C-DC02-7DD2-F24E-7C679A94BE35}"/>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52A61059-DE4E-2AD1-4F57-82CA33798AD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23DB196-0F04-1741-0591-1796421F501D}"/>
              </a:ext>
            </a:extLst>
          </p:cNvPr>
          <p:cNvSpPr>
            <a:spLocks noGrp="1"/>
          </p:cNvSpPr>
          <p:nvPr>
            <p:ph type="sldNum" sz="quarter" idx="12"/>
          </p:nvPr>
        </p:nvSpPr>
        <p:spPr/>
        <p:txBody>
          <a:bodyPr/>
          <a:lstStyle/>
          <a:p>
            <a:fld id="{382B47E1-F59F-47B3-8D16-B2A0740F319A}" type="slidenum">
              <a:rPr lang="en-US" smtClean="0"/>
              <a:pPr/>
              <a:t>48</a:t>
            </a:fld>
            <a:endParaRPr lang="en-US" dirty="0"/>
          </a:p>
        </p:txBody>
      </p:sp>
      <p:pic>
        <p:nvPicPr>
          <p:cNvPr id="9" name="Content Placeholder 8">
            <a:extLst>
              <a:ext uri="{FF2B5EF4-FFF2-40B4-BE49-F238E27FC236}">
                <a16:creationId xmlns:a16="http://schemas.microsoft.com/office/drawing/2014/main" id="{5ACEEFF2-C480-E7BF-CDD7-C2EEFE5FDA9B}"/>
              </a:ext>
            </a:extLst>
          </p:cNvPr>
          <p:cNvPicPr>
            <a:picLocks noGrp="1" noChangeAspect="1"/>
          </p:cNvPicPr>
          <p:nvPr>
            <p:ph idx="1"/>
          </p:nvPr>
        </p:nvPicPr>
        <p:blipFill>
          <a:blip r:embed="rId2"/>
          <a:stretch>
            <a:fillRect/>
          </a:stretch>
        </p:blipFill>
        <p:spPr>
          <a:xfrm>
            <a:off x="745580" y="2128331"/>
            <a:ext cx="10700840" cy="4144453"/>
          </a:xfrm>
        </p:spPr>
      </p:pic>
    </p:spTree>
    <p:extLst>
      <p:ext uri="{BB962C8B-B14F-4D97-AF65-F5344CB8AC3E}">
        <p14:creationId xmlns:p14="http://schemas.microsoft.com/office/powerpoint/2010/main" val="15898625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9B87-653D-5C5F-44A1-0A94106201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F1368E-C504-2C9C-EF38-35AE08EEAEB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EBF50F93-4138-7FA0-D147-CC155A72C22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6066FC6-D20D-47E3-ECA3-B5191E54DC5C}"/>
              </a:ext>
            </a:extLst>
          </p:cNvPr>
          <p:cNvSpPr>
            <a:spLocks noGrp="1"/>
          </p:cNvSpPr>
          <p:nvPr>
            <p:ph type="sldNum" sz="quarter" idx="12"/>
          </p:nvPr>
        </p:nvSpPr>
        <p:spPr/>
        <p:txBody>
          <a:bodyPr/>
          <a:lstStyle/>
          <a:p>
            <a:fld id="{382B47E1-F59F-47B3-8D16-B2A0740F319A}" type="slidenum">
              <a:rPr lang="en-US" smtClean="0"/>
              <a:pPr/>
              <a:t>49</a:t>
            </a:fld>
            <a:endParaRPr lang="en-US" dirty="0"/>
          </a:p>
        </p:txBody>
      </p:sp>
      <p:pic>
        <p:nvPicPr>
          <p:cNvPr id="8" name="Content Placeholder 7">
            <a:extLst>
              <a:ext uri="{FF2B5EF4-FFF2-40B4-BE49-F238E27FC236}">
                <a16:creationId xmlns:a16="http://schemas.microsoft.com/office/drawing/2014/main" id="{77CF890C-B470-F97C-5633-387175202EA0}"/>
              </a:ext>
            </a:extLst>
          </p:cNvPr>
          <p:cNvPicPr>
            <a:picLocks noGrp="1" noChangeAspect="1"/>
          </p:cNvPicPr>
          <p:nvPr>
            <p:ph idx="1"/>
          </p:nvPr>
        </p:nvPicPr>
        <p:blipFill>
          <a:blip r:embed="rId2"/>
          <a:stretch>
            <a:fillRect/>
          </a:stretch>
        </p:blipFill>
        <p:spPr>
          <a:xfrm>
            <a:off x="702974" y="2265680"/>
            <a:ext cx="10909028" cy="3775285"/>
          </a:xfrm>
        </p:spPr>
      </p:pic>
    </p:spTree>
    <p:extLst>
      <p:ext uri="{BB962C8B-B14F-4D97-AF65-F5344CB8AC3E}">
        <p14:creationId xmlns:p14="http://schemas.microsoft.com/office/powerpoint/2010/main" val="1096328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23F3-AC99-89E6-C96F-726BC513D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678AD2-2E8D-7EFF-3750-79361084B6F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6D71D18D-DBB6-AACF-587E-0D00FEC6819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51D7735-8788-18FA-EF10-782A2E6D2D0F}"/>
              </a:ext>
            </a:extLst>
          </p:cNvPr>
          <p:cNvSpPr>
            <a:spLocks noGrp="1"/>
          </p:cNvSpPr>
          <p:nvPr>
            <p:ph type="sldNum" sz="quarter" idx="12"/>
          </p:nvPr>
        </p:nvSpPr>
        <p:spPr/>
        <p:txBody>
          <a:bodyPr/>
          <a:lstStyle/>
          <a:p>
            <a:fld id="{382B47E1-F59F-47B3-8D16-B2A0740F319A}" type="slidenum">
              <a:rPr lang="en-US" smtClean="0"/>
              <a:pPr/>
              <a:t>50</a:t>
            </a:fld>
            <a:endParaRPr lang="en-US" dirty="0"/>
          </a:p>
        </p:txBody>
      </p:sp>
      <p:pic>
        <p:nvPicPr>
          <p:cNvPr id="9" name="Content Placeholder 8">
            <a:extLst>
              <a:ext uri="{FF2B5EF4-FFF2-40B4-BE49-F238E27FC236}">
                <a16:creationId xmlns:a16="http://schemas.microsoft.com/office/drawing/2014/main" id="{88EEF8A5-20FC-FDD3-D5CB-DA41F1CA176D}"/>
              </a:ext>
            </a:extLst>
          </p:cNvPr>
          <p:cNvPicPr>
            <a:picLocks noGrp="1" noChangeAspect="1"/>
          </p:cNvPicPr>
          <p:nvPr>
            <p:ph idx="1"/>
          </p:nvPr>
        </p:nvPicPr>
        <p:blipFill>
          <a:blip r:embed="rId2"/>
          <a:stretch>
            <a:fillRect/>
          </a:stretch>
        </p:blipFill>
        <p:spPr>
          <a:xfrm>
            <a:off x="480301" y="2359152"/>
            <a:ext cx="11231398" cy="3705465"/>
          </a:xfrm>
        </p:spPr>
      </p:pic>
    </p:spTree>
    <p:extLst>
      <p:ext uri="{BB962C8B-B14F-4D97-AF65-F5344CB8AC3E}">
        <p14:creationId xmlns:p14="http://schemas.microsoft.com/office/powerpoint/2010/main" val="31848254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3133-29BA-76AC-608D-0FEFDCF6C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44779-2F61-9FDD-3ECD-5C3192B7D54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Heisenberg’s indeterminacy relations</a:t>
            </a:r>
            <a:endParaRPr lang="en-US" dirty="0"/>
          </a:p>
        </p:txBody>
      </p:sp>
      <p:sp>
        <p:nvSpPr>
          <p:cNvPr id="4" name="Footer Placeholder 3">
            <a:extLst>
              <a:ext uri="{FF2B5EF4-FFF2-40B4-BE49-F238E27FC236}">
                <a16:creationId xmlns:a16="http://schemas.microsoft.com/office/drawing/2014/main" id="{BAD89B4B-9368-DB5B-8421-AE264098DEB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38E708C-C306-2636-C162-D146078E3D10}"/>
              </a:ext>
            </a:extLst>
          </p:cNvPr>
          <p:cNvSpPr>
            <a:spLocks noGrp="1"/>
          </p:cNvSpPr>
          <p:nvPr>
            <p:ph type="sldNum" sz="quarter" idx="12"/>
          </p:nvPr>
        </p:nvSpPr>
        <p:spPr/>
        <p:txBody>
          <a:bodyPr/>
          <a:lstStyle/>
          <a:p>
            <a:fld id="{382B47E1-F59F-47B3-8D16-B2A0740F319A}" type="slidenum">
              <a:rPr lang="en-US" smtClean="0"/>
              <a:pPr/>
              <a:t>51</a:t>
            </a:fld>
            <a:endParaRPr lang="en-US" dirty="0"/>
          </a:p>
        </p:txBody>
      </p:sp>
      <p:pic>
        <p:nvPicPr>
          <p:cNvPr id="8" name="Content Placeholder 7">
            <a:extLst>
              <a:ext uri="{FF2B5EF4-FFF2-40B4-BE49-F238E27FC236}">
                <a16:creationId xmlns:a16="http://schemas.microsoft.com/office/drawing/2014/main" id="{73822E90-0A54-5D3F-C750-D3B4CD207F7F}"/>
              </a:ext>
            </a:extLst>
          </p:cNvPr>
          <p:cNvPicPr>
            <a:picLocks noGrp="1" noChangeAspect="1"/>
          </p:cNvPicPr>
          <p:nvPr>
            <p:ph idx="1"/>
          </p:nvPr>
        </p:nvPicPr>
        <p:blipFill>
          <a:blip r:embed="rId2"/>
          <a:stretch>
            <a:fillRect/>
          </a:stretch>
        </p:blipFill>
        <p:spPr>
          <a:xfrm>
            <a:off x="6912097" y="1455116"/>
            <a:ext cx="4255775" cy="4903637"/>
          </a:xfrm>
        </p:spPr>
      </p:pic>
      <p:sp>
        <p:nvSpPr>
          <p:cNvPr id="10" name="TextBox 9">
            <a:extLst>
              <a:ext uri="{FF2B5EF4-FFF2-40B4-BE49-F238E27FC236}">
                <a16:creationId xmlns:a16="http://schemas.microsoft.com/office/drawing/2014/main" id="{9B4CDE1A-BDC9-11F4-2043-6F96E51592D9}"/>
              </a:ext>
            </a:extLst>
          </p:cNvPr>
          <p:cNvSpPr txBox="1"/>
          <p:nvPr/>
        </p:nvSpPr>
        <p:spPr>
          <a:xfrm>
            <a:off x="1107440" y="3232912"/>
            <a:ext cx="5804657" cy="1323439"/>
          </a:xfrm>
          <a:prstGeom prst="rect">
            <a:avLst/>
          </a:prstGeom>
          <a:noFill/>
        </p:spPr>
        <p:txBody>
          <a:bodyPr wrap="square" rtlCol="0">
            <a:spAutoFit/>
          </a:bodyPr>
          <a:lstStyle/>
          <a:p>
            <a:pPr marL="285750" indent="-285750" algn="ctr">
              <a:buFont typeface="Wingdings" panose="05000000000000000000" pitchFamily="2" charset="2"/>
              <a:buChar char="q"/>
            </a:pPr>
            <a:r>
              <a:rPr lang="en-US" sz="2000" b="1" dirty="0"/>
              <a:t>Improved frequency measurement over longer time intervals. The uncertainty in the frequency ∆f decreases as the measurement interval ∆t increases, and vice versa.</a:t>
            </a:r>
          </a:p>
        </p:txBody>
      </p:sp>
    </p:spTree>
    <p:extLst>
      <p:ext uri="{BB962C8B-B14F-4D97-AF65-F5344CB8AC3E}">
        <p14:creationId xmlns:p14="http://schemas.microsoft.com/office/powerpoint/2010/main" val="361465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0FB8D-D1CE-2014-0AB5-0A7837C41074}"/>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Limitation of the Short Time Fourier Transform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93746E-B1A2-7F3A-70A4-9BACE28C2795}"/>
                  </a:ext>
                </a:extLst>
              </p:cNvPr>
              <p:cNvSpPr>
                <a:spLocks noGrp="1"/>
              </p:cNvSpPr>
              <p:nvPr>
                <p:ph idx="1"/>
              </p:nvPr>
            </p:nvSpPr>
            <p:spPr/>
            <p:txBody>
              <a:bodyPr/>
              <a:lstStyle/>
              <a:p>
                <a:pPr>
                  <a:buFont typeface="Wingdings" panose="05000000000000000000" pitchFamily="2" charset="2"/>
                  <a:buChar char="q"/>
                </a:pPr>
                <a:r>
                  <a:rPr lang="en-US" dirty="0"/>
                  <a:t> The STFT cannot separate events of a distance smaller than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0</m:t>
                        </m:r>
                      </m:sub>
                    </m:sSub>
                  </m:oMath>
                </a14:m>
                <a:r>
                  <a:rPr lang="en-US" dirty="0"/>
                  <a:t>, that is to localize the two frequencies and the transient phenomena.</a:t>
                </a:r>
              </a:p>
            </p:txBody>
          </p:sp>
        </mc:Choice>
        <mc:Fallback xmlns="">
          <p:sp>
            <p:nvSpPr>
              <p:cNvPr id="3" name="Content Placeholder 2">
                <a:extLst>
                  <a:ext uri="{FF2B5EF4-FFF2-40B4-BE49-F238E27FC236}">
                    <a16:creationId xmlns:a16="http://schemas.microsoft.com/office/drawing/2014/main" id="{2693746E-B1A2-7F3A-70A4-9BACE28C2795}"/>
                  </a:ext>
                </a:extLst>
              </p:cNvPr>
              <p:cNvSpPr>
                <a:spLocks noGrp="1" noRot="1" noChangeAspect="1" noMove="1" noResize="1" noEditPoints="1" noAdjustHandles="1" noChangeArrowheads="1" noChangeShapeType="1" noTextEdit="1"/>
              </p:cNvSpPr>
              <p:nvPr>
                <p:ph idx="1"/>
              </p:nvPr>
            </p:nvSpPr>
            <p:spPr>
              <a:blipFill>
                <a:blip r:embed="rId2"/>
                <a:stretch>
                  <a:fillRect l="-1069" t="-181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8ACE467A-4F82-26F1-542D-9F5CE1C969B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0CFBBC9-3E99-BC54-8D28-ABA1F4D7287F}"/>
              </a:ext>
            </a:extLst>
          </p:cNvPr>
          <p:cNvSpPr>
            <a:spLocks noGrp="1"/>
          </p:cNvSpPr>
          <p:nvPr>
            <p:ph type="sldNum" sz="quarter" idx="12"/>
          </p:nvPr>
        </p:nvSpPr>
        <p:spPr/>
        <p:txBody>
          <a:bodyPr/>
          <a:lstStyle/>
          <a:p>
            <a:fld id="{382B47E1-F59F-47B3-8D16-B2A0740F319A}" type="slidenum">
              <a:rPr lang="en-US" smtClean="0"/>
              <a:pPr/>
              <a:t>52</a:t>
            </a:fld>
            <a:endParaRPr lang="en-US" dirty="0"/>
          </a:p>
        </p:txBody>
      </p:sp>
      <p:pic>
        <p:nvPicPr>
          <p:cNvPr id="7" name="Picture 6">
            <a:extLst>
              <a:ext uri="{FF2B5EF4-FFF2-40B4-BE49-F238E27FC236}">
                <a16:creationId xmlns:a16="http://schemas.microsoft.com/office/drawing/2014/main" id="{43F18D17-400F-5523-6DED-4A573EC90A5C}"/>
              </a:ext>
            </a:extLst>
          </p:cNvPr>
          <p:cNvPicPr>
            <a:picLocks noChangeAspect="1"/>
          </p:cNvPicPr>
          <p:nvPr/>
        </p:nvPicPr>
        <p:blipFill>
          <a:blip r:embed="rId3"/>
          <a:stretch>
            <a:fillRect/>
          </a:stretch>
        </p:blipFill>
        <p:spPr>
          <a:xfrm>
            <a:off x="1241902" y="3273599"/>
            <a:ext cx="4915586" cy="2048161"/>
          </a:xfrm>
          <a:prstGeom prst="rect">
            <a:avLst/>
          </a:prstGeom>
        </p:spPr>
      </p:pic>
      <p:pic>
        <p:nvPicPr>
          <p:cNvPr id="9" name="Picture 8">
            <a:extLst>
              <a:ext uri="{FF2B5EF4-FFF2-40B4-BE49-F238E27FC236}">
                <a16:creationId xmlns:a16="http://schemas.microsoft.com/office/drawing/2014/main" id="{5FAE0C79-9BD9-71C0-D970-9CD135970C19}"/>
              </a:ext>
            </a:extLst>
          </p:cNvPr>
          <p:cNvPicPr>
            <a:picLocks noChangeAspect="1"/>
          </p:cNvPicPr>
          <p:nvPr/>
        </p:nvPicPr>
        <p:blipFill>
          <a:blip r:embed="rId4"/>
          <a:stretch>
            <a:fillRect/>
          </a:stretch>
        </p:blipFill>
        <p:spPr>
          <a:xfrm>
            <a:off x="6375262" y="3359336"/>
            <a:ext cx="5106113" cy="1962424"/>
          </a:xfrm>
          <a:prstGeom prst="rect">
            <a:avLst/>
          </a:prstGeom>
        </p:spPr>
      </p:pic>
      <p:pic>
        <p:nvPicPr>
          <p:cNvPr id="11" name="Picture 10">
            <a:extLst>
              <a:ext uri="{FF2B5EF4-FFF2-40B4-BE49-F238E27FC236}">
                <a16:creationId xmlns:a16="http://schemas.microsoft.com/office/drawing/2014/main" id="{22484510-370D-60BA-3EEF-D99F5B1EB97C}"/>
              </a:ext>
            </a:extLst>
          </p:cNvPr>
          <p:cNvPicPr>
            <a:picLocks noChangeAspect="1"/>
          </p:cNvPicPr>
          <p:nvPr/>
        </p:nvPicPr>
        <p:blipFill>
          <a:blip r:embed="rId5"/>
          <a:stretch>
            <a:fillRect/>
          </a:stretch>
        </p:blipFill>
        <p:spPr>
          <a:xfrm>
            <a:off x="2275509" y="5427775"/>
            <a:ext cx="7763958" cy="581106"/>
          </a:xfrm>
          <a:prstGeom prst="rect">
            <a:avLst/>
          </a:prstGeom>
        </p:spPr>
      </p:pic>
    </p:spTree>
    <p:extLst>
      <p:ext uri="{BB962C8B-B14F-4D97-AF65-F5344CB8AC3E}">
        <p14:creationId xmlns:p14="http://schemas.microsoft.com/office/powerpoint/2010/main" val="7869257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1AB09-4329-38A1-8363-28D9D42DF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FD35C3-0799-FC7A-B79C-A0A990B97062}"/>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Windowed Fourier Analysis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Limitation of the Short Time Fourier Transform</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BF0DE1-985F-168B-CB10-0C49F4BCCFD6}"/>
                  </a:ext>
                </a:extLst>
              </p:cNvPr>
              <p:cNvSpPr>
                <a:spLocks noGrp="1"/>
              </p:cNvSpPr>
              <p:nvPr>
                <p:ph idx="1"/>
              </p:nvPr>
            </p:nvSpPr>
            <p:spPr/>
            <p:txBody>
              <a:bodyPr/>
              <a:lstStyle/>
              <a:p>
                <a:pPr>
                  <a:buFont typeface="Wingdings" panose="05000000000000000000" pitchFamily="2" charset="2"/>
                  <a:buChar char="q"/>
                </a:pPr>
                <a:r>
                  <a:rPr lang="en-US" dirty="0"/>
                  <a:t> The STFT cannot separate events of a distance smaller than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𝑎</m:t>
                        </m:r>
                      </m:e>
                      <m:sub>
                        <m:r>
                          <a:rPr lang="en-US" b="0" i="1" dirty="0" smtClean="0">
                            <a:latin typeface="Cambria Math" panose="02040503050406030204" pitchFamily="18" charset="0"/>
                          </a:rPr>
                          <m:t>0</m:t>
                        </m:r>
                      </m:sub>
                    </m:sSub>
                  </m:oMath>
                </a14:m>
                <a:r>
                  <a:rPr lang="en-US" dirty="0"/>
                  <a:t>, that is to localize the two frequencies and the transient phenomena.</a:t>
                </a:r>
              </a:p>
            </p:txBody>
          </p:sp>
        </mc:Choice>
        <mc:Fallback xmlns="">
          <p:sp>
            <p:nvSpPr>
              <p:cNvPr id="3" name="Content Placeholder 2">
                <a:extLst>
                  <a:ext uri="{FF2B5EF4-FFF2-40B4-BE49-F238E27FC236}">
                    <a16:creationId xmlns:a16="http://schemas.microsoft.com/office/drawing/2014/main" id="{C7BF0DE1-985F-168B-CB10-0C49F4BCCFD6}"/>
                  </a:ext>
                </a:extLst>
              </p:cNvPr>
              <p:cNvSpPr>
                <a:spLocks noGrp="1" noRot="1" noChangeAspect="1" noMove="1" noResize="1" noEditPoints="1" noAdjustHandles="1" noChangeArrowheads="1" noChangeShapeType="1" noTextEdit="1"/>
              </p:cNvSpPr>
              <p:nvPr>
                <p:ph idx="1"/>
              </p:nvPr>
            </p:nvSpPr>
            <p:spPr>
              <a:blipFill>
                <a:blip r:embed="rId2"/>
                <a:stretch>
                  <a:fillRect l="-1069" t="-1818"/>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7012BEF-8554-5388-BEB7-FDEBC10A86B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A986185-9FDC-186B-2978-8344ED81DD7C}"/>
              </a:ext>
            </a:extLst>
          </p:cNvPr>
          <p:cNvSpPr>
            <a:spLocks noGrp="1"/>
          </p:cNvSpPr>
          <p:nvPr>
            <p:ph type="sldNum" sz="quarter" idx="12"/>
          </p:nvPr>
        </p:nvSpPr>
        <p:spPr/>
        <p:txBody>
          <a:bodyPr/>
          <a:lstStyle/>
          <a:p>
            <a:fld id="{382B47E1-F59F-47B3-8D16-B2A0740F319A}" type="slidenum">
              <a:rPr lang="en-US" smtClean="0"/>
              <a:pPr/>
              <a:t>53</a:t>
            </a:fld>
            <a:endParaRPr lang="en-US" dirty="0"/>
          </a:p>
        </p:txBody>
      </p:sp>
      <p:pic>
        <p:nvPicPr>
          <p:cNvPr id="7" name="Picture 6">
            <a:extLst>
              <a:ext uri="{FF2B5EF4-FFF2-40B4-BE49-F238E27FC236}">
                <a16:creationId xmlns:a16="http://schemas.microsoft.com/office/drawing/2014/main" id="{A158B2FB-87F6-FDE3-7499-F1AB3CF7D5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41902" y="3341612"/>
            <a:ext cx="4915586" cy="1912134"/>
          </a:xfrm>
          <a:prstGeom prst="rect">
            <a:avLst/>
          </a:prstGeom>
        </p:spPr>
      </p:pic>
      <p:pic>
        <p:nvPicPr>
          <p:cNvPr id="9" name="Picture 8">
            <a:extLst>
              <a:ext uri="{FF2B5EF4-FFF2-40B4-BE49-F238E27FC236}">
                <a16:creationId xmlns:a16="http://schemas.microsoft.com/office/drawing/2014/main" id="{2C478871-7CA2-F7B6-A4E5-958D6D0260B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72316" y="3316467"/>
            <a:ext cx="4818534" cy="1962424"/>
          </a:xfrm>
          <a:prstGeom prst="rect">
            <a:avLst/>
          </a:prstGeom>
        </p:spPr>
      </p:pic>
      <p:pic>
        <p:nvPicPr>
          <p:cNvPr id="11" name="Picture 10">
            <a:extLst>
              <a:ext uri="{FF2B5EF4-FFF2-40B4-BE49-F238E27FC236}">
                <a16:creationId xmlns:a16="http://schemas.microsoft.com/office/drawing/2014/main" id="{1CA4E0DB-FCAA-662C-CE80-9122FAB6BFA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75509" y="5436344"/>
            <a:ext cx="7763958" cy="563968"/>
          </a:xfrm>
          <a:prstGeom prst="rect">
            <a:avLst/>
          </a:prstGeom>
        </p:spPr>
      </p:pic>
    </p:spTree>
    <p:extLst>
      <p:ext uri="{BB962C8B-B14F-4D97-AF65-F5344CB8AC3E}">
        <p14:creationId xmlns:p14="http://schemas.microsoft.com/office/powerpoint/2010/main" val="1389684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BF18C-2DAA-1D4C-F25E-B6AD51A08F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7F94A-1EB8-6C7B-46EB-40A8EBF9513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Windowed Fourier's drawbacks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E9EB7AA-E8F6-CAA5-8F59-C637D993B6A0}"/>
                  </a:ext>
                </a:extLst>
              </p:cNvPr>
              <p:cNvSpPr>
                <a:spLocks noGrp="1"/>
              </p:cNvSpPr>
              <p:nvPr>
                <p:ph idx="1"/>
              </p:nvPr>
            </p:nvSpPr>
            <p:spPr>
              <a:xfrm>
                <a:off x="1024127" y="2261283"/>
                <a:ext cx="10266724" cy="4023360"/>
              </a:xfrm>
            </p:spPr>
            <p:txBody>
              <a:bodyPr>
                <a:normAutofit/>
              </a:bodyPr>
              <a:lstStyle/>
              <a:p>
                <a:pPr>
                  <a:buFont typeface="Wingdings" panose="05000000000000000000" pitchFamily="2" charset="2"/>
                  <a:buChar char="q"/>
                </a:pPr>
                <a:r>
                  <a:rPr lang="en-US" b="1" dirty="0"/>
                  <a:t> As we talked about it, Unfortunately, STFT is difficult to invert, due to its excessive redundancy, and it does not capture short “pulses” accurately, unless a very small window is used.</a:t>
                </a:r>
              </a:p>
              <a:p>
                <a:pPr>
                  <a:buFont typeface="Wingdings" panose="05000000000000000000" pitchFamily="2" charset="2"/>
                  <a:buChar char="q"/>
                </a:pPr>
                <a:endParaRPr lang="en-US" b="1" dirty="0"/>
              </a:p>
              <a:p>
                <a:pPr>
                  <a:buFont typeface="Wingdings" panose="05000000000000000000" pitchFamily="2" charset="2"/>
                  <a:buChar char="q"/>
                </a:pPr>
                <a:r>
                  <a:rPr lang="en-US" b="1" dirty="0"/>
                  <a:t> But in that case, low-frequency content cannot be accurately captured. This is due to the Uncertainty Principle, which states that a function cannot be simultaneously concentrated in both physical space and Fourier space.</a:t>
                </a:r>
              </a:p>
              <a:p>
                <a:pPr marL="0" indent="0">
                  <a:buNone/>
                </a:pPr>
                <a:endParaRPr lang="en-US" b="1" dirty="0"/>
              </a:p>
              <a:p>
                <a:pPr marL="0" indent="0">
                  <a:buNone/>
                </a:pPr>
                <a:r>
                  <a:rPr lang="en-US" b="1" dirty="0"/>
                  <a:t>			          </a:t>
                </a:r>
                <a:r>
                  <a:rPr lang="en-US" sz="2800" b="1" dirty="0">
                    <a:solidFill>
                      <a:srgbClr val="FF0000"/>
                    </a:solidFill>
                  </a:rPr>
                  <a:t>Solution  </a:t>
                </a:r>
                <a14:m>
                  <m:oMath xmlns:m="http://schemas.openxmlformats.org/officeDocument/2006/math">
                    <m:r>
                      <a:rPr lang="en-US" sz="2800" b="1" i="1" smtClean="0">
                        <a:solidFill>
                          <a:srgbClr val="000000"/>
                        </a:solidFill>
                        <a:latin typeface="Cambria Math" panose="02040503050406030204" pitchFamily="18" charset="0"/>
                      </a:rPr>
                      <m:t>→</m:t>
                    </m:r>
                    <m:r>
                      <a:rPr lang="en-US" sz="2800" b="1" i="1" smtClean="0">
                        <a:solidFill>
                          <a:srgbClr val="FF0000"/>
                        </a:solidFill>
                        <a:latin typeface="Cambria Math" panose="02040503050406030204" pitchFamily="18" charset="0"/>
                      </a:rPr>
                      <m:t>  </m:t>
                    </m:r>
                    <m:r>
                      <a:rPr lang="en-US" sz="2800" b="1" i="1" smtClean="0">
                        <a:solidFill>
                          <a:srgbClr val="FF0000"/>
                        </a:solidFill>
                        <a:latin typeface="Cambria Math" panose="02040503050406030204" pitchFamily="18" charset="0"/>
                      </a:rPr>
                      <m:t>𝑾𝒂𝒗𝒆𝒍𝒆𝒕</m:t>
                    </m:r>
                  </m:oMath>
                </a14:m>
                <a:endParaRPr lang="en-US" b="1" dirty="0"/>
              </a:p>
            </p:txBody>
          </p:sp>
        </mc:Choice>
        <mc:Fallback xmlns="">
          <p:sp>
            <p:nvSpPr>
              <p:cNvPr id="3" name="Content Placeholder 2">
                <a:extLst>
                  <a:ext uri="{FF2B5EF4-FFF2-40B4-BE49-F238E27FC236}">
                    <a16:creationId xmlns:a16="http://schemas.microsoft.com/office/drawing/2014/main" id="{2E9EB7AA-E8F6-CAA5-8F59-C637D993B6A0}"/>
                  </a:ext>
                </a:extLst>
              </p:cNvPr>
              <p:cNvSpPr>
                <a:spLocks noGrp="1" noRot="1" noChangeAspect="1" noMove="1" noResize="1" noEditPoints="1" noAdjustHandles="1" noChangeArrowheads="1" noChangeShapeType="1" noTextEdit="1"/>
              </p:cNvSpPr>
              <p:nvPr>
                <p:ph idx="1"/>
              </p:nvPr>
            </p:nvSpPr>
            <p:spPr>
              <a:xfrm>
                <a:off x="1024127" y="2261283"/>
                <a:ext cx="10266724" cy="4023360"/>
              </a:xfrm>
              <a:blipFill>
                <a:blip r:embed="rId2"/>
                <a:stretch>
                  <a:fillRect l="-1069" t="-1818" r="-83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BEB9C22-BF3C-4FD5-94F2-A9A6D34BC9A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0A23856-D635-44BF-25AE-242B272733C9}"/>
              </a:ext>
            </a:extLst>
          </p:cNvPr>
          <p:cNvSpPr>
            <a:spLocks noGrp="1"/>
          </p:cNvSpPr>
          <p:nvPr>
            <p:ph type="sldNum" sz="quarter" idx="12"/>
          </p:nvPr>
        </p:nvSpPr>
        <p:spPr/>
        <p:txBody>
          <a:bodyPr/>
          <a:lstStyle/>
          <a:p>
            <a:fld id="{382B47E1-F59F-47B3-8D16-B2A0740F319A}" type="slidenum">
              <a:rPr lang="en-US" smtClean="0"/>
              <a:pPr/>
              <a:t>54</a:t>
            </a:fld>
            <a:endParaRPr lang="en-US" dirty="0"/>
          </a:p>
        </p:txBody>
      </p:sp>
    </p:spTree>
    <p:extLst>
      <p:ext uri="{BB962C8B-B14F-4D97-AF65-F5344CB8AC3E}">
        <p14:creationId xmlns:p14="http://schemas.microsoft.com/office/powerpoint/2010/main" val="4152233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70A85-6B80-42B3-E13D-37D1503E5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C959B-4E20-74D6-7BFA-65851D7F19C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Windowed Fourier's drawbacks</a:t>
            </a:r>
            <a:endParaRPr lang="en-US" dirty="0"/>
          </a:p>
        </p:txBody>
      </p:sp>
      <p:sp>
        <p:nvSpPr>
          <p:cNvPr id="4" name="Footer Placeholder 3">
            <a:extLst>
              <a:ext uri="{FF2B5EF4-FFF2-40B4-BE49-F238E27FC236}">
                <a16:creationId xmlns:a16="http://schemas.microsoft.com/office/drawing/2014/main" id="{1BF19470-1216-A148-E102-E891BD41ADA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5FD8DEB-413A-95E4-A2C5-F060593BAE74}"/>
              </a:ext>
            </a:extLst>
          </p:cNvPr>
          <p:cNvSpPr>
            <a:spLocks noGrp="1"/>
          </p:cNvSpPr>
          <p:nvPr>
            <p:ph type="sldNum" sz="quarter" idx="12"/>
          </p:nvPr>
        </p:nvSpPr>
        <p:spPr/>
        <p:txBody>
          <a:bodyPr/>
          <a:lstStyle/>
          <a:p>
            <a:fld id="{382B47E1-F59F-47B3-8D16-B2A0740F319A}" type="slidenum">
              <a:rPr lang="en-US" smtClean="0"/>
              <a:pPr/>
              <a:t>55</a:t>
            </a:fld>
            <a:endParaRPr lang="en-US" dirty="0"/>
          </a:p>
        </p:txBody>
      </p:sp>
      <p:pic>
        <p:nvPicPr>
          <p:cNvPr id="6" name="Content Placeholder 5">
            <a:extLst>
              <a:ext uri="{FF2B5EF4-FFF2-40B4-BE49-F238E27FC236}">
                <a16:creationId xmlns:a16="http://schemas.microsoft.com/office/drawing/2014/main" id="{B78DCA6E-2E38-671E-9DB5-4D1E0F3031B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179039" y="1889760"/>
            <a:ext cx="7956898" cy="4490720"/>
          </a:xfrm>
          <a:prstGeom prst="rect">
            <a:avLst/>
          </a:prstGeom>
        </p:spPr>
      </p:pic>
    </p:spTree>
    <p:extLst>
      <p:ext uri="{BB962C8B-B14F-4D97-AF65-F5344CB8AC3E}">
        <p14:creationId xmlns:p14="http://schemas.microsoft.com/office/powerpoint/2010/main" val="2465039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83BC-FC66-D7E4-EB60-E25C1A5AAC6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Windowed Fourier's drawbacks</a:t>
            </a:r>
            <a:endParaRPr lang="en-US" dirty="0"/>
          </a:p>
        </p:txBody>
      </p:sp>
      <p:pic>
        <p:nvPicPr>
          <p:cNvPr id="9" name="Content Placeholder 8">
            <a:extLst>
              <a:ext uri="{FF2B5EF4-FFF2-40B4-BE49-F238E27FC236}">
                <a16:creationId xmlns:a16="http://schemas.microsoft.com/office/drawing/2014/main" id="{9A8E3C9F-F4E4-64AC-F06C-DA8F3696EA66}"/>
              </a:ext>
            </a:extLst>
          </p:cNvPr>
          <p:cNvPicPr>
            <a:picLocks noGrp="1" noChangeAspect="1"/>
          </p:cNvPicPr>
          <p:nvPr>
            <p:ph idx="1"/>
          </p:nvPr>
        </p:nvPicPr>
        <p:blipFill>
          <a:blip r:embed="rId2"/>
          <a:stretch>
            <a:fillRect/>
          </a:stretch>
        </p:blipFill>
        <p:spPr>
          <a:xfrm>
            <a:off x="770127" y="3272698"/>
            <a:ext cx="3248478" cy="2000529"/>
          </a:xfrm>
        </p:spPr>
      </p:pic>
      <p:sp>
        <p:nvSpPr>
          <p:cNvPr id="4" name="Footer Placeholder 3">
            <a:extLst>
              <a:ext uri="{FF2B5EF4-FFF2-40B4-BE49-F238E27FC236}">
                <a16:creationId xmlns:a16="http://schemas.microsoft.com/office/drawing/2014/main" id="{867C662D-6578-41F3-4BCE-211010E1603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128955C-D816-A6BA-8E65-E70A92822682}"/>
              </a:ext>
            </a:extLst>
          </p:cNvPr>
          <p:cNvSpPr>
            <a:spLocks noGrp="1"/>
          </p:cNvSpPr>
          <p:nvPr>
            <p:ph type="sldNum" sz="quarter" idx="12"/>
          </p:nvPr>
        </p:nvSpPr>
        <p:spPr/>
        <p:txBody>
          <a:bodyPr/>
          <a:lstStyle/>
          <a:p>
            <a:fld id="{382B47E1-F59F-47B3-8D16-B2A0740F319A}" type="slidenum">
              <a:rPr lang="en-US" smtClean="0"/>
              <a:pPr/>
              <a:t>56</a:t>
            </a:fld>
            <a:endParaRPr lang="en-US" dirty="0"/>
          </a:p>
        </p:txBody>
      </p:sp>
      <p:pic>
        <p:nvPicPr>
          <p:cNvPr id="11" name="Picture 10">
            <a:extLst>
              <a:ext uri="{FF2B5EF4-FFF2-40B4-BE49-F238E27FC236}">
                <a16:creationId xmlns:a16="http://schemas.microsoft.com/office/drawing/2014/main" id="{2634266B-8FF7-8924-A30B-7E2E4D1CABA0}"/>
              </a:ext>
            </a:extLst>
          </p:cNvPr>
          <p:cNvPicPr>
            <a:picLocks noChangeAspect="1"/>
          </p:cNvPicPr>
          <p:nvPr/>
        </p:nvPicPr>
        <p:blipFill>
          <a:blip r:embed="rId3"/>
          <a:stretch>
            <a:fillRect/>
          </a:stretch>
        </p:blipFill>
        <p:spPr>
          <a:xfrm>
            <a:off x="4443530" y="3053592"/>
            <a:ext cx="2857899" cy="2438740"/>
          </a:xfrm>
          <a:prstGeom prst="rect">
            <a:avLst/>
          </a:prstGeom>
        </p:spPr>
      </p:pic>
      <p:pic>
        <p:nvPicPr>
          <p:cNvPr id="13" name="Picture 12">
            <a:extLst>
              <a:ext uri="{FF2B5EF4-FFF2-40B4-BE49-F238E27FC236}">
                <a16:creationId xmlns:a16="http://schemas.microsoft.com/office/drawing/2014/main" id="{01A14800-9FE5-56C0-8BA8-CA975D40BC77}"/>
              </a:ext>
            </a:extLst>
          </p:cNvPr>
          <p:cNvPicPr>
            <a:picLocks noChangeAspect="1"/>
          </p:cNvPicPr>
          <p:nvPr/>
        </p:nvPicPr>
        <p:blipFill>
          <a:blip r:embed="rId4"/>
          <a:stretch>
            <a:fillRect/>
          </a:stretch>
        </p:blipFill>
        <p:spPr>
          <a:xfrm>
            <a:off x="7726354" y="3089030"/>
            <a:ext cx="3277057" cy="2429214"/>
          </a:xfrm>
          <a:prstGeom prst="rect">
            <a:avLst/>
          </a:prstGeom>
        </p:spPr>
      </p:pic>
    </p:spTree>
    <p:extLst>
      <p:ext uri="{BB962C8B-B14F-4D97-AF65-F5344CB8AC3E}">
        <p14:creationId xmlns:p14="http://schemas.microsoft.com/office/powerpoint/2010/main" val="30396894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DFAF4-F9B2-894E-2161-B539CD4876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92C18-3F24-CA7B-7341-9A939C6E416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a solution to Windowed Fourier's drawbacks</a:t>
            </a:r>
            <a:endParaRPr lang="en-US" dirty="0"/>
          </a:p>
        </p:txBody>
      </p:sp>
      <p:sp>
        <p:nvSpPr>
          <p:cNvPr id="4" name="Footer Placeholder 3">
            <a:extLst>
              <a:ext uri="{FF2B5EF4-FFF2-40B4-BE49-F238E27FC236}">
                <a16:creationId xmlns:a16="http://schemas.microsoft.com/office/drawing/2014/main" id="{A2F7D427-30D8-D462-D4FA-24FC80E3703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F990DA8-3A13-B748-92F3-B6A693647A01}"/>
              </a:ext>
            </a:extLst>
          </p:cNvPr>
          <p:cNvSpPr>
            <a:spLocks noGrp="1"/>
          </p:cNvSpPr>
          <p:nvPr>
            <p:ph type="sldNum" sz="quarter" idx="12"/>
          </p:nvPr>
        </p:nvSpPr>
        <p:spPr/>
        <p:txBody>
          <a:bodyPr/>
          <a:lstStyle/>
          <a:p>
            <a:fld id="{382B47E1-F59F-47B3-8D16-B2A0740F319A}" type="slidenum">
              <a:rPr lang="en-US" smtClean="0"/>
              <a:pPr/>
              <a:t>57</a:t>
            </a:fld>
            <a:endParaRPr lang="en-US" dirty="0"/>
          </a:p>
        </p:txBody>
      </p:sp>
      <p:pic>
        <p:nvPicPr>
          <p:cNvPr id="20" name="Content Placeholder 19">
            <a:extLst>
              <a:ext uri="{FF2B5EF4-FFF2-40B4-BE49-F238E27FC236}">
                <a16:creationId xmlns:a16="http://schemas.microsoft.com/office/drawing/2014/main" id="{36CB791B-C53A-BD41-1380-27C342B9EA5F}"/>
              </a:ext>
            </a:extLst>
          </p:cNvPr>
          <p:cNvPicPr>
            <a:picLocks noGrp="1" noChangeAspect="1"/>
          </p:cNvPicPr>
          <p:nvPr>
            <p:ph idx="1"/>
          </p:nvPr>
        </p:nvPicPr>
        <p:blipFill>
          <a:blip r:embed="rId3"/>
          <a:stretch>
            <a:fillRect/>
          </a:stretch>
        </p:blipFill>
        <p:spPr>
          <a:xfrm>
            <a:off x="6482080" y="1721586"/>
            <a:ext cx="4808770" cy="473950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5506E48-C635-6F36-AC9B-7828C452A3B9}"/>
                  </a:ext>
                </a:extLst>
              </p:cNvPr>
              <p:cNvSpPr txBox="1"/>
              <p:nvPr/>
            </p:nvSpPr>
            <p:spPr>
              <a:xfrm>
                <a:off x="780287" y="2194560"/>
                <a:ext cx="5701793" cy="1893660"/>
              </a:xfrm>
              <a:prstGeom prst="rect">
                <a:avLst/>
              </a:prstGeom>
              <a:noFill/>
            </p:spPr>
            <p:txBody>
              <a:bodyPr wrap="square" rtlCol="0">
                <a:spAutoFit/>
              </a:bodyPr>
              <a:lstStyle/>
              <a:p>
                <a:r>
                  <a:rPr lang="en-US" sz="2400" b="1" dirty="0"/>
                  <a:t>Gabor</a:t>
                </a:r>
                <a:r>
                  <a:rPr lang="en-US" sz="2400" dirty="0"/>
                  <a:t> </a:t>
                </a:r>
                <a14:m>
                  <m:oMath xmlns:m="http://schemas.openxmlformats.org/officeDocument/2006/math">
                    <m:r>
                      <a:rPr lang="en-US" sz="2400" b="0" i="1" smtClean="0">
                        <a:latin typeface="Cambria Math" panose="02040503050406030204" pitchFamily="18" charset="0"/>
                      </a:rPr>
                      <m:t>→</m:t>
                    </m:r>
                  </m:oMath>
                </a14:m>
                <a:r>
                  <a:rPr lang="en-US" sz="2400" dirty="0"/>
                  <a:t> frequency modulation within constant window width</a:t>
                </a:r>
              </a:p>
              <a:p>
                <a:endParaRPr lang="en-US" sz="2000" dirty="0"/>
              </a:p>
              <a:p>
                <a:r>
                  <a:rPr lang="en-US" sz="2400" b="1" dirty="0"/>
                  <a:t>Wavelets</a:t>
                </a:r>
                <a:r>
                  <a:rPr lang="en-US" sz="2400" b="0" dirty="0"/>
                  <a:t> </a:t>
                </a:r>
                <a14:m>
                  <m:oMath xmlns:m="http://schemas.openxmlformats.org/officeDocument/2006/math">
                    <m:r>
                      <a:rPr lang="en-US" sz="2400" b="0" i="1" smtClean="0">
                        <a:latin typeface="Cambria Math" panose="02040503050406030204" pitchFamily="18" charset="0"/>
                      </a:rPr>
                      <m:t>→</m:t>
                    </m:r>
                  </m:oMath>
                </a14:m>
                <a:r>
                  <a:rPr lang="en-US" sz="2400" dirty="0"/>
                  <a:t> shape of </a:t>
                </a:r>
                <a14:m>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𝜓</m:t>
                        </m:r>
                      </m:e>
                      <m:sub>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𝑏</m:t>
                        </m:r>
                      </m:sub>
                    </m:sSub>
                  </m:oMath>
                </a14:m>
                <a:r>
                  <a:rPr lang="en-US" sz="2400" dirty="0"/>
                  <a:t> doesn’t change, simply dilated or compressed</a:t>
                </a:r>
              </a:p>
            </p:txBody>
          </p:sp>
        </mc:Choice>
        <mc:Fallback xmlns="">
          <p:sp>
            <p:nvSpPr>
              <p:cNvPr id="7" name="TextBox 6">
                <a:extLst>
                  <a:ext uri="{FF2B5EF4-FFF2-40B4-BE49-F238E27FC236}">
                    <a16:creationId xmlns:a16="http://schemas.microsoft.com/office/drawing/2014/main" id="{55506E48-C635-6F36-AC9B-7828C452A3B9}"/>
                  </a:ext>
                </a:extLst>
              </p:cNvPr>
              <p:cNvSpPr txBox="1">
                <a:spLocks noRot="1" noChangeAspect="1" noMove="1" noResize="1" noEditPoints="1" noAdjustHandles="1" noChangeArrowheads="1" noChangeShapeType="1" noTextEdit="1"/>
              </p:cNvSpPr>
              <p:nvPr/>
            </p:nvSpPr>
            <p:spPr>
              <a:xfrm>
                <a:off x="780287" y="2194560"/>
                <a:ext cx="5701793" cy="1893660"/>
              </a:xfrm>
              <a:prstGeom prst="rect">
                <a:avLst/>
              </a:prstGeom>
              <a:blipFill>
                <a:blip r:embed="rId4"/>
                <a:stretch>
                  <a:fillRect l="-1604" t="-2572" b="-64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C63D57-7376-5514-56F2-F9596F7E59C8}"/>
                  </a:ext>
                </a:extLst>
              </p:cNvPr>
              <p:cNvSpPr txBox="1"/>
              <p:nvPr/>
            </p:nvSpPr>
            <p:spPr>
              <a:xfrm>
                <a:off x="1572766" y="4195965"/>
                <a:ext cx="4116833" cy="21573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a:solidFill>
                      <a:srgbClr val="0070C0"/>
                    </a:solidFill>
                  </a:rPr>
                  <a:t>Figure: </a:t>
                </a:r>
              </a:p>
              <a:p>
                <a:r>
                  <a:rPr lang="en-US" sz="2000" dirty="0">
                    <a:solidFill>
                      <a:srgbClr val="0070C0"/>
                    </a:solidFill>
                  </a:rPr>
                  <a:t>	</a:t>
                </a:r>
                <a:r>
                  <a:rPr lang="en-US" dirty="0"/>
                  <a:t>(Left) Gabor:</a:t>
                </a:r>
              </a:p>
              <a:p>
                <a:pPr>
                  <a:spcAft>
                    <a:spcPts val="1200"/>
                  </a:spcAft>
                </a:pPr>
                <a:r>
                  <a:rPr lang="en-US"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ub>
                    </m:sSub>
                    <m:d>
                      <m:dPr>
                        <m:ctrlPr>
                          <a:rPr lang="en-US" b="0" i="1"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t</m:t>
                        </m:r>
                      </m:e>
                    </m:d>
                    <m:r>
                      <a:rPr lang="en-US" b="0" i="0"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m:rPr>
                            <m:sty m:val="p"/>
                          </m:rPr>
                          <a:rPr lang="en-US" b="0" i="0" smtClean="0">
                            <a:latin typeface="Cambria Math" panose="02040503050406030204" pitchFamily="18" charset="0"/>
                            <a:ea typeface="Cambria Math" panose="02040503050406030204" pitchFamily="18" charset="0"/>
                          </a:rPr>
                          <m:t>e</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𝑖𝑡</m:t>
                            </m:r>
                          </m:num>
                          <m:den>
                            <m:r>
                              <a:rPr lang="en-US" b="0" i="1" smtClean="0">
                                <a:latin typeface="Cambria Math" panose="02040503050406030204" pitchFamily="18" charset="0"/>
                                <a:ea typeface="Cambria Math" panose="02040503050406030204" pitchFamily="18" charset="0"/>
                              </a:rPr>
                              <m:t>𝑎</m:t>
                            </m:r>
                          </m:den>
                        </m:f>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d>
                  </m:oMath>
                </a14:m>
                <a:endParaRPr lang="en-US" dirty="0"/>
              </a:p>
              <a:p>
                <a:r>
                  <a:rPr lang="en-US" dirty="0"/>
                  <a:t>	(Right) Morlet Wavelet:</a:t>
                </a:r>
              </a:p>
              <a:p>
                <a:pPr>
                  <a:spcBef>
                    <a:spcPts val="1200"/>
                  </a:spcBef>
                </a:pPr>
                <a:r>
                  <a:rPr lang="en-US" dirty="0"/>
                  <a:t>		</a:t>
                </a:r>
                <a:r>
                  <a:rPr lang="en-US" dirty="0">
                    <a:ea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𝜓</m:t>
                        </m:r>
                      </m:e>
                      <m:sub>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𝑏</m:t>
                        </m:r>
                      </m:sub>
                    </m:sSub>
                    <m:d>
                      <m:dPr>
                        <m:ctrlPr>
                          <a:rPr lang="en-US" b="0" i="1" smtClean="0">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ea typeface="Cambria Math" panose="02040503050406030204" pitchFamily="18" charset="0"/>
                          </a:rPr>
                          <m:t>t</m:t>
                        </m:r>
                      </m:e>
                    </m:d>
                    <m:r>
                      <a:rPr lang="en-US" b="0" i="0"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𝑎</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2</m:t>
                            </m:r>
                          </m:den>
                        </m:f>
                      </m:sup>
                    </m:sSup>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𝜓</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num>
                          <m:den>
                            <m:r>
                              <a:rPr lang="en-US" b="0" i="1" smtClean="0">
                                <a:latin typeface="Cambria Math" panose="02040503050406030204" pitchFamily="18" charset="0"/>
                                <a:ea typeface="Cambria Math" panose="02040503050406030204" pitchFamily="18" charset="0"/>
                              </a:rPr>
                              <m:t>𝑎</m:t>
                            </m:r>
                          </m:den>
                        </m:f>
                      </m:e>
                    </m:d>
                  </m:oMath>
                </a14:m>
                <a:endParaRPr lang="en-US" dirty="0"/>
              </a:p>
            </p:txBody>
          </p:sp>
        </mc:Choice>
        <mc:Fallback xmlns="">
          <p:sp>
            <p:nvSpPr>
              <p:cNvPr id="3" name="TextBox 2">
                <a:extLst>
                  <a:ext uri="{FF2B5EF4-FFF2-40B4-BE49-F238E27FC236}">
                    <a16:creationId xmlns:a16="http://schemas.microsoft.com/office/drawing/2014/main" id="{CAC63D57-7376-5514-56F2-F9596F7E59C8}"/>
                  </a:ext>
                </a:extLst>
              </p:cNvPr>
              <p:cNvSpPr txBox="1">
                <a:spLocks noRot="1" noChangeAspect="1" noMove="1" noResize="1" noEditPoints="1" noAdjustHandles="1" noChangeArrowheads="1" noChangeShapeType="1" noTextEdit="1"/>
              </p:cNvSpPr>
              <p:nvPr/>
            </p:nvSpPr>
            <p:spPr>
              <a:xfrm>
                <a:off x="1572766" y="4195965"/>
                <a:ext cx="4116833" cy="2157385"/>
              </a:xfrm>
              <a:prstGeom prst="rect">
                <a:avLst/>
              </a:prstGeom>
              <a:blipFill>
                <a:blip r:embed="rId5"/>
                <a:stretch>
                  <a:fillRect l="-1327" t="-1120"/>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6D3619D3-2320-1960-5AEF-DEB966E46521}"/>
              </a:ext>
            </a:extLst>
          </p:cNvPr>
          <p:cNvSpPr/>
          <p:nvPr/>
        </p:nvSpPr>
        <p:spPr>
          <a:xfrm>
            <a:off x="6563360" y="1721586"/>
            <a:ext cx="1493520" cy="470991"/>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4FC6A590-77E9-76A7-13FA-0D27F30374A5}"/>
              </a:ext>
            </a:extLst>
          </p:cNvPr>
          <p:cNvCxnSpPr>
            <a:stCxn id="6" idx="7"/>
          </p:cNvCxnSpPr>
          <p:nvPr/>
        </p:nvCxnSpPr>
        <p:spPr>
          <a:xfrm flipV="1">
            <a:off x="7838159" y="1513840"/>
            <a:ext cx="1143281" cy="27672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FE95C991-9F5E-8DAF-0686-3C1453A543DE}"/>
              </a:ext>
            </a:extLst>
          </p:cNvPr>
          <p:cNvPicPr>
            <a:picLocks noChangeAspect="1"/>
          </p:cNvPicPr>
          <p:nvPr/>
        </p:nvPicPr>
        <p:blipFill>
          <a:blip r:embed="rId6"/>
          <a:stretch>
            <a:fillRect/>
          </a:stretch>
        </p:blipFill>
        <p:spPr>
          <a:xfrm>
            <a:off x="8749897" y="733180"/>
            <a:ext cx="3175244" cy="6018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15B732E-3AF7-D4D2-5C47-81DEC74678F3}"/>
                  </a:ext>
                </a:extLst>
              </p:cNvPr>
              <p:cNvSpPr txBox="1"/>
              <p:nvPr/>
            </p:nvSpPr>
            <p:spPr>
              <a:xfrm>
                <a:off x="8409799" y="1721586"/>
                <a:ext cx="149352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1" smtClean="0">
                          <a:latin typeface="Cambria Math" panose="02040503050406030204" pitchFamily="18" charset="0"/>
                        </a:rPr>
                        <m:t>𝑠𝑐𝑎𝑙𝑒</m:t>
                      </m:r>
                    </m:oMath>
                  </m:oMathPara>
                </a14:m>
                <a:endParaRPr lang="en-US" dirty="0"/>
              </a:p>
            </p:txBody>
          </p:sp>
        </mc:Choice>
        <mc:Fallback xmlns="">
          <p:sp>
            <p:nvSpPr>
              <p:cNvPr id="12" name="TextBox 11">
                <a:extLst>
                  <a:ext uri="{FF2B5EF4-FFF2-40B4-BE49-F238E27FC236}">
                    <a16:creationId xmlns:a16="http://schemas.microsoft.com/office/drawing/2014/main" id="{B15B732E-3AF7-D4D2-5C47-81DEC74678F3}"/>
                  </a:ext>
                </a:extLst>
              </p:cNvPr>
              <p:cNvSpPr txBox="1">
                <a:spLocks noRot="1" noChangeAspect="1" noMove="1" noResize="1" noEditPoints="1" noAdjustHandles="1" noChangeArrowheads="1" noChangeShapeType="1" noTextEdit="1"/>
              </p:cNvSpPr>
              <p:nvPr/>
            </p:nvSpPr>
            <p:spPr>
              <a:xfrm>
                <a:off x="8409799" y="1721586"/>
                <a:ext cx="1493520" cy="36933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839382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E1D8F-D9E6-7C0A-5C99-911AA1914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436A7-63B9-2B12-24CF-14F7E503EAC6}"/>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Continuous Wavelet Transform (CWT) – Definition</a:t>
            </a:r>
            <a:endParaRPr lang="en-US" dirty="0"/>
          </a:p>
        </p:txBody>
      </p:sp>
      <p:sp>
        <p:nvSpPr>
          <p:cNvPr id="4" name="Footer Placeholder 3">
            <a:extLst>
              <a:ext uri="{FF2B5EF4-FFF2-40B4-BE49-F238E27FC236}">
                <a16:creationId xmlns:a16="http://schemas.microsoft.com/office/drawing/2014/main" id="{EB812E5A-F1CC-E3CE-8D12-286A1D16957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5B6C371-143B-8083-9527-5CAD914297E5}"/>
              </a:ext>
            </a:extLst>
          </p:cNvPr>
          <p:cNvSpPr>
            <a:spLocks noGrp="1"/>
          </p:cNvSpPr>
          <p:nvPr>
            <p:ph type="sldNum" sz="quarter" idx="12"/>
          </p:nvPr>
        </p:nvSpPr>
        <p:spPr/>
        <p:txBody>
          <a:bodyPr/>
          <a:lstStyle/>
          <a:p>
            <a:fld id="{382B47E1-F59F-47B3-8D16-B2A0740F319A}" type="slidenum">
              <a:rPr lang="en-US" smtClean="0"/>
              <a:pPr/>
              <a:t>58</a:t>
            </a:fld>
            <a:endParaRPr lang="en-US" dirty="0"/>
          </a:p>
        </p:txBody>
      </p:sp>
      <p:pic>
        <p:nvPicPr>
          <p:cNvPr id="15" name="Content Placeholder 14">
            <a:extLst>
              <a:ext uri="{FF2B5EF4-FFF2-40B4-BE49-F238E27FC236}">
                <a16:creationId xmlns:a16="http://schemas.microsoft.com/office/drawing/2014/main" id="{923DC8E1-41D5-C2BC-FFA3-E735FA8FE012}"/>
              </a:ext>
            </a:extLst>
          </p:cNvPr>
          <p:cNvPicPr>
            <a:picLocks noGrp="1" noChangeAspect="1"/>
          </p:cNvPicPr>
          <p:nvPr>
            <p:ph idx="1"/>
          </p:nvPr>
        </p:nvPicPr>
        <p:blipFill>
          <a:blip r:embed="rId3"/>
          <a:stretch>
            <a:fillRect/>
          </a:stretch>
        </p:blipFill>
        <p:spPr>
          <a:xfrm>
            <a:off x="1054051" y="2879967"/>
            <a:ext cx="10083898" cy="2712757"/>
          </a:xfrm>
          <a:prstGeom prst="rect">
            <a:avLst/>
          </a:prstGeom>
        </p:spPr>
      </p:pic>
    </p:spTree>
    <p:extLst>
      <p:ext uri="{BB962C8B-B14F-4D97-AF65-F5344CB8AC3E}">
        <p14:creationId xmlns:p14="http://schemas.microsoft.com/office/powerpoint/2010/main" val="30648357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321CE-8924-DE6E-A913-C59603871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710DF-15B3-D8C0-9081-15691D5E91E0}"/>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Continuous Wavelet Transform (CWT) – Definition</a:t>
            </a:r>
            <a:endParaRPr lang="en-US" dirty="0"/>
          </a:p>
        </p:txBody>
      </p:sp>
      <p:sp>
        <p:nvSpPr>
          <p:cNvPr id="4" name="Footer Placeholder 3">
            <a:extLst>
              <a:ext uri="{FF2B5EF4-FFF2-40B4-BE49-F238E27FC236}">
                <a16:creationId xmlns:a16="http://schemas.microsoft.com/office/drawing/2014/main" id="{5E743B76-C9A6-D6AE-1438-EDA3D74D060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71020F7-7D82-F910-4706-1AA10AC1E108}"/>
              </a:ext>
            </a:extLst>
          </p:cNvPr>
          <p:cNvSpPr>
            <a:spLocks noGrp="1"/>
          </p:cNvSpPr>
          <p:nvPr>
            <p:ph type="sldNum" sz="quarter" idx="12"/>
          </p:nvPr>
        </p:nvSpPr>
        <p:spPr/>
        <p:txBody>
          <a:bodyPr/>
          <a:lstStyle/>
          <a:p>
            <a:fld id="{382B47E1-F59F-47B3-8D16-B2A0740F319A}" type="slidenum">
              <a:rPr lang="en-US" smtClean="0"/>
              <a:pPr/>
              <a:t>59</a:t>
            </a:fld>
            <a:endParaRPr lang="en-US" dirty="0"/>
          </a:p>
        </p:txBody>
      </p:sp>
      <p:pic>
        <p:nvPicPr>
          <p:cNvPr id="12" name="Content Placeholder 11">
            <a:extLst>
              <a:ext uri="{FF2B5EF4-FFF2-40B4-BE49-F238E27FC236}">
                <a16:creationId xmlns:a16="http://schemas.microsoft.com/office/drawing/2014/main" id="{507FA8FA-4433-2E19-871D-0605FAB67C92}"/>
              </a:ext>
            </a:extLst>
          </p:cNvPr>
          <p:cNvPicPr>
            <a:picLocks noGrp="1" noChangeAspect="1"/>
          </p:cNvPicPr>
          <p:nvPr>
            <p:ph idx="1"/>
          </p:nvPr>
        </p:nvPicPr>
        <p:blipFill>
          <a:blip r:embed="rId3"/>
          <a:stretch>
            <a:fillRect/>
          </a:stretch>
        </p:blipFill>
        <p:spPr>
          <a:xfrm>
            <a:off x="852307" y="2576171"/>
            <a:ext cx="10487385" cy="2906572"/>
          </a:xfrm>
        </p:spPr>
      </p:pic>
    </p:spTree>
    <p:extLst>
      <p:ext uri="{BB962C8B-B14F-4D97-AF65-F5344CB8AC3E}">
        <p14:creationId xmlns:p14="http://schemas.microsoft.com/office/powerpoint/2010/main" val="11780118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E38DB-81C1-627B-5523-20C042F74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9F322-24F4-39A7-DF3F-BD6713DAEBD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Continuous Wavelet Transform (CWT) – Definition</a:t>
            </a:r>
            <a:endParaRPr lang="en-US" dirty="0"/>
          </a:p>
        </p:txBody>
      </p:sp>
      <p:sp>
        <p:nvSpPr>
          <p:cNvPr id="4" name="Footer Placeholder 3">
            <a:extLst>
              <a:ext uri="{FF2B5EF4-FFF2-40B4-BE49-F238E27FC236}">
                <a16:creationId xmlns:a16="http://schemas.microsoft.com/office/drawing/2014/main" id="{3B44C642-1981-60AB-BE17-ACB0684664D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A9D85A05-20C7-B984-1169-BC6E53708843}"/>
              </a:ext>
            </a:extLst>
          </p:cNvPr>
          <p:cNvSpPr>
            <a:spLocks noGrp="1"/>
          </p:cNvSpPr>
          <p:nvPr>
            <p:ph type="sldNum" sz="quarter" idx="12"/>
          </p:nvPr>
        </p:nvSpPr>
        <p:spPr/>
        <p:txBody>
          <a:bodyPr/>
          <a:lstStyle/>
          <a:p>
            <a:fld id="{382B47E1-F59F-47B3-8D16-B2A0740F319A}" type="slidenum">
              <a:rPr lang="en-US" smtClean="0"/>
              <a:pPr/>
              <a:t>60</a:t>
            </a:fld>
            <a:endParaRPr lang="en-US" dirty="0"/>
          </a:p>
        </p:txBody>
      </p:sp>
      <p:pic>
        <p:nvPicPr>
          <p:cNvPr id="8" name="Content Placeholder 7">
            <a:extLst>
              <a:ext uri="{FF2B5EF4-FFF2-40B4-BE49-F238E27FC236}">
                <a16:creationId xmlns:a16="http://schemas.microsoft.com/office/drawing/2014/main" id="{1D71D08B-E6CE-4B8E-E809-C69947D95F0F}"/>
              </a:ext>
            </a:extLst>
          </p:cNvPr>
          <p:cNvPicPr>
            <a:picLocks noGrp="1" noChangeAspect="1"/>
          </p:cNvPicPr>
          <p:nvPr>
            <p:ph idx="1"/>
          </p:nvPr>
        </p:nvPicPr>
        <p:blipFill>
          <a:blip r:embed="rId3"/>
          <a:stretch>
            <a:fillRect/>
          </a:stretch>
        </p:blipFill>
        <p:spPr>
          <a:xfrm>
            <a:off x="962638" y="2255736"/>
            <a:ext cx="10266723" cy="3928534"/>
          </a:xfrm>
        </p:spPr>
      </p:pic>
    </p:spTree>
    <p:extLst>
      <p:ext uri="{BB962C8B-B14F-4D97-AF65-F5344CB8AC3E}">
        <p14:creationId xmlns:p14="http://schemas.microsoft.com/office/powerpoint/2010/main" val="33519367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56269-48C5-BCC5-9351-AA896CECE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49892-10A3-5648-D4E8-E4D628D7598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Continuous Wavelet Transform (CWT) – Definition</a:t>
            </a:r>
            <a:endParaRPr lang="en-US" dirty="0"/>
          </a:p>
        </p:txBody>
      </p:sp>
      <p:sp>
        <p:nvSpPr>
          <p:cNvPr id="4" name="Footer Placeholder 3">
            <a:extLst>
              <a:ext uri="{FF2B5EF4-FFF2-40B4-BE49-F238E27FC236}">
                <a16:creationId xmlns:a16="http://schemas.microsoft.com/office/drawing/2014/main" id="{7006056E-226F-2772-70EC-7C9B5891CB8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180247A-080E-7497-8588-44E085B34721}"/>
              </a:ext>
            </a:extLst>
          </p:cNvPr>
          <p:cNvSpPr>
            <a:spLocks noGrp="1"/>
          </p:cNvSpPr>
          <p:nvPr>
            <p:ph type="sldNum" sz="quarter" idx="12"/>
          </p:nvPr>
        </p:nvSpPr>
        <p:spPr/>
        <p:txBody>
          <a:bodyPr/>
          <a:lstStyle/>
          <a:p>
            <a:fld id="{382B47E1-F59F-47B3-8D16-B2A0740F319A}" type="slidenum">
              <a:rPr lang="en-US" smtClean="0"/>
              <a:pPr/>
              <a:t>61</a:t>
            </a:fld>
            <a:endParaRPr lang="en-US" dirty="0"/>
          </a:p>
        </p:txBody>
      </p:sp>
      <p:pic>
        <p:nvPicPr>
          <p:cNvPr id="9" name="Content Placeholder 8">
            <a:extLst>
              <a:ext uri="{FF2B5EF4-FFF2-40B4-BE49-F238E27FC236}">
                <a16:creationId xmlns:a16="http://schemas.microsoft.com/office/drawing/2014/main" id="{638C5719-D315-4357-9EA8-7E19F2E6C644}"/>
              </a:ext>
            </a:extLst>
          </p:cNvPr>
          <p:cNvPicPr>
            <a:picLocks noGrp="1" noChangeAspect="1"/>
          </p:cNvPicPr>
          <p:nvPr>
            <p:ph idx="1"/>
          </p:nvPr>
        </p:nvPicPr>
        <p:blipFill>
          <a:blip r:embed="rId3"/>
          <a:stretch>
            <a:fillRect/>
          </a:stretch>
        </p:blipFill>
        <p:spPr>
          <a:xfrm>
            <a:off x="972737" y="3079893"/>
            <a:ext cx="5184751" cy="2048876"/>
          </a:xfrm>
        </p:spPr>
      </p:pic>
      <p:pic>
        <p:nvPicPr>
          <p:cNvPr id="11" name="Picture 10">
            <a:extLst>
              <a:ext uri="{FF2B5EF4-FFF2-40B4-BE49-F238E27FC236}">
                <a16:creationId xmlns:a16="http://schemas.microsoft.com/office/drawing/2014/main" id="{69CE601B-323D-236C-CA3C-EC7D2A4F3AA5}"/>
              </a:ext>
            </a:extLst>
          </p:cNvPr>
          <p:cNvPicPr>
            <a:picLocks noChangeAspect="1"/>
          </p:cNvPicPr>
          <p:nvPr/>
        </p:nvPicPr>
        <p:blipFill>
          <a:blip r:embed="rId4"/>
          <a:stretch>
            <a:fillRect/>
          </a:stretch>
        </p:blipFill>
        <p:spPr>
          <a:xfrm>
            <a:off x="6096000" y="2998613"/>
            <a:ext cx="5388075" cy="2048876"/>
          </a:xfrm>
          <a:prstGeom prst="rect">
            <a:avLst/>
          </a:prstGeom>
        </p:spPr>
      </p:pic>
      <p:pic>
        <p:nvPicPr>
          <p:cNvPr id="13" name="Picture 12">
            <a:extLst>
              <a:ext uri="{FF2B5EF4-FFF2-40B4-BE49-F238E27FC236}">
                <a16:creationId xmlns:a16="http://schemas.microsoft.com/office/drawing/2014/main" id="{A500D47F-2D57-7F48-1AAE-208E6EBFD74C}"/>
              </a:ext>
            </a:extLst>
          </p:cNvPr>
          <p:cNvPicPr>
            <a:picLocks noChangeAspect="1"/>
          </p:cNvPicPr>
          <p:nvPr/>
        </p:nvPicPr>
        <p:blipFill>
          <a:blip r:embed="rId5"/>
          <a:stretch>
            <a:fillRect/>
          </a:stretch>
        </p:blipFill>
        <p:spPr>
          <a:xfrm>
            <a:off x="3565112" y="5837734"/>
            <a:ext cx="5753903" cy="409632"/>
          </a:xfrm>
          <a:prstGeom prst="rect">
            <a:avLst/>
          </a:prstGeom>
        </p:spPr>
      </p:pic>
    </p:spTree>
    <p:extLst>
      <p:ext uri="{BB962C8B-B14F-4D97-AF65-F5344CB8AC3E}">
        <p14:creationId xmlns:p14="http://schemas.microsoft.com/office/powerpoint/2010/main" val="28622356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B9937-3591-74E8-35A7-F9C131C0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881FB-3BA4-AAC1-CECC-9074EFF98B0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wavelet Definition</a:t>
            </a:r>
            <a:endParaRPr lang="en-US" dirty="0"/>
          </a:p>
        </p:txBody>
      </p:sp>
      <p:sp>
        <p:nvSpPr>
          <p:cNvPr id="4" name="Footer Placeholder 3">
            <a:extLst>
              <a:ext uri="{FF2B5EF4-FFF2-40B4-BE49-F238E27FC236}">
                <a16:creationId xmlns:a16="http://schemas.microsoft.com/office/drawing/2014/main" id="{106BEF48-C12D-8BEC-2D94-33FB4FE872F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15FA27F-08B4-0E44-9DFE-EDE66FD3D0AC}"/>
              </a:ext>
            </a:extLst>
          </p:cNvPr>
          <p:cNvSpPr>
            <a:spLocks noGrp="1"/>
          </p:cNvSpPr>
          <p:nvPr>
            <p:ph type="sldNum" sz="quarter" idx="12"/>
          </p:nvPr>
        </p:nvSpPr>
        <p:spPr/>
        <p:txBody>
          <a:bodyPr/>
          <a:lstStyle/>
          <a:p>
            <a:fld id="{382B47E1-F59F-47B3-8D16-B2A0740F319A}" type="slidenum">
              <a:rPr lang="en-US" smtClean="0"/>
              <a:pPr/>
              <a:t>62</a:t>
            </a:fld>
            <a:endParaRPr lang="en-US" dirty="0"/>
          </a:p>
        </p:txBody>
      </p:sp>
      <p:pic>
        <p:nvPicPr>
          <p:cNvPr id="8" name="Content Placeholder 7">
            <a:extLst>
              <a:ext uri="{FF2B5EF4-FFF2-40B4-BE49-F238E27FC236}">
                <a16:creationId xmlns:a16="http://schemas.microsoft.com/office/drawing/2014/main" id="{60BE47E9-715A-B720-385B-87D890553F22}"/>
              </a:ext>
            </a:extLst>
          </p:cNvPr>
          <p:cNvPicPr>
            <a:picLocks noGrp="1" noChangeAspect="1"/>
          </p:cNvPicPr>
          <p:nvPr>
            <p:ph idx="1"/>
          </p:nvPr>
        </p:nvPicPr>
        <p:blipFill>
          <a:blip r:embed="rId3"/>
          <a:stretch>
            <a:fillRect/>
          </a:stretch>
        </p:blipFill>
        <p:spPr>
          <a:xfrm>
            <a:off x="1024127" y="2468880"/>
            <a:ext cx="10125426" cy="3245043"/>
          </a:xfrm>
        </p:spPr>
      </p:pic>
    </p:spTree>
    <p:extLst>
      <p:ext uri="{BB962C8B-B14F-4D97-AF65-F5344CB8AC3E}">
        <p14:creationId xmlns:p14="http://schemas.microsoft.com/office/powerpoint/2010/main" val="35591639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2875-20D8-A866-F84E-87732770E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EEE2C7-EA33-923C-3A35-6BDCF25B84E8}"/>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examples of mother wavelets</a:t>
            </a:r>
            <a:endParaRPr lang="en-US" dirty="0"/>
          </a:p>
        </p:txBody>
      </p:sp>
      <p:sp>
        <p:nvSpPr>
          <p:cNvPr id="4" name="Footer Placeholder 3">
            <a:extLst>
              <a:ext uri="{FF2B5EF4-FFF2-40B4-BE49-F238E27FC236}">
                <a16:creationId xmlns:a16="http://schemas.microsoft.com/office/drawing/2014/main" id="{4A238BEE-6C03-03E3-6280-D77881C0D4F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0BADA14-1E00-526C-C09C-2FB3214BDE15}"/>
              </a:ext>
            </a:extLst>
          </p:cNvPr>
          <p:cNvSpPr>
            <a:spLocks noGrp="1"/>
          </p:cNvSpPr>
          <p:nvPr>
            <p:ph type="sldNum" sz="quarter" idx="12"/>
          </p:nvPr>
        </p:nvSpPr>
        <p:spPr/>
        <p:txBody>
          <a:bodyPr/>
          <a:lstStyle/>
          <a:p>
            <a:fld id="{382B47E1-F59F-47B3-8D16-B2A0740F319A}" type="slidenum">
              <a:rPr lang="en-US" smtClean="0"/>
              <a:pPr/>
              <a:t>63</a:t>
            </a:fld>
            <a:endParaRPr lang="en-US" dirty="0"/>
          </a:p>
        </p:txBody>
      </p:sp>
      <p:pic>
        <p:nvPicPr>
          <p:cNvPr id="9" name="Content Placeholder 8">
            <a:extLst>
              <a:ext uri="{FF2B5EF4-FFF2-40B4-BE49-F238E27FC236}">
                <a16:creationId xmlns:a16="http://schemas.microsoft.com/office/drawing/2014/main" id="{619CEE3A-0FD6-3C69-B45C-1F8876EC33D9}"/>
              </a:ext>
            </a:extLst>
          </p:cNvPr>
          <p:cNvPicPr>
            <a:picLocks noGrp="1" noChangeAspect="1"/>
          </p:cNvPicPr>
          <p:nvPr>
            <p:ph idx="1"/>
          </p:nvPr>
        </p:nvPicPr>
        <p:blipFill>
          <a:blip r:embed="rId3"/>
          <a:stretch>
            <a:fillRect/>
          </a:stretch>
        </p:blipFill>
        <p:spPr>
          <a:xfrm>
            <a:off x="1024126" y="2084832"/>
            <a:ext cx="10758609" cy="3899408"/>
          </a:xfrm>
        </p:spPr>
      </p:pic>
    </p:spTree>
    <p:extLst>
      <p:ext uri="{BB962C8B-B14F-4D97-AF65-F5344CB8AC3E}">
        <p14:creationId xmlns:p14="http://schemas.microsoft.com/office/powerpoint/2010/main" val="17880479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36EEE-B60F-C154-D71A-4E57BB5D0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F5C0-AA0A-E082-4BCB-4B421B653148}"/>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examples of mother wavelets</a:t>
            </a:r>
            <a:endParaRPr lang="en-US" dirty="0"/>
          </a:p>
        </p:txBody>
      </p:sp>
      <p:sp>
        <p:nvSpPr>
          <p:cNvPr id="4" name="Footer Placeholder 3">
            <a:extLst>
              <a:ext uri="{FF2B5EF4-FFF2-40B4-BE49-F238E27FC236}">
                <a16:creationId xmlns:a16="http://schemas.microsoft.com/office/drawing/2014/main" id="{02BCFFC7-BAB7-53B5-D025-0AD7F7DAB56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1478971-548F-3208-D80D-559262C3CFB9}"/>
              </a:ext>
            </a:extLst>
          </p:cNvPr>
          <p:cNvSpPr>
            <a:spLocks noGrp="1"/>
          </p:cNvSpPr>
          <p:nvPr>
            <p:ph type="sldNum" sz="quarter" idx="12"/>
          </p:nvPr>
        </p:nvSpPr>
        <p:spPr/>
        <p:txBody>
          <a:bodyPr/>
          <a:lstStyle/>
          <a:p>
            <a:fld id="{382B47E1-F59F-47B3-8D16-B2A0740F319A}" type="slidenum">
              <a:rPr lang="en-US" smtClean="0"/>
              <a:pPr/>
              <a:t>64</a:t>
            </a:fld>
            <a:endParaRPr lang="en-US" dirty="0"/>
          </a:p>
        </p:txBody>
      </p:sp>
      <p:pic>
        <p:nvPicPr>
          <p:cNvPr id="8" name="Content Placeholder 7">
            <a:extLst>
              <a:ext uri="{FF2B5EF4-FFF2-40B4-BE49-F238E27FC236}">
                <a16:creationId xmlns:a16="http://schemas.microsoft.com/office/drawing/2014/main" id="{4C4F4CA9-99ED-3560-DA57-FE2A49E238E4}"/>
              </a:ext>
            </a:extLst>
          </p:cNvPr>
          <p:cNvPicPr>
            <a:picLocks noGrp="1" noChangeAspect="1"/>
          </p:cNvPicPr>
          <p:nvPr>
            <p:ph idx="1"/>
          </p:nvPr>
        </p:nvPicPr>
        <p:blipFill>
          <a:blip r:embed="rId3"/>
          <a:stretch>
            <a:fillRect/>
          </a:stretch>
        </p:blipFill>
        <p:spPr>
          <a:xfrm>
            <a:off x="2068949" y="2147514"/>
            <a:ext cx="8177078" cy="4250899"/>
          </a:xfrm>
        </p:spPr>
      </p:pic>
      <p:sp>
        <p:nvSpPr>
          <p:cNvPr id="11" name="TextBox 10">
            <a:extLst>
              <a:ext uri="{FF2B5EF4-FFF2-40B4-BE49-F238E27FC236}">
                <a16:creationId xmlns:a16="http://schemas.microsoft.com/office/drawing/2014/main" id="{7905F8BE-599D-848D-C475-EE8FAF8F23BF}"/>
              </a:ext>
            </a:extLst>
          </p:cNvPr>
          <p:cNvSpPr txBox="1"/>
          <p:nvPr/>
        </p:nvSpPr>
        <p:spPr>
          <a:xfrm>
            <a:off x="3585991" y="1931507"/>
            <a:ext cx="466392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 Mexican Hat ) Gaussian Derivatives for n=2 </a:t>
            </a:r>
          </a:p>
        </p:txBody>
      </p:sp>
    </p:spTree>
    <p:extLst>
      <p:ext uri="{BB962C8B-B14F-4D97-AF65-F5344CB8AC3E}">
        <p14:creationId xmlns:p14="http://schemas.microsoft.com/office/powerpoint/2010/main" val="30880597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DFB2-BD97-CD87-77B0-8280EB00F6CE}"/>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examples of mother wavelets</a:t>
            </a:r>
            <a:endParaRPr lang="en-US" dirty="0"/>
          </a:p>
        </p:txBody>
      </p:sp>
      <p:pic>
        <p:nvPicPr>
          <p:cNvPr id="7" name="Content Placeholder 6">
            <a:extLst>
              <a:ext uri="{FF2B5EF4-FFF2-40B4-BE49-F238E27FC236}">
                <a16:creationId xmlns:a16="http://schemas.microsoft.com/office/drawing/2014/main" id="{D59987D4-83BD-1D62-078F-FE0B2C0E5115}"/>
              </a:ext>
            </a:extLst>
          </p:cNvPr>
          <p:cNvPicPr>
            <a:picLocks noGrp="1" noChangeAspect="1"/>
          </p:cNvPicPr>
          <p:nvPr>
            <p:ph idx="1"/>
          </p:nvPr>
        </p:nvPicPr>
        <p:blipFill>
          <a:blip r:embed="rId2"/>
          <a:stretch>
            <a:fillRect/>
          </a:stretch>
        </p:blipFill>
        <p:spPr>
          <a:xfrm>
            <a:off x="2255520" y="2012566"/>
            <a:ext cx="7336271" cy="4296159"/>
          </a:xfrm>
        </p:spPr>
      </p:pic>
      <p:sp>
        <p:nvSpPr>
          <p:cNvPr id="4" name="Footer Placeholder 3">
            <a:extLst>
              <a:ext uri="{FF2B5EF4-FFF2-40B4-BE49-F238E27FC236}">
                <a16:creationId xmlns:a16="http://schemas.microsoft.com/office/drawing/2014/main" id="{18A86B3E-2A64-7F1B-869E-FCBA4CB1CF2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0142BAC-B51C-E462-D847-649F362455B5}"/>
              </a:ext>
            </a:extLst>
          </p:cNvPr>
          <p:cNvSpPr>
            <a:spLocks noGrp="1"/>
          </p:cNvSpPr>
          <p:nvPr>
            <p:ph type="sldNum" sz="quarter" idx="12"/>
          </p:nvPr>
        </p:nvSpPr>
        <p:spPr/>
        <p:txBody>
          <a:bodyPr/>
          <a:lstStyle/>
          <a:p>
            <a:fld id="{382B47E1-F59F-47B3-8D16-B2A0740F319A}" type="slidenum">
              <a:rPr lang="en-US" smtClean="0"/>
              <a:pPr/>
              <a:t>65</a:t>
            </a:fld>
            <a:endParaRPr lang="en-US" dirty="0"/>
          </a:p>
        </p:txBody>
      </p:sp>
    </p:spTree>
    <p:extLst>
      <p:ext uri="{BB962C8B-B14F-4D97-AF65-F5344CB8AC3E}">
        <p14:creationId xmlns:p14="http://schemas.microsoft.com/office/powerpoint/2010/main" val="39182473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8D64A-F5DF-ACB2-49C5-2DF40D3A0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47E58-CE36-3962-4E27-55877AA1B079}"/>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Fourier Transform of wavelets</a:t>
            </a:r>
            <a:endParaRPr lang="en-US" dirty="0"/>
          </a:p>
        </p:txBody>
      </p:sp>
      <p:sp>
        <p:nvSpPr>
          <p:cNvPr id="4" name="Footer Placeholder 3">
            <a:extLst>
              <a:ext uri="{FF2B5EF4-FFF2-40B4-BE49-F238E27FC236}">
                <a16:creationId xmlns:a16="http://schemas.microsoft.com/office/drawing/2014/main" id="{5AA94EC4-9AF2-1E73-FC4F-F62CD1A8591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31B69D9-F268-620D-7AA5-ECAA0B2923B8}"/>
              </a:ext>
            </a:extLst>
          </p:cNvPr>
          <p:cNvSpPr>
            <a:spLocks noGrp="1"/>
          </p:cNvSpPr>
          <p:nvPr>
            <p:ph type="sldNum" sz="quarter" idx="12"/>
          </p:nvPr>
        </p:nvSpPr>
        <p:spPr/>
        <p:txBody>
          <a:bodyPr/>
          <a:lstStyle/>
          <a:p>
            <a:fld id="{382B47E1-F59F-47B3-8D16-B2A0740F319A}" type="slidenum">
              <a:rPr lang="en-US" smtClean="0"/>
              <a:pPr/>
              <a:t>66</a:t>
            </a:fld>
            <a:endParaRPr lang="en-US" dirty="0"/>
          </a:p>
        </p:txBody>
      </p:sp>
      <p:pic>
        <p:nvPicPr>
          <p:cNvPr id="9" name="Content Placeholder 8">
            <a:extLst>
              <a:ext uri="{FF2B5EF4-FFF2-40B4-BE49-F238E27FC236}">
                <a16:creationId xmlns:a16="http://schemas.microsoft.com/office/drawing/2014/main" id="{088B8A9D-05D9-12DE-398E-C5E8A9F5A897}"/>
              </a:ext>
            </a:extLst>
          </p:cNvPr>
          <p:cNvPicPr>
            <a:picLocks noGrp="1" noChangeAspect="1"/>
          </p:cNvPicPr>
          <p:nvPr>
            <p:ph idx="1"/>
          </p:nvPr>
        </p:nvPicPr>
        <p:blipFill>
          <a:blip r:embed="rId3"/>
          <a:stretch>
            <a:fillRect/>
          </a:stretch>
        </p:blipFill>
        <p:spPr>
          <a:xfrm>
            <a:off x="1505423" y="3826764"/>
            <a:ext cx="9181154" cy="1344169"/>
          </a:xfrm>
        </p:spPr>
      </p:pic>
      <p:sp>
        <p:nvSpPr>
          <p:cNvPr id="10" name="TextBox 9">
            <a:extLst>
              <a:ext uri="{FF2B5EF4-FFF2-40B4-BE49-F238E27FC236}">
                <a16:creationId xmlns:a16="http://schemas.microsoft.com/office/drawing/2014/main" id="{AADAD00F-8748-1905-7254-4CA1CDA4D063}"/>
              </a:ext>
            </a:extLst>
          </p:cNvPr>
          <p:cNvSpPr txBox="1"/>
          <p:nvPr/>
        </p:nvSpPr>
        <p:spPr>
          <a:xfrm>
            <a:off x="1097280" y="2489200"/>
            <a:ext cx="10193570" cy="830997"/>
          </a:xfrm>
          <a:prstGeom prst="rect">
            <a:avLst/>
          </a:prstGeom>
          <a:noFill/>
        </p:spPr>
        <p:txBody>
          <a:bodyPr wrap="square" rtlCol="0">
            <a:spAutoFit/>
          </a:bodyPr>
          <a:lstStyle/>
          <a:p>
            <a:pPr marL="342900" indent="-342900">
              <a:buFont typeface="Wingdings" panose="05000000000000000000" pitchFamily="2" charset="2"/>
              <a:buChar char="q"/>
            </a:pPr>
            <a:endParaRPr lang="en-US" sz="2400" b="1" dirty="0"/>
          </a:p>
          <a:p>
            <a:pPr marL="342900" indent="-342900">
              <a:buFont typeface="Wingdings" panose="05000000000000000000" pitchFamily="2" charset="2"/>
              <a:buChar char="q"/>
            </a:pPr>
            <a:r>
              <a:rPr lang="en-US" sz="2400" b="1" dirty="0"/>
              <a:t>Fourier Transform of wavelets :</a:t>
            </a:r>
          </a:p>
        </p:txBody>
      </p:sp>
    </p:spTree>
    <p:extLst>
      <p:ext uri="{BB962C8B-B14F-4D97-AF65-F5344CB8AC3E}">
        <p14:creationId xmlns:p14="http://schemas.microsoft.com/office/powerpoint/2010/main" val="23909083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01532-BA75-D610-1243-F01ACCDBB9E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5C5D727-BDEF-3709-7C21-7BB918C6293D}"/>
              </a:ext>
            </a:extLst>
          </p:cNvPr>
          <p:cNvPicPr>
            <a:picLocks noChangeAspect="1"/>
          </p:cNvPicPr>
          <p:nvPr/>
        </p:nvPicPr>
        <p:blipFill>
          <a:blip r:embed="rId3"/>
          <a:stretch>
            <a:fillRect/>
          </a:stretch>
        </p:blipFill>
        <p:spPr>
          <a:xfrm>
            <a:off x="5253777" y="1748929"/>
            <a:ext cx="6037073" cy="4712166"/>
          </a:xfrm>
          <a:prstGeom prst="rect">
            <a:avLst/>
          </a:prstGeom>
        </p:spPr>
      </p:pic>
      <p:sp>
        <p:nvSpPr>
          <p:cNvPr id="2" name="Title 1">
            <a:extLst>
              <a:ext uri="{FF2B5EF4-FFF2-40B4-BE49-F238E27FC236}">
                <a16:creationId xmlns:a16="http://schemas.microsoft.com/office/drawing/2014/main" id="{B9F71C00-779F-92E3-4ECB-6999613B9F6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Fourier Transform of wavelets</a:t>
            </a:r>
            <a:endParaRPr lang="en-US" dirty="0"/>
          </a:p>
        </p:txBody>
      </p:sp>
      <p:sp>
        <p:nvSpPr>
          <p:cNvPr id="4" name="Footer Placeholder 3">
            <a:extLst>
              <a:ext uri="{FF2B5EF4-FFF2-40B4-BE49-F238E27FC236}">
                <a16:creationId xmlns:a16="http://schemas.microsoft.com/office/drawing/2014/main" id="{F0E618D8-7269-FF10-2179-5D66D0E5396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8F6AAC4-CA39-1726-CC48-EB269F7F8871}"/>
              </a:ext>
            </a:extLst>
          </p:cNvPr>
          <p:cNvSpPr>
            <a:spLocks noGrp="1"/>
          </p:cNvSpPr>
          <p:nvPr>
            <p:ph type="sldNum" sz="quarter" idx="12"/>
          </p:nvPr>
        </p:nvSpPr>
        <p:spPr/>
        <p:txBody>
          <a:bodyPr/>
          <a:lstStyle/>
          <a:p>
            <a:fld id="{382B47E1-F59F-47B3-8D16-B2A0740F319A}" type="slidenum">
              <a:rPr lang="en-US" smtClean="0"/>
              <a:pPr/>
              <a:t>67</a:t>
            </a:fld>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E3E744B-6C03-5FA5-2268-4440BA0A060D}"/>
                  </a:ext>
                </a:extLst>
              </p:cNvPr>
              <p:cNvSpPr txBox="1"/>
              <p:nvPr/>
            </p:nvSpPr>
            <p:spPr>
              <a:xfrm>
                <a:off x="1024127" y="2374232"/>
                <a:ext cx="4229650" cy="2776081"/>
              </a:xfrm>
              <a:prstGeom prst="rect">
                <a:avLst/>
              </a:prstGeom>
              <a:noFill/>
            </p:spPr>
            <p:txBody>
              <a:bodyPr wrap="square" rtlCol="0">
                <a:spAutoFit/>
              </a:bodyPr>
              <a:lstStyle/>
              <a:p>
                <a:r>
                  <a:rPr lang="en-US" sz="2000" b="1" dirty="0">
                    <a:solidFill>
                      <a:srgbClr val="0070C0"/>
                    </a:solidFill>
                  </a:rPr>
                  <a:t>Figure:</a:t>
                </a:r>
              </a:p>
              <a:p>
                <a:pPr algn="ctr"/>
                <a:r>
                  <a:rPr lang="en-US" sz="2000" b="1" dirty="0"/>
                  <a:t>Fourier Transform (modulus) of Morlet wavelets of scales </a:t>
                </a:r>
                <a14:m>
                  <m:oMath xmlns:m="http://schemas.openxmlformats.org/officeDocument/2006/math">
                    <m:r>
                      <a:rPr lang="en-US" sz="2000" b="1" i="1" dirty="0" smtClean="0">
                        <a:latin typeface="Cambria Math" panose="02040503050406030204" pitchFamily="18" charset="0"/>
                      </a:rPr>
                      <m:t>𝒂</m:t>
                    </m:r>
                    <m:r>
                      <a:rPr lang="en-US" sz="2000" b="1" i="1" dirty="0" smtClean="0">
                        <a:latin typeface="Cambria Math" panose="02040503050406030204" pitchFamily="18" charset="0"/>
                      </a:rPr>
                      <m:t>=</m:t>
                    </m:r>
                    <m:f>
                      <m:fPr>
                        <m:ctrlPr>
                          <a:rPr lang="en-US" sz="2000" b="1" i="1" dirty="0" smtClean="0">
                            <a:latin typeface="Cambria Math" panose="02040503050406030204" pitchFamily="18" charset="0"/>
                          </a:rPr>
                        </m:ctrlPr>
                      </m:fPr>
                      <m:num>
                        <m:r>
                          <a:rPr lang="en-US" sz="2000" b="1" i="1" dirty="0" smtClean="0">
                            <a:latin typeface="Cambria Math" panose="02040503050406030204" pitchFamily="18" charset="0"/>
                          </a:rPr>
                          <m:t>𝟏</m:t>
                        </m:r>
                      </m:num>
                      <m:den>
                        <m:r>
                          <a:rPr lang="en-US" sz="2000" b="1" i="1" dirty="0" smtClean="0">
                            <a:latin typeface="Cambria Math" panose="02040503050406030204" pitchFamily="18" charset="0"/>
                          </a:rPr>
                          <m:t>𝟐</m:t>
                        </m:r>
                      </m:den>
                    </m:f>
                    <m:r>
                      <a:rPr lang="en-US" sz="2000" b="1" i="1" dirty="0" smtClean="0">
                        <a:latin typeface="Cambria Math" panose="02040503050406030204" pitchFamily="18" charset="0"/>
                      </a:rPr>
                      <m:t>,</m:t>
                    </m:r>
                    <m:r>
                      <a:rPr lang="en-US" sz="2000" b="1" i="1" dirty="0">
                        <a:latin typeface="Cambria Math" panose="02040503050406030204" pitchFamily="18" charset="0"/>
                      </a:rPr>
                      <m:t> </m:t>
                    </m:r>
                    <m:r>
                      <a:rPr lang="en-US" sz="2000" b="1" i="1" dirty="0" smtClean="0">
                        <a:latin typeface="Cambria Math" panose="02040503050406030204" pitchFamily="18" charset="0"/>
                      </a:rPr>
                      <m:t>𝟏</m:t>
                    </m:r>
                    <m:r>
                      <a:rPr lang="en-US" sz="2000" b="1" i="1" dirty="0" smtClean="0">
                        <a:latin typeface="Cambria Math" panose="02040503050406030204" pitchFamily="18" charset="0"/>
                      </a:rPr>
                      <m:t>, </m:t>
                    </m:r>
                    <m:r>
                      <a:rPr lang="en-US" sz="2000" b="1" i="1" dirty="0" smtClean="0">
                        <a:latin typeface="Cambria Math" panose="02040503050406030204" pitchFamily="18" charset="0"/>
                      </a:rPr>
                      <m:t>𝟐</m:t>
                    </m:r>
                    <m:r>
                      <a:rPr lang="en-US" sz="2000" b="1" i="1" dirty="0" smtClean="0">
                        <a:latin typeface="Cambria Math" panose="02040503050406030204" pitchFamily="18" charset="0"/>
                      </a:rPr>
                      <m:t>.</m:t>
                    </m:r>
                  </m:oMath>
                </a14:m>
                <a:endParaRPr lang="en-US" sz="2000" b="1" dirty="0"/>
              </a:p>
              <a:p>
                <a:endParaRPr lang="en-US" dirty="0"/>
              </a:p>
              <a:p>
                <a:pPr algn="ctr"/>
                <a:r>
                  <a:rPr lang="en-US" sz="2000" b="1" dirty="0"/>
                  <a:t>Wavelets behave as band-pass filters around frequency </a:t>
                </a:r>
                <a14:m>
                  <m:oMath xmlns:m="http://schemas.openxmlformats.org/officeDocument/2006/math">
                    <m:r>
                      <a:rPr lang="en-US" sz="2000" b="1" i="1" smtClean="0">
                        <a:latin typeface="Cambria Math" panose="02040503050406030204" pitchFamily="18" charset="0"/>
                      </a:rPr>
                      <m:t>𝒗</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𝟎</m:t>
                            </m:r>
                          </m:sub>
                        </m:sSub>
                      </m:num>
                      <m:den>
                        <m:r>
                          <a:rPr lang="en-US" sz="2000" b="1" i="1" smtClean="0">
                            <a:latin typeface="Cambria Math" panose="02040503050406030204" pitchFamily="18" charset="0"/>
                          </a:rPr>
                          <m:t>𝒂</m:t>
                        </m:r>
                      </m:den>
                    </m:f>
                  </m:oMath>
                </a14:m>
                <a:r>
                  <a:rPr lang="en-US" sz="2000" b="1" dirty="0"/>
                  <a:t> where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𝟎</m:t>
                        </m:r>
                      </m:sub>
                    </m:sSub>
                  </m:oMath>
                </a14:m>
                <a:r>
                  <a:rPr lang="en-US" sz="2000" b="1" dirty="0"/>
                  <a:t> is the peak wavenumber (max of </a:t>
                </a:r>
                <a14:m>
                  <m:oMath xmlns:m="http://schemas.openxmlformats.org/officeDocument/2006/math">
                    <m:acc>
                      <m:accPr>
                        <m:chr m:val="̂"/>
                        <m:ctrlPr>
                          <a:rPr lang="en-US" sz="2000" b="1" i="1" smtClean="0">
                            <a:latin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𝝍</m:t>
                        </m:r>
                      </m:e>
                    </m:acc>
                  </m:oMath>
                </a14:m>
                <a:r>
                  <a:rPr lang="en-US" sz="2000" b="1" dirty="0"/>
                  <a:t>).</a:t>
                </a:r>
              </a:p>
              <a:p>
                <a:pPr algn="ctr"/>
                <a:r>
                  <a:rPr lang="en-US" sz="2000" b="1" dirty="0"/>
                  <a:t>For the Morlet wavelet,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r>
                      <a:rPr lang="en-US" sz="2000" b="1" i="1" smtClean="0">
                        <a:latin typeface="Cambria Math" panose="02040503050406030204" pitchFamily="18" charset="0"/>
                      </a:rPr>
                      <m:t>𝟓</m:t>
                    </m:r>
                  </m:oMath>
                </a14:m>
                <a:endParaRPr lang="en-US" sz="2000" b="1" dirty="0"/>
              </a:p>
            </p:txBody>
          </p:sp>
        </mc:Choice>
        <mc:Fallback xmlns="">
          <p:sp>
            <p:nvSpPr>
              <p:cNvPr id="11" name="TextBox 10">
                <a:extLst>
                  <a:ext uri="{FF2B5EF4-FFF2-40B4-BE49-F238E27FC236}">
                    <a16:creationId xmlns:a16="http://schemas.microsoft.com/office/drawing/2014/main" id="{AE3E744B-6C03-5FA5-2268-4440BA0A060D}"/>
                  </a:ext>
                </a:extLst>
              </p:cNvPr>
              <p:cNvSpPr txBox="1">
                <a:spLocks noRot="1" noChangeAspect="1" noMove="1" noResize="1" noEditPoints="1" noAdjustHandles="1" noChangeArrowheads="1" noChangeShapeType="1" noTextEdit="1"/>
              </p:cNvSpPr>
              <p:nvPr/>
            </p:nvSpPr>
            <p:spPr>
              <a:xfrm>
                <a:off x="1024127" y="2374232"/>
                <a:ext cx="4229650" cy="2776081"/>
              </a:xfrm>
              <a:prstGeom prst="rect">
                <a:avLst/>
              </a:prstGeom>
              <a:blipFill>
                <a:blip r:embed="rId4"/>
                <a:stretch>
                  <a:fillRect l="-1441" t="-1096" r="-2161" b="-2851"/>
                </a:stretch>
              </a:blipFill>
            </p:spPr>
            <p:txBody>
              <a:bodyPr/>
              <a:lstStyle/>
              <a:p>
                <a:r>
                  <a:rPr lang="en-US">
                    <a:noFill/>
                  </a:rPr>
                  <a:t> </a:t>
                </a:r>
              </a:p>
            </p:txBody>
          </p:sp>
        </mc:Fallback>
      </mc:AlternateContent>
    </p:spTree>
    <p:extLst>
      <p:ext uri="{BB962C8B-B14F-4D97-AF65-F5344CB8AC3E}">
        <p14:creationId xmlns:p14="http://schemas.microsoft.com/office/powerpoint/2010/main" val="24198937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66AFC-DAFF-2D0D-0AB2-C3913FE992C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Fourier Transform of wavelets</a:t>
            </a:r>
            <a:endParaRPr lang="en-US" dirty="0"/>
          </a:p>
        </p:txBody>
      </p:sp>
      <p:pic>
        <p:nvPicPr>
          <p:cNvPr id="7" name="Content Placeholder 6">
            <a:extLst>
              <a:ext uri="{FF2B5EF4-FFF2-40B4-BE49-F238E27FC236}">
                <a16:creationId xmlns:a16="http://schemas.microsoft.com/office/drawing/2014/main" id="{3545FA59-7255-ADD0-5983-926015E49DFC}"/>
              </a:ext>
            </a:extLst>
          </p:cNvPr>
          <p:cNvPicPr>
            <a:picLocks noGrp="1" noChangeAspect="1"/>
          </p:cNvPicPr>
          <p:nvPr>
            <p:ph idx="1"/>
          </p:nvPr>
        </p:nvPicPr>
        <p:blipFill>
          <a:blip r:embed="rId2"/>
          <a:stretch>
            <a:fillRect/>
          </a:stretch>
        </p:blipFill>
        <p:spPr>
          <a:xfrm>
            <a:off x="1297087" y="2306829"/>
            <a:ext cx="9597825" cy="3965955"/>
          </a:xfrm>
        </p:spPr>
      </p:pic>
      <p:sp>
        <p:nvSpPr>
          <p:cNvPr id="4" name="Footer Placeholder 3">
            <a:extLst>
              <a:ext uri="{FF2B5EF4-FFF2-40B4-BE49-F238E27FC236}">
                <a16:creationId xmlns:a16="http://schemas.microsoft.com/office/drawing/2014/main" id="{F106751B-5F2D-4B98-EB03-740512F2556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8B147DF-03B2-3355-4E88-1A052D86027B}"/>
              </a:ext>
            </a:extLst>
          </p:cNvPr>
          <p:cNvSpPr>
            <a:spLocks noGrp="1"/>
          </p:cNvSpPr>
          <p:nvPr>
            <p:ph type="sldNum" sz="quarter" idx="12"/>
          </p:nvPr>
        </p:nvSpPr>
        <p:spPr/>
        <p:txBody>
          <a:bodyPr/>
          <a:lstStyle/>
          <a:p>
            <a:fld id="{382B47E1-F59F-47B3-8D16-B2A0740F319A}" type="slidenum">
              <a:rPr lang="en-US" smtClean="0"/>
              <a:pPr/>
              <a:t>68</a:t>
            </a:fld>
            <a:endParaRPr lang="en-US" dirty="0"/>
          </a:p>
        </p:txBody>
      </p:sp>
    </p:spTree>
    <p:extLst>
      <p:ext uri="{BB962C8B-B14F-4D97-AF65-F5344CB8AC3E}">
        <p14:creationId xmlns:p14="http://schemas.microsoft.com/office/powerpoint/2010/main" val="30522767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F88E8-32BE-69B1-D2F1-38BB6CB5740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Fourier Transform of wavelets</a:t>
            </a:r>
            <a:endParaRPr lang="en-US" dirty="0"/>
          </a:p>
        </p:txBody>
      </p:sp>
      <p:pic>
        <p:nvPicPr>
          <p:cNvPr id="7" name="Content Placeholder 6">
            <a:extLst>
              <a:ext uri="{FF2B5EF4-FFF2-40B4-BE49-F238E27FC236}">
                <a16:creationId xmlns:a16="http://schemas.microsoft.com/office/drawing/2014/main" id="{F089DA54-823F-3F70-2CC6-25BC5E412100}"/>
              </a:ext>
            </a:extLst>
          </p:cNvPr>
          <p:cNvPicPr>
            <a:picLocks noGrp="1" noChangeAspect="1"/>
          </p:cNvPicPr>
          <p:nvPr>
            <p:ph idx="1"/>
          </p:nvPr>
        </p:nvPicPr>
        <p:blipFill>
          <a:blip r:embed="rId2"/>
          <a:stretch>
            <a:fillRect/>
          </a:stretch>
        </p:blipFill>
        <p:spPr>
          <a:xfrm>
            <a:off x="1143158" y="4111225"/>
            <a:ext cx="9479222" cy="2161559"/>
          </a:xfrm>
        </p:spPr>
      </p:pic>
      <p:sp>
        <p:nvSpPr>
          <p:cNvPr id="4" name="Footer Placeholder 3">
            <a:extLst>
              <a:ext uri="{FF2B5EF4-FFF2-40B4-BE49-F238E27FC236}">
                <a16:creationId xmlns:a16="http://schemas.microsoft.com/office/drawing/2014/main" id="{C652FB3D-4A84-E857-7EEA-1E4EB1A85D5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0731532-745E-8E76-DD82-9A07C01B2AA6}"/>
              </a:ext>
            </a:extLst>
          </p:cNvPr>
          <p:cNvSpPr>
            <a:spLocks noGrp="1"/>
          </p:cNvSpPr>
          <p:nvPr>
            <p:ph type="sldNum" sz="quarter" idx="12"/>
          </p:nvPr>
        </p:nvSpPr>
        <p:spPr/>
        <p:txBody>
          <a:bodyPr/>
          <a:lstStyle/>
          <a:p>
            <a:fld id="{382B47E1-F59F-47B3-8D16-B2A0740F319A}" type="slidenum">
              <a:rPr lang="en-US" smtClean="0"/>
              <a:pPr/>
              <a:t>69</a:t>
            </a:fld>
            <a:endParaRPr lang="en-US" dirty="0"/>
          </a:p>
        </p:txBody>
      </p:sp>
      <p:pic>
        <p:nvPicPr>
          <p:cNvPr id="9" name="Picture 8">
            <a:extLst>
              <a:ext uri="{FF2B5EF4-FFF2-40B4-BE49-F238E27FC236}">
                <a16:creationId xmlns:a16="http://schemas.microsoft.com/office/drawing/2014/main" id="{8D4DCA76-FA1B-CA66-CA31-E88998451261}"/>
              </a:ext>
            </a:extLst>
          </p:cNvPr>
          <p:cNvPicPr>
            <a:picLocks noChangeAspect="1"/>
          </p:cNvPicPr>
          <p:nvPr/>
        </p:nvPicPr>
        <p:blipFill>
          <a:blip r:embed="rId3"/>
          <a:stretch>
            <a:fillRect/>
          </a:stretch>
        </p:blipFill>
        <p:spPr>
          <a:xfrm>
            <a:off x="3048686" y="2017648"/>
            <a:ext cx="5668166" cy="1905266"/>
          </a:xfrm>
          <a:prstGeom prst="rect">
            <a:avLst/>
          </a:prstGeom>
        </p:spPr>
      </p:pic>
    </p:spTree>
    <p:extLst>
      <p:ext uri="{BB962C8B-B14F-4D97-AF65-F5344CB8AC3E}">
        <p14:creationId xmlns:p14="http://schemas.microsoft.com/office/powerpoint/2010/main" val="36955916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FD0E-8ABA-A6C6-7D1C-507D38C2C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1460D-57F8-30E8-DD98-05C7F1DC8BD3}"/>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Time-frequency resolution of wavelets</a:t>
            </a:r>
            <a:endParaRPr lang="en-US" dirty="0"/>
          </a:p>
        </p:txBody>
      </p:sp>
      <p:sp>
        <p:nvSpPr>
          <p:cNvPr id="4" name="Footer Placeholder 3">
            <a:extLst>
              <a:ext uri="{FF2B5EF4-FFF2-40B4-BE49-F238E27FC236}">
                <a16:creationId xmlns:a16="http://schemas.microsoft.com/office/drawing/2014/main" id="{85B8C7EB-7264-7767-C8F7-3CB1B730F96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98FF5F1-05AE-B02D-72E7-0C01C832FFEC}"/>
              </a:ext>
            </a:extLst>
          </p:cNvPr>
          <p:cNvSpPr>
            <a:spLocks noGrp="1"/>
          </p:cNvSpPr>
          <p:nvPr>
            <p:ph type="sldNum" sz="quarter" idx="12"/>
          </p:nvPr>
        </p:nvSpPr>
        <p:spPr/>
        <p:txBody>
          <a:bodyPr/>
          <a:lstStyle/>
          <a:p>
            <a:fld id="{382B47E1-F59F-47B3-8D16-B2A0740F319A}" type="slidenum">
              <a:rPr lang="en-US" smtClean="0"/>
              <a:pPr/>
              <a:t>70</a:t>
            </a:fld>
            <a:endParaRPr lang="en-US" dirty="0"/>
          </a:p>
        </p:txBody>
      </p:sp>
      <p:pic>
        <p:nvPicPr>
          <p:cNvPr id="10" name="Content Placeholder 9">
            <a:extLst>
              <a:ext uri="{FF2B5EF4-FFF2-40B4-BE49-F238E27FC236}">
                <a16:creationId xmlns:a16="http://schemas.microsoft.com/office/drawing/2014/main" id="{C6FBADA9-D226-8FD8-3C2F-C72C5A9C3890}"/>
              </a:ext>
            </a:extLst>
          </p:cNvPr>
          <p:cNvPicPr>
            <a:picLocks noGrp="1" noChangeAspect="1"/>
          </p:cNvPicPr>
          <p:nvPr>
            <p:ph idx="1"/>
          </p:nvPr>
        </p:nvPicPr>
        <p:blipFill>
          <a:blip r:embed="rId2"/>
          <a:stretch>
            <a:fillRect/>
          </a:stretch>
        </p:blipFill>
        <p:spPr>
          <a:xfrm>
            <a:off x="1042126" y="2357120"/>
            <a:ext cx="10107747" cy="3506997"/>
          </a:xfrm>
        </p:spPr>
      </p:pic>
    </p:spTree>
    <p:extLst>
      <p:ext uri="{BB962C8B-B14F-4D97-AF65-F5344CB8AC3E}">
        <p14:creationId xmlns:p14="http://schemas.microsoft.com/office/powerpoint/2010/main" val="17256395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525F1-88D0-B568-A3BA-3990E3651822}"/>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Time-frequency resolution of wavelets</a:t>
            </a:r>
            <a:endParaRPr lang="en-US" dirty="0"/>
          </a:p>
        </p:txBody>
      </p:sp>
      <p:pic>
        <p:nvPicPr>
          <p:cNvPr id="7" name="Content Placeholder 6">
            <a:extLst>
              <a:ext uri="{FF2B5EF4-FFF2-40B4-BE49-F238E27FC236}">
                <a16:creationId xmlns:a16="http://schemas.microsoft.com/office/drawing/2014/main" id="{DDBB5263-FB09-39BD-DD44-FF3BF2C9F08E}"/>
              </a:ext>
            </a:extLst>
          </p:cNvPr>
          <p:cNvPicPr>
            <a:picLocks noGrp="1" noChangeAspect="1"/>
          </p:cNvPicPr>
          <p:nvPr>
            <p:ph idx="1"/>
          </p:nvPr>
        </p:nvPicPr>
        <p:blipFill>
          <a:blip r:embed="rId2"/>
          <a:stretch>
            <a:fillRect/>
          </a:stretch>
        </p:blipFill>
        <p:spPr>
          <a:xfrm>
            <a:off x="1394087" y="2674651"/>
            <a:ext cx="9403825" cy="2923092"/>
          </a:xfrm>
        </p:spPr>
      </p:pic>
      <p:sp>
        <p:nvSpPr>
          <p:cNvPr id="4" name="Footer Placeholder 3">
            <a:extLst>
              <a:ext uri="{FF2B5EF4-FFF2-40B4-BE49-F238E27FC236}">
                <a16:creationId xmlns:a16="http://schemas.microsoft.com/office/drawing/2014/main" id="{6E70BE3E-4C1A-D561-CAD4-78CEC107272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5CBBD83-CFFC-D5E0-1C46-791C270FA18F}"/>
              </a:ext>
            </a:extLst>
          </p:cNvPr>
          <p:cNvSpPr>
            <a:spLocks noGrp="1"/>
          </p:cNvSpPr>
          <p:nvPr>
            <p:ph type="sldNum" sz="quarter" idx="12"/>
          </p:nvPr>
        </p:nvSpPr>
        <p:spPr/>
        <p:txBody>
          <a:bodyPr/>
          <a:lstStyle/>
          <a:p>
            <a:fld id="{382B47E1-F59F-47B3-8D16-B2A0740F319A}" type="slidenum">
              <a:rPr lang="en-US" smtClean="0"/>
              <a:pPr/>
              <a:t>71</a:t>
            </a:fld>
            <a:endParaRPr lang="en-US" dirty="0"/>
          </a:p>
        </p:txBody>
      </p:sp>
    </p:spTree>
    <p:extLst>
      <p:ext uri="{BB962C8B-B14F-4D97-AF65-F5344CB8AC3E}">
        <p14:creationId xmlns:p14="http://schemas.microsoft.com/office/powerpoint/2010/main" val="26274022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C57D-BF39-7E09-F5A0-C6F83F891399}"/>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85FB799-152E-95B6-17B7-62FE4C9AACFD}"/>
              </a:ext>
            </a:extLst>
          </p:cNvPr>
          <p:cNvPicPr>
            <a:picLocks noGrp="1" noChangeAspect="1"/>
          </p:cNvPicPr>
          <p:nvPr>
            <p:ph idx="1"/>
          </p:nvPr>
        </p:nvPicPr>
        <p:blipFill>
          <a:blip r:embed="rId2"/>
          <a:stretch>
            <a:fillRect/>
          </a:stretch>
        </p:blipFill>
        <p:spPr>
          <a:xfrm>
            <a:off x="5222241" y="479611"/>
            <a:ext cx="6645906" cy="57931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Title 1">
            <a:extLst>
              <a:ext uri="{FF2B5EF4-FFF2-40B4-BE49-F238E27FC236}">
                <a16:creationId xmlns:a16="http://schemas.microsoft.com/office/drawing/2014/main" id="{35D89DD6-B18E-87BB-0AAE-D1ACA2FFFC15}"/>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Time-frequency resolution</a:t>
            </a:r>
            <a:endParaRPr lang="en-US" dirty="0"/>
          </a:p>
        </p:txBody>
      </p:sp>
      <p:sp>
        <p:nvSpPr>
          <p:cNvPr id="4" name="Footer Placeholder 3">
            <a:extLst>
              <a:ext uri="{FF2B5EF4-FFF2-40B4-BE49-F238E27FC236}">
                <a16:creationId xmlns:a16="http://schemas.microsoft.com/office/drawing/2014/main" id="{AFD17A94-1EEA-661B-0BC2-8FAC74C23E8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7A54683-73E8-D24D-E4A3-C25784D4E1F0}"/>
              </a:ext>
            </a:extLst>
          </p:cNvPr>
          <p:cNvSpPr>
            <a:spLocks noGrp="1"/>
          </p:cNvSpPr>
          <p:nvPr>
            <p:ph type="sldNum" sz="quarter" idx="12"/>
          </p:nvPr>
        </p:nvSpPr>
        <p:spPr/>
        <p:txBody>
          <a:bodyPr/>
          <a:lstStyle/>
          <a:p>
            <a:fld id="{382B47E1-F59F-47B3-8D16-B2A0740F319A}" type="slidenum">
              <a:rPr lang="en-US" smtClean="0"/>
              <a:pPr/>
              <a:t>72</a:t>
            </a:fld>
            <a:endParaRPr lang="en-US" dirty="0"/>
          </a:p>
        </p:txBody>
      </p:sp>
      <p:pic>
        <p:nvPicPr>
          <p:cNvPr id="21" name="Picture 20">
            <a:extLst>
              <a:ext uri="{FF2B5EF4-FFF2-40B4-BE49-F238E27FC236}">
                <a16:creationId xmlns:a16="http://schemas.microsoft.com/office/drawing/2014/main" id="{6A7290E3-CF73-71D0-4051-A06D8D7DBACA}"/>
              </a:ext>
            </a:extLst>
          </p:cNvPr>
          <p:cNvPicPr>
            <a:picLocks noChangeAspect="1"/>
          </p:cNvPicPr>
          <p:nvPr/>
        </p:nvPicPr>
        <p:blipFill>
          <a:blip r:embed="rId3"/>
          <a:stretch>
            <a:fillRect/>
          </a:stretch>
        </p:blipFill>
        <p:spPr>
          <a:xfrm>
            <a:off x="222253" y="2277871"/>
            <a:ext cx="4575536" cy="149961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574008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2B59D-DA86-64AF-2B6B-0A9A082F7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1ED6E-712A-F008-1B4A-B00AEDE088F8}"/>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A6499A04-9CAA-B25C-CE6E-184348DE64E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453FC41-E625-A338-8D6E-E4E1C694A1D8}"/>
              </a:ext>
            </a:extLst>
          </p:cNvPr>
          <p:cNvSpPr>
            <a:spLocks noGrp="1"/>
          </p:cNvSpPr>
          <p:nvPr>
            <p:ph type="sldNum" sz="quarter" idx="12"/>
          </p:nvPr>
        </p:nvSpPr>
        <p:spPr/>
        <p:txBody>
          <a:bodyPr/>
          <a:lstStyle/>
          <a:p>
            <a:fld id="{382B47E1-F59F-47B3-8D16-B2A0740F319A}" type="slidenum">
              <a:rPr lang="en-US" smtClean="0"/>
              <a:pPr/>
              <a:t>73</a:t>
            </a:fld>
            <a:endParaRPr lang="en-US" dirty="0"/>
          </a:p>
        </p:txBody>
      </p:sp>
      <p:pic>
        <p:nvPicPr>
          <p:cNvPr id="27" name="Content Placeholder 26">
            <a:extLst>
              <a:ext uri="{FF2B5EF4-FFF2-40B4-BE49-F238E27FC236}">
                <a16:creationId xmlns:a16="http://schemas.microsoft.com/office/drawing/2014/main" id="{8D8A4DCC-7488-DF45-FD95-FBE06D31BC09}"/>
              </a:ext>
            </a:extLst>
          </p:cNvPr>
          <p:cNvPicPr>
            <a:picLocks noGrp="1" noChangeAspect="1"/>
          </p:cNvPicPr>
          <p:nvPr>
            <p:ph idx="1"/>
          </p:nvPr>
        </p:nvPicPr>
        <p:blipFill>
          <a:blip r:embed="rId2"/>
          <a:stretch>
            <a:fillRect/>
          </a:stretch>
        </p:blipFill>
        <p:spPr>
          <a:xfrm>
            <a:off x="205043" y="2931992"/>
            <a:ext cx="5952445" cy="2307072"/>
          </a:xfrm>
        </p:spPr>
      </p:pic>
      <p:pic>
        <p:nvPicPr>
          <p:cNvPr id="29" name="Picture 28">
            <a:extLst>
              <a:ext uri="{FF2B5EF4-FFF2-40B4-BE49-F238E27FC236}">
                <a16:creationId xmlns:a16="http://schemas.microsoft.com/office/drawing/2014/main" id="{2A0B2CD5-557C-3801-1DDF-D181186C7ABA}"/>
              </a:ext>
            </a:extLst>
          </p:cNvPr>
          <p:cNvPicPr>
            <a:picLocks noChangeAspect="1"/>
          </p:cNvPicPr>
          <p:nvPr/>
        </p:nvPicPr>
        <p:blipFill>
          <a:blip r:embed="rId3"/>
          <a:stretch>
            <a:fillRect/>
          </a:stretch>
        </p:blipFill>
        <p:spPr>
          <a:xfrm>
            <a:off x="6095999" y="2946756"/>
            <a:ext cx="5916898" cy="2292308"/>
          </a:xfrm>
          <a:prstGeom prst="rect">
            <a:avLst/>
          </a:prstGeom>
        </p:spPr>
      </p:pic>
      <p:pic>
        <p:nvPicPr>
          <p:cNvPr id="31" name="Picture 30">
            <a:extLst>
              <a:ext uri="{FF2B5EF4-FFF2-40B4-BE49-F238E27FC236}">
                <a16:creationId xmlns:a16="http://schemas.microsoft.com/office/drawing/2014/main" id="{3A752165-3F6B-49C8-1C2A-AB2A3DDF125B}"/>
              </a:ext>
            </a:extLst>
          </p:cNvPr>
          <p:cNvPicPr>
            <a:picLocks noChangeAspect="1"/>
          </p:cNvPicPr>
          <p:nvPr/>
        </p:nvPicPr>
        <p:blipFill>
          <a:blip r:embed="rId4"/>
          <a:stretch>
            <a:fillRect/>
          </a:stretch>
        </p:blipFill>
        <p:spPr>
          <a:xfrm>
            <a:off x="2266415" y="5468583"/>
            <a:ext cx="7659169" cy="533474"/>
          </a:xfrm>
          <a:prstGeom prst="rect">
            <a:avLst/>
          </a:prstGeom>
        </p:spPr>
      </p:pic>
      <p:pic>
        <p:nvPicPr>
          <p:cNvPr id="33" name="Picture 32">
            <a:extLst>
              <a:ext uri="{FF2B5EF4-FFF2-40B4-BE49-F238E27FC236}">
                <a16:creationId xmlns:a16="http://schemas.microsoft.com/office/drawing/2014/main" id="{84CDE5C3-B30D-BABF-287C-22E0CEB0F2DF}"/>
              </a:ext>
            </a:extLst>
          </p:cNvPr>
          <p:cNvPicPr>
            <a:picLocks noChangeAspect="1"/>
          </p:cNvPicPr>
          <p:nvPr/>
        </p:nvPicPr>
        <p:blipFill>
          <a:blip r:embed="rId5"/>
          <a:stretch>
            <a:fillRect/>
          </a:stretch>
        </p:blipFill>
        <p:spPr>
          <a:xfrm>
            <a:off x="970402" y="2215681"/>
            <a:ext cx="4696480" cy="457264"/>
          </a:xfrm>
          <a:prstGeom prst="rect">
            <a:avLst/>
          </a:prstGeom>
        </p:spPr>
      </p:pic>
    </p:spTree>
    <p:extLst>
      <p:ext uri="{BB962C8B-B14F-4D97-AF65-F5344CB8AC3E}">
        <p14:creationId xmlns:p14="http://schemas.microsoft.com/office/powerpoint/2010/main" val="14232217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13611-B52A-73D7-057F-BFB87701B2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640CF-620B-92A1-9130-2C545C10649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74C1CA14-3478-70CD-087F-E4E78CC309DD}"/>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179B1E7-45CA-1C0C-4CC8-A75000C7C67F}"/>
              </a:ext>
            </a:extLst>
          </p:cNvPr>
          <p:cNvSpPr>
            <a:spLocks noGrp="1"/>
          </p:cNvSpPr>
          <p:nvPr>
            <p:ph type="sldNum" sz="quarter" idx="12"/>
          </p:nvPr>
        </p:nvSpPr>
        <p:spPr/>
        <p:txBody>
          <a:bodyPr/>
          <a:lstStyle/>
          <a:p>
            <a:fld id="{382B47E1-F59F-47B3-8D16-B2A0740F319A}" type="slidenum">
              <a:rPr lang="en-US" smtClean="0"/>
              <a:pPr/>
              <a:t>74</a:t>
            </a:fld>
            <a:endParaRPr lang="en-US" dirty="0"/>
          </a:p>
        </p:txBody>
      </p:sp>
      <p:pic>
        <p:nvPicPr>
          <p:cNvPr id="27" name="Content Placeholder 26">
            <a:extLst>
              <a:ext uri="{FF2B5EF4-FFF2-40B4-BE49-F238E27FC236}">
                <a16:creationId xmlns:a16="http://schemas.microsoft.com/office/drawing/2014/main" id="{D448A1D0-223E-75D5-A353-7023DDCBE470}"/>
              </a:ext>
            </a:extLst>
          </p:cNvPr>
          <p:cNvPicPr>
            <a:picLocks noGrp="1" noChangeAspect="1"/>
          </p:cNvPicPr>
          <p:nvPr>
            <p:ph idx="1"/>
          </p:nvPr>
        </p:nvPicPr>
        <p:blipFill>
          <a:blip r:embed="rId2"/>
          <a:stretch>
            <a:fillRect/>
          </a:stretch>
        </p:blipFill>
        <p:spPr>
          <a:xfrm>
            <a:off x="311018" y="3096951"/>
            <a:ext cx="6015248" cy="2331413"/>
          </a:xfrm>
        </p:spPr>
      </p:pic>
      <p:pic>
        <p:nvPicPr>
          <p:cNvPr id="29" name="Picture 28">
            <a:extLst>
              <a:ext uri="{FF2B5EF4-FFF2-40B4-BE49-F238E27FC236}">
                <a16:creationId xmlns:a16="http://schemas.microsoft.com/office/drawing/2014/main" id="{A900341D-7141-4D52-4378-7A2B401D086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29325" y="3096951"/>
            <a:ext cx="5862675" cy="2331413"/>
          </a:xfrm>
          <a:prstGeom prst="rect">
            <a:avLst/>
          </a:prstGeom>
        </p:spPr>
      </p:pic>
      <p:pic>
        <p:nvPicPr>
          <p:cNvPr id="31" name="Picture 30">
            <a:extLst>
              <a:ext uri="{FF2B5EF4-FFF2-40B4-BE49-F238E27FC236}">
                <a16:creationId xmlns:a16="http://schemas.microsoft.com/office/drawing/2014/main" id="{458007AC-5DAD-FE46-129C-8893C8BCDFB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45673" y="5739310"/>
            <a:ext cx="7500651" cy="533474"/>
          </a:xfrm>
          <a:prstGeom prst="rect">
            <a:avLst/>
          </a:prstGeom>
        </p:spPr>
      </p:pic>
      <p:pic>
        <p:nvPicPr>
          <p:cNvPr id="33" name="Picture 32">
            <a:extLst>
              <a:ext uri="{FF2B5EF4-FFF2-40B4-BE49-F238E27FC236}">
                <a16:creationId xmlns:a16="http://schemas.microsoft.com/office/drawing/2014/main" id="{BA95FAF0-4B56-541B-4270-A90400D2E6BC}"/>
              </a:ext>
            </a:extLst>
          </p:cNvPr>
          <p:cNvPicPr>
            <a:picLocks noChangeAspect="1"/>
          </p:cNvPicPr>
          <p:nvPr/>
        </p:nvPicPr>
        <p:blipFill>
          <a:blip r:embed="rId5"/>
          <a:stretch>
            <a:fillRect/>
          </a:stretch>
        </p:blipFill>
        <p:spPr>
          <a:xfrm>
            <a:off x="970402" y="2215681"/>
            <a:ext cx="4696480" cy="457264"/>
          </a:xfrm>
          <a:prstGeom prst="rect">
            <a:avLst/>
          </a:prstGeom>
        </p:spPr>
      </p:pic>
    </p:spTree>
    <p:extLst>
      <p:ext uri="{BB962C8B-B14F-4D97-AF65-F5344CB8AC3E}">
        <p14:creationId xmlns:p14="http://schemas.microsoft.com/office/powerpoint/2010/main" val="6488880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64C1-3963-A22B-5EF6-94374C693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2756A5-4D59-632E-D54E-31F612B32460}"/>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DC11A70F-1966-DE6E-12AF-662CF83399D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2D65CAA-3A53-B630-DA52-1F80107AE638}"/>
              </a:ext>
            </a:extLst>
          </p:cNvPr>
          <p:cNvSpPr>
            <a:spLocks noGrp="1"/>
          </p:cNvSpPr>
          <p:nvPr>
            <p:ph type="sldNum" sz="quarter" idx="12"/>
          </p:nvPr>
        </p:nvSpPr>
        <p:spPr/>
        <p:txBody>
          <a:bodyPr/>
          <a:lstStyle/>
          <a:p>
            <a:fld id="{382B47E1-F59F-47B3-8D16-B2A0740F319A}" type="slidenum">
              <a:rPr lang="en-US" smtClean="0"/>
              <a:pPr/>
              <a:t>75</a:t>
            </a:fld>
            <a:endParaRPr lang="en-US" dirty="0"/>
          </a:p>
        </p:txBody>
      </p:sp>
      <p:pic>
        <p:nvPicPr>
          <p:cNvPr id="27" name="Content Placeholder 26">
            <a:extLst>
              <a:ext uri="{FF2B5EF4-FFF2-40B4-BE49-F238E27FC236}">
                <a16:creationId xmlns:a16="http://schemas.microsoft.com/office/drawing/2014/main" id="{3426FE4D-53A2-38A4-C0F7-648072B10F4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39864" y="3086917"/>
            <a:ext cx="5906413" cy="2289231"/>
          </a:xfrm>
        </p:spPr>
      </p:pic>
      <p:pic>
        <p:nvPicPr>
          <p:cNvPr id="29" name="Picture 28">
            <a:extLst>
              <a:ext uri="{FF2B5EF4-FFF2-40B4-BE49-F238E27FC236}">
                <a16:creationId xmlns:a16="http://schemas.microsoft.com/office/drawing/2014/main" id="{F3C126E1-6631-9088-0116-422944B6B95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346277" y="3086918"/>
            <a:ext cx="5762549" cy="2289231"/>
          </a:xfrm>
          <a:prstGeom prst="rect">
            <a:avLst/>
          </a:prstGeom>
        </p:spPr>
      </p:pic>
      <p:pic>
        <p:nvPicPr>
          <p:cNvPr id="31" name="Picture 30">
            <a:extLst>
              <a:ext uri="{FF2B5EF4-FFF2-40B4-BE49-F238E27FC236}">
                <a16:creationId xmlns:a16="http://schemas.microsoft.com/office/drawing/2014/main" id="{9BDDF469-BB47-E600-3758-9758A52210C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407162" y="5791866"/>
            <a:ext cx="7500651" cy="480918"/>
          </a:xfrm>
          <a:prstGeom prst="rect">
            <a:avLst/>
          </a:prstGeom>
        </p:spPr>
      </p:pic>
      <p:pic>
        <p:nvPicPr>
          <p:cNvPr id="33" name="Picture 32">
            <a:extLst>
              <a:ext uri="{FF2B5EF4-FFF2-40B4-BE49-F238E27FC236}">
                <a16:creationId xmlns:a16="http://schemas.microsoft.com/office/drawing/2014/main" id="{A6E60E15-0433-7B08-5B2F-D5B9E6CB930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07007" y="2156413"/>
            <a:ext cx="1343986" cy="642777"/>
          </a:xfrm>
          <a:prstGeom prst="rect">
            <a:avLst/>
          </a:prstGeom>
        </p:spPr>
      </p:pic>
    </p:spTree>
    <p:extLst>
      <p:ext uri="{BB962C8B-B14F-4D97-AF65-F5344CB8AC3E}">
        <p14:creationId xmlns:p14="http://schemas.microsoft.com/office/powerpoint/2010/main" val="16970977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C53AC-B8B2-D32F-6E91-977209B12F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958C3-B3E7-F7BF-DB2A-37DDAE3DE0C6}"/>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BD562159-8D68-D1C0-9069-06CC0EE4EB0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34CFCE9-AC35-C4DF-EBBC-413EFF5E93A2}"/>
              </a:ext>
            </a:extLst>
          </p:cNvPr>
          <p:cNvSpPr>
            <a:spLocks noGrp="1"/>
          </p:cNvSpPr>
          <p:nvPr>
            <p:ph type="sldNum" sz="quarter" idx="12"/>
          </p:nvPr>
        </p:nvSpPr>
        <p:spPr/>
        <p:txBody>
          <a:bodyPr/>
          <a:lstStyle/>
          <a:p>
            <a:fld id="{382B47E1-F59F-47B3-8D16-B2A0740F319A}" type="slidenum">
              <a:rPr lang="en-US" smtClean="0"/>
              <a:pPr/>
              <a:t>76</a:t>
            </a:fld>
            <a:endParaRPr lang="en-US" dirty="0"/>
          </a:p>
        </p:txBody>
      </p:sp>
      <p:pic>
        <p:nvPicPr>
          <p:cNvPr id="27" name="Content Placeholder 26">
            <a:extLst>
              <a:ext uri="{FF2B5EF4-FFF2-40B4-BE49-F238E27FC236}">
                <a16:creationId xmlns:a16="http://schemas.microsoft.com/office/drawing/2014/main" id="{A51833F0-B4BC-DA56-AF7E-186EDE1C44C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14960" y="3096202"/>
            <a:ext cx="5896253" cy="2285293"/>
          </a:xfrm>
        </p:spPr>
      </p:pic>
      <p:pic>
        <p:nvPicPr>
          <p:cNvPr id="29" name="Picture 28">
            <a:extLst>
              <a:ext uri="{FF2B5EF4-FFF2-40B4-BE49-F238E27FC236}">
                <a16:creationId xmlns:a16="http://schemas.microsoft.com/office/drawing/2014/main" id="{1F1ED01B-1F57-7B16-95A1-A5B35253F83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211213" y="3162519"/>
            <a:ext cx="5758103" cy="2218976"/>
          </a:xfrm>
          <a:prstGeom prst="rect">
            <a:avLst/>
          </a:prstGeom>
        </p:spPr>
      </p:pic>
      <p:pic>
        <p:nvPicPr>
          <p:cNvPr id="31" name="Picture 30">
            <a:extLst>
              <a:ext uri="{FF2B5EF4-FFF2-40B4-BE49-F238E27FC236}">
                <a16:creationId xmlns:a16="http://schemas.microsoft.com/office/drawing/2014/main" id="{256C1A40-E1F8-D835-5A54-516371FA023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345674" y="5804535"/>
            <a:ext cx="7500651" cy="468249"/>
          </a:xfrm>
          <a:prstGeom prst="rect">
            <a:avLst/>
          </a:prstGeom>
        </p:spPr>
      </p:pic>
      <p:pic>
        <p:nvPicPr>
          <p:cNvPr id="33" name="Picture 32">
            <a:extLst>
              <a:ext uri="{FF2B5EF4-FFF2-40B4-BE49-F238E27FC236}">
                <a16:creationId xmlns:a16="http://schemas.microsoft.com/office/drawing/2014/main" id="{82CAD0D4-4706-2597-8F97-0215E3D01CB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24127" y="2269306"/>
            <a:ext cx="3179517" cy="498281"/>
          </a:xfrm>
          <a:prstGeom prst="rect">
            <a:avLst/>
          </a:prstGeom>
        </p:spPr>
      </p:pic>
    </p:spTree>
    <p:extLst>
      <p:ext uri="{BB962C8B-B14F-4D97-AF65-F5344CB8AC3E}">
        <p14:creationId xmlns:p14="http://schemas.microsoft.com/office/powerpoint/2010/main" val="10092922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9BB28-C217-7475-642D-63BA3DC08D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EC43A-4F56-E450-B0B2-E6845EFBD36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B47D3647-5D78-A41C-1C60-A0EE372829F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41D6593-EE6B-CA27-7869-DF8852464C2F}"/>
              </a:ext>
            </a:extLst>
          </p:cNvPr>
          <p:cNvSpPr>
            <a:spLocks noGrp="1"/>
          </p:cNvSpPr>
          <p:nvPr>
            <p:ph type="sldNum" sz="quarter" idx="12"/>
          </p:nvPr>
        </p:nvSpPr>
        <p:spPr/>
        <p:txBody>
          <a:bodyPr/>
          <a:lstStyle/>
          <a:p>
            <a:fld id="{382B47E1-F59F-47B3-8D16-B2A0740F319A}" type="slidenum">
              <a:rPr lang="en-US" smtClean="0"/>
              <a:pPr/>
              <a:t>77</a:t>
            </a:fld>
            <a:endParaRPr lang="en-US" dirty="0"/>
          </a:p>
        </p:txBody>
      </p:sp>
      <p:pic>
        <p:nvPicPr>
          <p:cNvPr id="27" name="Content Placeholder 26">
            <a:extLst>
              <a:ext uri="{FF2B5EF4-FFF2-40B4-BE49-F238E27FC236}">
                <a16:creationId xmlns:a16="http://schemas.microsoft.com/office/drawing/2014/main" id="{62812979-A7A1-65A9-C478-D2169C9A552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42211" y="3096202"/>
            <a:ext cx="5896253" cy="2285293"/>
          </a:xfrm>
        </p:spPr>
      </p:pic>
      <p:pic>
        <p:nvPicPr>
          <p:cNvPr id="29" name="Picture 28">
            <a:extLst>
              <a:ext uri="{FF2B5EF4-FFF2-40B4-BE49-F238E27FC236}">
                <a16:creationId xmlns:a16="http://schemas.microsoft.com/office/drawing/2014/main" id="{84B2B289-B417-92E8-9913-70DC9B1A3B0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38464" y="3162519"/>
            <a:ext cx="5547440" cy="2218976"/>
          </a:xfrm>
          <a:prstGeom prst="rect">
            <a:avLst/>
          </a:prstGeom>
        </p:spPr>
      </p:pic>
      <p:pic>
        <p:nvPicPr>
          <p:cNvPr id="31" name="Picture 30">
            <a:extLst>
              <a:ext uri="{FF2B5EF4-FFF2-40B4-BE49-F238E27FC236}">
                <a16:creationId xmlns:a16="http://schemas.microsoft.com/office/drawing/2014/main" id="{28C512A8-179C-BD86-CABF-9A2D900C6FA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8236" y="5809615"/>
            <a:ext cx="7360455" cy="583250"/>
          </a:xfrm>
          <a:prstGeom prst="rect">
            <a:avLst/>
          </a:prstGeom>
        </p:spPr>
      </p:pic>
      <p:pic>
        <p:nvPicPr>
          <p:cNvPr id="33" name="Picture 32">
            <a:extLst>
              <a:ext uri="{FF2B5EF4-FFF2-40B4-BE49-F238E27FC236}">
                <a16:creationId xmlns:a16="http://schemas.microsoft.com/office/drawing/2014/main" id="{60F15AA4-1EF3-6FE5-BB71-E42AF4CF013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7336" y="2227580"/>
            <a:ext cx="2656675" cy="560583"/>
          </a:xfrm>
          <a:prstGeom prst="rect">
            <a:avLst/>
          </a:prstGeom>
        </p:spPr>
      </p:pic>
    </p:spTree>
    <p:extLst>
      <p:ext uri="{BB962C8B-B14F-4D97-AF65-F5344CB8AC3E}">
        <p14:creationId xmlns:p14="http://schemas.microsoft.com/office/powerpoint/2010/main" val="17000095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F24C0-D50A-E6A4-B8A0-53F7BD3DA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BC19C-6D73-300A-6F7C-5A67E05CC5B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Some examples</a:t>
            </a:r>
            <a:endParaRPr lang="en-US" dirty="0"/>
          </a:p>
        </p:txBody>
      </p:sp>
      <p:sp>
        <p:nvSpPr>
          <p:cNvPr id="4" name="Footer Placeholder 3">
            <a:extLst>
              <a:ext uri="{FF2B5EF4-FFF2-40B4-BE49-F238E27FC236}">
                <a16:creationId xmlns:a16="http://schemas.microsoft.com/office/drawing/2014/main" id="{434F3526-7A1C-DE3E-297D-E98A479BF70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B27D635-3264-D306-01C8-25B97C8927CC}"/>
              </a:ext>
            </a:extLst>
          </p:cNvPr>
          <p:cNvSpPr>
            <a:spLocks noGrp="1"/>
          </p:cNvSpPr>
          <p:nvPr>
            <p:ph type="sldNum" sz="quarter" idx="12"/>
          </p:nvPr>
        </p:nvSpPr>
        <p:spPr/>
        <p:txBody>
          <a:bodyPr/>
          <a:lstStyle/>
          <a:p>
            <a:fld id="{382B47E1-F59F-47B3-8D16-B2A0740F319A}" type="slidenum">
              <a:rPr lang="en-US" smtClean="0"/>
              <a:pPr/>
              <a:t>78</a:t>
            </a:fld>
            <a:endParaRPr lang="en-US" dirty="0"/>
          </a:p>
        </p:txBody>
      </p:sp>
      <p:pic>
        <p:nvPicPr>
          <p:cNvPr id="27" name="Content Placeholder 26">
            <a:extLst>
              <a:ext uri="{FF2B5EF4-FFF2-40B4-BE49-F238E27FC236}">
                <a16:creationId xmlns:a16="http://schemas.microsoft.com/office/drawing/2014/main" id="{365A84B5-9E70-5A26-76BE-80287BDB584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42211" y="3096202"/>
            <a:ext cx="5896253" cy="2285293"/>
          </a:xfrm>
        </p:spPr>
      </p:pic>
      <p:pic>
        <p:nvPicPr>
          <p:cNvPr id="29" name="Picture 28">
            <a:extLst>
              <a:ext uri="{FF2B5EF4-FFF2-40B4-BE49-F238E27FC236}">
                <a16:creationId xmlns:a16="http://schemas.microsoft.com/office/drawing/2014/main" id="{B4653FFE-E1AE-1F69-9894-6B8D3A93312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438464" y="3176623"/>
            <a:ext cx="5547440" cy="2190768"/>
          </a:xfrm>
          <a:prstGeom prst="rect">
            <a:avLst/>
          </a:prstGeom>
        </p:spPr>
      </p:pic>
      <p:pic>
        <p:nvPicPr>
          <p:cNvPr id="31" name="Picture 30">
            <a:extLst>
              <a:ext uri="{FF2B5EF4-FFF2-40B4-BE49-F238E27FC236}">
                <a16:creationId xmlns:a16="http://schemas.microsoft.com/office/drawing/2014/main" id="{E38B9F0D-F827-94BA-613F-60E353A34D5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758236" y="5858565"/>
            <a:ext cx="7360455" cy="534300"/>
          </a:xfrm>
          <a:prstGeom prst="rect">
            <a:avLst/>
          </a:prstGeom>
        </p:spPr>
      </p:pic>
      <p:pic>
        <p:nvPicPr>
          <p:cNvPr id="33" name="Picture 32">
            <a:extLst>
              <a:ext uri="{FF2B5EF4-FFF2-40B4-BE49-F238E27FC236}">
                <a16:creationId xmlns:a16="http://schemas.microsoft.com/office/drawing/2014/main" id="{122A70CB-46D2-58E2-01C3-845D25A9D30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17336" y="2189144"/>
            <a:ext cx="3056824" cy="563669"/>
          </a:xfrm>
          <a:prstGeom prst="rect">
            <a:avLst/>
          </a:prstGeom>
        </p:spPr>
      </p:pic>
    </p:spTree>
    <p:extLst>
      <p:ext uri="{BB962C8B-B14F-4D97-AF65-F5344CB8AC3E}">
        <p14:creationId xmlns:p14="http://schemas.microsoft.com/office/powerpoint/2010/main" val="379664691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3DCD-4C13-529D-322B-00770CF75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D7335-6B4C-7546-FE68-D936A38DF1C3}"/>
              </a:ext>
            </a:extLst>
          </p:cNvPr>
          <p:cNvSpPr>
            <a:spLocks noGrp="1"/>
          </p:cNvSpPr>
          <p:nvPr>
            <p:ph type="title"/>
          </p:nvPr>
        </p:nvSpPr>
        <p:spPr/>
        <p:txBody>
          <a:bodyPr/>
          <a:lstStyle/>
          <a:p>
            <a:r>
              <a:rPr lang="en-US" dirty="0">
                <a:solidFill>
                  <a:srgbClr val="0070C0"/>
                </a:solidFill>
              </a:rPr>
              <a:t>DISCRETE WAVELET TRANSFORM</a:t>
            </a:r>
          </a:p>
        </p:txBody>
      </p:sp>
      <p:sp>
        <p:nvSpPr>
          <p:cNvPr id="4" name="Footer Placeholder 3">
            <a:extLst>
              <a:ext uri="{FF2B5EF4-FFF2-40B4-BE49-F238E27FC236}">
                <a16:creationId xmlns:a16="http://schemas.microsoft.com/office/drawing/2014/main" id="{DE270C21-CD6D-796D-FE7A-05D624CAC30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DE769BA-0283-7946-715E-D1318161CEE4}"/>
              </a:ext>
            </a:extLst>
          </p:cNvPr>
          <p:cNvSpPr>
            <a:spLocks noGrp="1"/>
          </p:cNvSpPr>
          <p:nvPr>
            <p:ph type="sldNum" sz="quarter" idx="12"/>
          </p:nvPr>
        </p:nvSpPr>
        <p:spPr/>
        <p:txBody>
          <a:bodyPr/>
          <a:lstStyle/>
          <a:p>
            <a:fld id="{382B47E1-F59F-47B3-8D16-B2A0740F319A}" type="slidenum">
              <a:rPr lang="en-US" smtClean="0"/>
              <a:pPr/>
              <a:t>79</a:t>
            </a:fld>
            <a:endParaRPr lang="en-US" dirty="0"/>
          </a:p>
        </p:txBody>
      </p:sp>
      <p:pic>
        <p:nvPicPr>
          <p:cNvPr id="9" name="Content Placeholder 8">
            <a:extLst>
              <a:ext uri="{FF2B5EF4-FFF2-40B4-BE49-F238E27FC236}">
                <a16:creationId xmlns:a16="http://schemas.microsoft.com/office/drawing/2014/main" id="{D2FE3A65-CFAB-F09C-8337-C33E9B0CC139}"/>
              </a:ext>
            </a:extLst>
          </p:cNvPr>
          <p:cNvPicPr>
            <a:picLocks noGrp="1" noChangeAspect="1"/>
          </p:cNvPicPr>
          <p:nvPr>
            <p:ph idx="1"/>
          </p:nvPr>
        </p:nvPicPr>
        <p:blipFill>
          <a:blip r:embed="rId2"/>
          <a:stretch>
            <a:fillRect/>
          </a:stretch>
        </p:blipFill>
        <p:spPr>
          <a:xfrm>
            <a:off x="1166367" y="1900154"/>
            <a:ext cx="8707065" cy="1819529"/>
          </a:xfrm>
        </p:spPr>
      </p:pic>
      <p:pic>
        <p:nvPicPr>
          <p:cNvPr id="11" name="Picture 10">
            <a:extLst>
              <a:ext uri="{FF2B5EF4-FFF2-40B4-BE49-F238E27FC236}">
                <a16:creationId xmlns:a16="http://schemas.microsoft.com/office/drawing/2014/main" id="{BBD5A1AA-D44A-CBCD-1C3C-2438B05B0BFE}"/>
              </a:ext>
            </a:extLst>
          </p:cNvPr>
          <p:cNvPicPr>
            <a:picLocks noChangeAspect="1"/>
          </p:cNvPicPr>
          <p:nvPr/>
        </p:nvPicPr>
        <p:blipFill>
          <a:blip r:embed="rId3"/>
          <a:stretch>
            <a:fillRect/>
          </a:stretch>
        </p:blipFill>
        <p:spPr>
          <a:xfrm>
            <a:off x="1166367" y="3904361"/>
            <a:ext cx="8821381" cy="2372056"/>
          </a:xfrm>
          <a:prstGeom prst="rect">
            <a:avLst/>
          </a:prstGeom>
        </p:spPr>
      </p:pic>
    </p:spTree>
    <p:extLst>
      <p:ext uri="{BB962C8B-B14F-4D97-AF65-F5344CB8AC3E}">
        <p14:creationId xmlns:p14="http://schemas.microsoft.com/office/powerpoint/2010/main" val="354718823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764C9-E9AD-0F62-FACE-9D96E16FA0C0}"/>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17345DFB-61FD-D142-2209-669BFED66CE8}"/>
              </a:ext>
            </a:extLst>
          </p:cNvPr>
          <p:cNvPicPr>
            <a:picLocks noGrp="1" noChangeAspect="1"/>
          </p:cNvPicPr>
          <p:nvPr>
            <p:ph idx="1"/>
          </p:nvPr>
        </p:nvPicPr>
        <p:blipFill>
          <a:blip r:embed="rId2"/>
          <a:stretch>
            <a:fillRect/>
          </a:stretch>
        </p:blipFill>
        <p:spPr>
          <a:xfrm>
            <a:off x="5394104" y="1632318"/>
            <a:ext cx="6422831" cy="4828777"/>
          </a:xfrm>
        </p:spPr>
      </p:pic>
      <p:sp>
        <p:nvSpPr>
          <p:cNvPr id="2" name="Title 1">
            <a:extLst>
              <a:ext uri="{FF2B5EF4-FFF2-40B4-BE49-F238E27FC236}">
                <a16:creationId xmlns:a16="http://schemas.microsoft.com/office/drawing/2014/main" id="{E8FC5FD8-19A5-40C9-1F73-4114022C5296}"/>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Dyadic Wavelet Transform</a:t>
            </a:r>
            <a:endParaRPr lang="en-US" dirty="0"/>
          </a:p>
        </p:txBody>
      </p:sp>
      <p:sp>
        <p:nvSpPr>
          <p:cNvPr id="4" name="Footer Placeholder 3">
            <a:extLst>
              <a:ext uri="{FF2B5EF4-FFF2-40B4-BE49-F238E27FC236}">
                <a16:creationId xmlns:a16="http://schemas.microsoft.com/office/drawing/2014/main" id="{F7D24CBF-6DFA-A5FF-DCCB-313184E7A53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4D69025-D49E-6DB4-E211-FFA2C8E6448B}"/>
              </a:ext>
            </a:extLst>
          </p:cNvPr>
          <p:cNvSpPr>
            <a:spLocks noGrp="1"/>
          </p:cNvSpPr>
          <p:nvPr>
            <p:ph type="sldNum" sz="quarter" idx="12"/>
          </p:nvPr>
        </p:nvSpPr>
        <p:spPr/>
        <p:txBody>
          <a:bodyPr/>
          <a:lstStyle/>
          <a:p>
            <a:fld id="{382B47E1-F59F-47B3-8D16-B2A0740F319A}" type="slidenum">
              <a:rPr lang="en-US" smtClean="0"/>
              <a:pPr/>
              <a:t>80</a:t>
            </a:fld>
            <a:endParaRPr lang="en-US" dirty="0"/>
          </a:p>
        </p:txBody>
      </p:sp>
      <p:pic>
        <p:nvPicPr>
          <p:cNvPr id="10" name="Picture 9">
            <a:extLst>
              <a:ext uri="{FF2B5EF4-FFF2-40B4-BE49-F238E27FC236}">
                <a16:creationId xmlns:a16="http://schemas.microsoft.com/office/drawing/2014/main" id="{7A8AC823-6D1E-BF8B-A805-CCC6950A345F}"/>
              </a:ext>
            </a:extLst>
          </p:cNvPr>
          <p:cNvPicPr>
            <a:picLocks noChangeAspect="1"/>
          </p:cNvPicPr>
          <p:nvPr/>
        </p:nvPicPr>
        <p:blipFill>
          <a:blip r:embed="rId3"/>
          <a:stretch>
            <a:fillRect/>
          </a:stretch>
        </p:blipFill>
        <p:spPr>
          <a:xfrm>
            <a:off x="776715" y="2768542"/>
            <a:ext cx="4490243" cy="2556327"/>
          </a:xfrm>
          <a:prstGeom prst="rect">
            <a:avLst/>
          </a:prstGeom>
        </p:spPr>
      </p:pic>
    </p:spTree>
    <p:extLst>
      <p:ext uri="{BB962C8B-B14F-4D97-AF65-F5344CB8AC3E}">
        <p14:creationId xmlns:p14="http://schemas.microsoft.com/office/powerpoint/2010/main" val="35573116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CE2DC-FA97-E16A-B2B7-7A906BBE8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12A6D-5C28-1547-F462-C992CB8594DF}"/>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Dyadic Wavelet Transform</a:t>
            </a:r>
            <a:endParaRPr lang="en-US" dirty="0"/>
          </a:p>
        </p:txBody>
      </p:sp>
      <p:sp>
        <p:nvSpPr>
          <p:cNvPr id="4" name="Footer Placeholder 3">
            <a:extLst>
              <a:ext uri="{FF2B5EF4-FFF2-40B4-BE49-F238E27FC236}">
                <a16:creationId xmlns:a16="http://schemas.microsoft.com/office/drawing/2014/main" id="{2FDBF101-E29F-5520-E062-4CB7D46C8BD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B79EFE6-4616-BF9E-77D7-38B8D2888AA7}"/>
              </a:ext>
            </a:extLst>
          </p:cNvPr>
          <p:cNvSpPr>
            <a:spLocks noGrp="1"/>
          </p:cNvSpPr>
          <p:nvPr>
            <p:ph type="sldNum" sz="quarter" idx="12"/>
          </p:nvPr>
        </p:nvSpPr>
        <p:spPr/>
        <p:txBody>
          <a:bodyPr/>
          <a:lstStyle/>
          <a:p>
            <a:fld id="{382B47E1-F59F-47B3-8D16-B2A0740F319A}" type="slidenum">
              <a:rPr lang="en-US" smtClean="0"/>
              <a:pPr/>
              <a:t>81</a:t>
            </a:fld>
            <a:endParaRPr lang="en-US" dirty="0"/>
          </a:p>
        </p:txBody>
      </p:sp>
      <p:pic>
        <p:nvPicPr>
          <p:cNvPr id="9" name="Content Placeholder 8">
            <a:extLst>
              <a:ext uri="{FF2B5EF4-FFF2-40B4-BE49-F238E27FC236}">
                <a16:creationId xmlns:a16="http://schemas.microsoft.com/office/drawing/2014/main" id="{A29A38A5-11AD-1498-2DD0-E3729DE03DD5}"/>
              </a:ext>
            </a:extLst>
          </p:cNvPr>
          <p:cNvPicPr>
            <a:picLocks noGrp="1" noChangeAspect="1"/>
          </p:cNvPicPr>
          <p:nvPr>
            <p:ph idx="1"/>
          </p:nvPr>
        </p:nvPicPr>
        <p:blipFill>
          <a:blip r:embed="rId2"/>
          <a:stretch>
            <a:fillRect/>
          </a:stretch>
        </p:blipFill>
        <p:spPr>
          <a:xfrm>
            <a:off x="1481343" y="2162126"/>
            <a:ext cx="9352290" cy="4110658"/>
          </a:xfrm>
        </p:spPr>
      </p:pic>
    </p:spTree>
    <p:extLst>
      <p:ext uri="{BB962C8B-B14F-4D97-AF65-F5344CB8AC3E}">
        <p14:creationId xmlns:p14="http://schemas.microsoft.com/office/powerpoint/2010/main" val="25359149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5D02D-A9E7-17C9-558B-A8FFA415F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A7EBF-9B06-C470-EDBE-C78E6B5F4051}"/>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Dyadic Wavelet Transform</a:t>
            </a:r>
            <a:endParaRPr lang="en-US" dirty="0"/>
          </a:p>
        </p:txBody>
      </p:sp>
      <p:sp>
        <p:nvSpPr>
          <p:cNvPr id="4" name="Footer Placeholder 3">
            <a:extLst>
              <a:ext uri="{FF2B5EF4-FFF2-40B4-BE49-F238E27FC236}">
                <a16:creationId xmlns:a16="http://schemas.microsoft.com/office/drawing/2014/main" id="{21A63AB4-7E1C-5950-1EEA-A06605847C09}"/>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BDF64DF-A550-F5E1-5F3F-3B44E4CA5687}"/>
              </a:ext>
            </a:extLst>
          </p:cNvPr>
          <p:cNvSpPr>
            <a:spLocks noGrp="1"/>
          </p:cNvSpPr>
          <p:nvPr>
            <p:ph type="sldNum" sz="quarter" idx="12"/>
          </p:nvPr>
        </p:nvSpPr>
        <p:spPr/>
        <p:txBody>
          <a:bodyPr/>
          <a:lstStyle/>
          <a:p>
            <a:fld id="{382B47E1-F59F-47B3-8D16-B2A0740F319A}" type="slidenum">
              <a:rPr lang="en-US" smtClean="0"/>
              <a:pPr/>
              <a:t>82</a:t>
            </a:fld>
            <a:endParaRPr lang="en-US" dirty="0"/>
          </a:p>
        </p:txBody>
      </p:sp>
      <p:pic>
        <p:nvPicPr>
          <p:cNvPr id="13" name="Content Placeholder 12">
            <a:extLst>
              <a:ext uri="{FF2B5EF4-FFF2-40B4-BE49-F238E27FC236}">
                <a16:creationId xmlns:a16="http://schemas.microsoft.com/office/drawing/2014/main" id="{F8400433-3133-9F5F-6834-A706D44259CD}"/>
              </a:ext>
            </a:extLst>
          </p:cNvPr>
          <p:cNvPicPr>
            <a:picLocks noGrp="1" noChangeAspect="1"/>
          </p:cNvPicPr>
          <p:nvPr>
            <p:ph idx="1"/>
          </p:nvPr>
        </p:nvPicPr>
        <p:blipFill>
          <a:blip r:embed="rId2"/>
          <a:stretch>
            <a:fillRect/>
          </a:stretch>
        </p:blipFill>
        <p:spPr>
          <a:xfrm>
            <a:off x="2057400" y="1842730"/>
            <a:ext cx="8077200" cy="4506635"/>
          </a:xfrm>
        </p:spPr>
      </p:pic>
    </p:spTree>
    <p:extLst>
      <p:ext uri="{BB962C8B-B14F-4D97-AF65-F5344CB8AC3E}">
        <p14:creationId xmlns:p14="http://schemas.microsoft.com/office/powerpoint/2010/main" val="32576463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8FC5B-F58F-5D92-2E6E-3D794DF2A11C}"/>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6527597-1018-E650-2886-6333E8AFABBA}"/>
              </a:ext>
            </a:extLst>
          </p:cNvPr>
          <p:cNvPicPr>
            <a:picLocks noGrp="1" noChangeAspect="1"/>
          </p:cNvPicPr>
          <p:nvPr>
            <p:ph idx="1"/>
          </p:nvPr>
        </p:nvPicPr>
        <p:blipFill>
          <a:blip r:embed="rId2"/>
          <a:stretch>
            <a:fillRect/>
          </a:stretch>
        </p:blipFill>
        <p:spPr>
          <a:xfrm>
            <a:off x="1993538" y="1672488"/>
            <a:ext cx="8204923" cy="4687037"/>
          </a:xfrm>
        </p:spPr>
      </p:pic>
      <p:sp>
        <p:nvSpPr>
          <p:cNvPr id="2" name="Title 1">
            <a:extLst>
              <a:ext uri="{FF2B5EF4-FFF2-40B4-BE49-F238E27FC236}">
                <a16:creationId xmlns:a16="http://schemas.microsoft.com/office/drawing/2014/main" id="{1771A77E-1A41-154E-031F-BA1D6E5517F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Dyadic Wavelet Transform</a:t>
            </a:r>
            <a:endParaRPr lang="en-US" dirty="0"/>
          </a:p>
        </p:txBody>
      </p:sp>
      <p:sp>
        <p:nvSpPr>
          <p:cNvPr id="4" name="Footer Placeholder 3">
            <a:extLst>
              <a:ext uri="{FF2B5EF4-FFF2-40B4-BE49-F238E27FC236}">
                <a16:creationId xmlns:a16="http://schemas.microsoft.com/office/drawing/2014/main" id="{F7D05CA3-33A2-9038-440C-915A14E2248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58B7C53-268E-2677-48F9-C047113688C1}"/>
              </a:ext>
            </a:extLst>
          </p:cNvPr>
          <p:cNvSpPr>
            <a:spLocks noGrp="1"/>
          </p:cNvSpPr>
          <p:nvPr>
            <p:ph type="sldNum" sz="quarter" idx="12"/>
          </p:nvPr>
        </p:nvSpPr>
        <p:spPr/>
        <p:txBody>
          <a:bodyPr/>
          <a:lstStyle/>
          <a:p>
            <a:fld id="{382B47E1-F59F-47B3-8D16-B2A0740F319A}" type="slidenum">
              <a:rPr lang="en-US" smtClean="0"/>
              <a:pPr/>
              <a:t>83</a:t>
            </a:fld>
            <a:endParaRPr lang="en-US" dirty="0"/>
          </a:p>
        </p:txBody>
      </p:sp>
    </p:spTree>
    <p:extLst>
      <p:ext uri="{BB962C8B-B14F-4D97-AF65-F5344CB8AC3E}">
        <p14:creationId xmlns:p14="http://schemas.microsoft.com/office/powerpoint/2010/main" val="14256001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D4919-9651-66A1-2754-EAEE59BA0956}"/>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wavelets</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200" b="0" i="0" u="none" strike="noStrike" kern="1200" cap="all" spc="100" normalizeH="0" baseline="0" noProof="0" dirty="0">
                <a:ln>
                  <a:noFill/>
                </a:ln>
                <a:solidFill>
                  <a:srgbClr val="FF0000"/>
                </a:solidFill>
                <a:effectLst/>
                <a:uLnTx/>
                <a:uFillTx/>
                <a:latin typeface="Tw Cen MT Condensed" panose="020B0606020104020203"/>
                <a:ea typeface="+mj-ea"/>
                <a:cs typeface="+mj-cs"/>
              </a:rPr>
              <a:t>The Dyadic Wavelet Transform</a:t>
            </a:r>
            <a:endParaRPr lang="en-US" dirty="0"/>
          </a:p>
        </p:txBody>
      </p:sp>
      <p:pic>
        <p:nvPicPr>
          <p:cNvPr id="7" name="Content Placeholder 6">
            <a:extLst>
              <a:ext uri="{FF2B5EF4-FFF2-40B4-BE49-F238E27FC236}">
                <a16:creationId xmlns:a16="http://schemas.microsoft.com/office/drawing/2014/main" id="{74E5D84A-01E5-7B0C-3805-82E8D0CAB766}"/>
              </a:ext>
            </a:extLst>
          </p:cNvPr>
          <p:cNvPicPr>
            <a:picLocks noGrp="1" noChangeAspect="1"/>
          </p:cNvPicPr>
          <p:nvPr>
            <p:ph idx="1"/>
          </p:nvPr>
        </p:nvPicPr>
        <p:blipFill>
          <a:blip r:embed="rId2"/>
          <a:stretch>
            <a:fillRect/>
          </a:stretch>
        </p:blipFill>
        <p:spPr>
          <a:xfrm>
            <a:off x="2897238" y="1884508"/>
            <a:ext cx="6397524" cy="4464857"/>
          </a:xfrm>
        </p:spPr>
      </p:pic>
      <p:sp>
        <p:nvSpPr>
          <p:cNvPr id="4" name="Footer Placeholder 3">
            <a:extLst>
              <a:ext uri="{FF2B5EF4-FFF2-40B4-BE49-F238E27FC236}">
                <a16:creationId xmlns:a16="http://schemas.microsoft.com/office/drawing/2014/main" id="{64AFC7BF-D3D8-701D-BE80-2E50613B102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EEFE2DE-F472-D98B-2D44-F61840F9A8F4}"/>
              </a:ext>
            </a:extLst>
          </p:cNvPr>
          <p:cNvSpPr>
            <a:spLocks noGrp="1"/>
          </p:cNvSpPr>
          <p:nvPr>
            <p:ph type="sldNum" sz="quarter" idx="12"/>
          </p:nvPr>
        </p:nvSpPr>
        <p:spPr/>
        <p:txBody>
          <a:bodyPr/>
          <a:lstStyle/>
          <a:p>
            <a:fld id="{382B47E1-F59F-47B3-8D16-B2A0740F319A}" type="slidenum">
              <a:rPr lang="en-US" smtClean="0"/>
              <a:pPr/>
              <a:t>84</a:t>
            </a:fld>
            <a:endParaRPr lang="en-US" dirty="0"/>
          </a:p>
        </p:txBody>
      </p:sp>
    </p:spTree>
    <p:extLst>
      <p:ext uri="{BB962C8B-B14F-4D97-AF65-F5344CB8AC3E}">
        <p14:creationId xmlns:p14="http://schemas.microsoft.com/office/powerpoint/2010/main" val="24605343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046E5-9DD7-370D-2ABF-D39BE0DB4A41}"/>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4E7D2D79-B923-9CC9-7890-5E5402BC7C4D}"/>
              </a:ext>
            </a:extLst>
          </p:cNvPr>
          <p:cNvPicPr>
            <a:picLocks noGrp="1" noChangeAspect="1"/>
          </p:cNvPicPr>
          <p:nvPr>
            <p:ph idx="1"/>
          </p:nvPr>
        </p:nvPicPr>
        <p:blipFill>
          <a:blip r:embed="rId2"/>
          <a:stretch>
            <a:fillRect/>
          </a:stretch>
        </p:blipFill>
        <p:spPr>
          <a:xfrm>
            <a:off x="701548" y="223520"/>
            <a:ext cx="10788903" cy="6140704"/>
          </a:xfrm>
        </p:spPr>
      </p:pic>
      <p:sp>
        <p:nvSpPr>
          <p:cNvPr id="4" name="Footer Placeholder 3">
            <a:extLst>
              <a:ext uri="{FF2B5EF4-FFF2-40B4-BE49-F238E27FC236}">
                <a16:creationId xmlns:a16="http://schemas.microsoft.com/office/drawing/2014/main" id="{C3EF22E2-DD45-9CDD-19FE-2278A105340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23E2E80-36A7-9841-1889-445624F1D437}"/>
              </a:ext>
            </a:extLst>
          </p:cNvPr>
          <p:cNvSpPr>
            <a:spLocks noGrp="1"/>
          </p:cNvSpPr>
          <p:nvPr>
            <p:ph type="sldNum" sz="quarter" idx="12"/>
          </p:nvPr>
        </p:nvSpPr>
        <p:spPr/>
        <p:txBody>
          <a:bodyPr/>
          <a:lstStyle/>
          <a:p>
            <a:fld id="{382B47E1-F59F-47B3-8D16-B2A0740F319A}" type="slidenum">
              <a:rPr lang="en-US" smtClean="0"/>
              <a:pPr/>
              <a:t>85</a:t>
            </a:fld>
            <a:endParaRPr lang="en-US" dirty="0"/>
          </a:p>
        </p:txBody>
      </p:sp>
    </p:spTree>
    <p:extLst>
      <p:ext uri="{BB962C8B-B14F-4D97-AF65-F5344CB8AC3E}">
        <p14:creationId xmlns:p14="http://schemas.microsoft.com/office/powerpoint/2010/main" val="37999206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0CE72-02ED-C353-B1F8-6B805FFEDC04}"/>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endParaRPr lang="en-US" dirty="0"/>
          </a:p>
        </p:txBody>
      </p:sp>
      <p:sp>
        <p:nvSpPr>
          <p:cNvPr id="4" name="Footer Placeholder 3">
            <a:extLst>
              <a:ext uri="{FF2B5EF4-FFF2-40B4-BE49-F238E27FC236}">
                <a16:creationId xmlns:a16="http://schemas.microsoft.com/office/drawing/2014/main" id="{A63DA67A-BEB3-9566-7978-F95462EFA38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B53D5386-D178-5393-8815-33BAC4312D29}"/>
              </a:ext>
            </a:extLst>
          </p:cNvPr>
          <p:cNvSpPr>
            <a:spLocks noGrp="1"/>
          </p:cNvSpPr>
          <p:nvPr>
            <p:ph type="sldNum" sz="quarter" idx="12"/>
          </p:nvPr>
        </p:nvSpPr>
        <p:spPr/>
        <p:txBody>
          <a:bodyPr/>
          <a:lstStyle/>
          <a:p>
            <a:fld id="{382B47E1-F59F-47B3-8D16-B2A0740F319A}" type="slidenum">
              <a:rPr lang="en-US" smtClean="0"/>
              <a:pPr/>
              <a:t>86</a:t>
            </a:fld>
            <a:endParaRPr lang="en-US" dirty="0"/>
          </a:p>
        </p:txBody>
      </p:sp>
      <p:sp>
        <p:nvSpPr>
          <p:cNvPr id="11" name="Content Placeholder 10">
            <a:extLst>
              <a:ext uri="{FF2B5EF4-FFF2-40B4-BE49-F238E27FC236}">
                <a16:creationId xmlns:a16="http://schemas.microsoft.com/office/drawing/2014/main" id="{3F9A75A5-1DE0-4A6F-E51A-149ED400DF76}"/>
              </a:ext>
            </a:extLst>
          </p:cNvPr>
          <p:cNvSpPr>
            <a:spLocks noGrp="1"/>
          </p:cNvSpPr>
          <p:nvPr>
            <p:ph idx="1"/>
          </p:nvPr>
        </p:nvSpPr>
        <p:spPr>
          <a:xfrm>
            <a:off x="1024127" y="1961324"/>
            <a:ext cx="10266724" cy="4023360"/>
          </a:xfrm>
        </p:spPr>
        <p:txBody>
          <a:bodyPr/>
          <a:lstStyle/>
          <a:p>
            <a:pPr>
              <a:buFont typeface="Wingdings" panose="05000000000000000000" pitchFamily="2" charset="2"/>
              <a:buChar char="q"/>
            </a:pPr>
            <a:r>
              <a:rPr lang="en-US" dirty="0"/>
              <a:t> </a:t>
            </a:r>
            <a:r>
              <a:rPr lang="en-US" b="1" dirty="0"/>
              <a:t>If we can find another way to find the coefficients without knowing the scaling and dilation version of scaling and wavelet function. The computation time can be reduced.</a:t>
            </a:r>
          </a:p>
          <a:p>
            <a:endParaRPr lang="en-US" dirty="0"/>
          </a:p>
        </p:txBody>
      </p:sp>
      <p:pic>
        <p:nvPicPr>
          <p:cNvPr id="12" name="Picture 11">
            <a:extLst>
              <a:ext uri="{FF2B5EF4-FFF2-40B4-BE49-F238E27FC236}">
                <a16:creationId xmlns:a16="http://schemas.microsoft.com/office/drawing/2014/main" id="{0709A6D8-0785-62EE-1452-993931965EF1}"/>
              </a:ext>
            </a:extLst>
          </p:cNvPr>
          <p:cNvPicPr>
            <a:picLocks noChangeAspect="1"/>
          </p:cNvPicPr>
          <p:nvPr/>
        </p:nvPicPr>
        <p:blipFill>
          <a:blip r:embed="rId2"/>
          <a:stretch>
            <a:fillRect/>
          </a:stretch>
        </p:blipFill>
        <p:spPr>
          <a:xfrm>
            <a:off x="2919624" y="2953640"/>
            <a:ext cx="6068272" cy="1819529"/>
          </a:xfrm>
          <a:prstGeom prst="rect">
            <a:avLst/>
          </a:prstGeom>
        </p:spPr>
      </p:pic>
      <p:pic>
        <p:nvPicPr>
          <p:cNvPr id="14" name="Picture 13">
            <a:extLst>
              <a:ext uri="{FF2B5EF4-FFF2-40B4-BE49-F238E27FC236}">
                <a16:creationId xmlns:a16="http://schemas.microsoft.com/office/drawing/2014/main" id="{0A3C853D-7542-FE06-AB41-475326DA3E97}"/>
              </a:ext>
            </a:extLst>
          </p:cNvPr>
          <p:cNvPicPr>
            <a:picLocks noChangeAspect="1"/>
          </p:cNvPicPr>
          <p:nvPr/>
        </p:nvPicPr>
        <p:blipFill>
          <a:blip r:embed="rId3"/>
          <a:stretch>
            <a:fillRect/>
          </a:stretch>
        </p:blipFill>
        <p:spPr>
          <a:xfrm>
            <a:off x="3967193" y="4951318"/>
            <a:ext cx="4115374" cy="1381318"/>
          </a:xfrm>
          <a:prstGeom prst="rect">
            <a:avLst/>
          </a:prstGeom>
        </p:spPr>
      </p:pic>
      <p:sp>
        <p:nvSpPr>
          <p:cNvPr id="15" name="TextBox 14">
            <a:extLst>
              <a:ext uri="{FF2B5EF4-FFF2-40B4-BE49-F238E27FC236}">
                <a16:creationId xmlns:a16="http://schemas.microsoft.com/office/drawing/2014/main" id="{71F8B978-2052-55B0-0D16-FE0E99693958}"/>
              </a:ext>
            </a:extLst>
          </p:cNvPr>
          <p:cNvSpPr txBox="1"/>
          <p:nvPr/>
        </p:nvSpPr>
        <p:spPr>
          <a:xfrm>
            <a:off x="1413620" y="5338353"/>
            <a:ext cx="216408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h = Low Pass Filter</a:t>
            </a:r>
          </a:p>
          <a:p>
            <a:pPr algn="ctr"/>
            <a:r>
              <a:rPr lang="en-US" dirty="0"/>
              <a:t>g = High Pass Filter</a:t>
            </a:r>
          </a:p>
        </p:txBody>
      </p:sp>
    </p:spTree>
    <p:extLst>
      <p:ext uri="{BB962C8B-B14F-4D97-AF65-F5344CB8AC3E}">
        <p14:creationId xmlns:p14="http://schemas.microsoft.com/office/powerpoint/2010/main" val="406341193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29AA0-F0EC-580F-F0CB-ACB74CEA2F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A2AB5-CF67-65DF-B046-48E86015750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endParaRPr lang="en-US" dirty="0"/>
          </a:p>
        </p:txBody>
      </p:sp>
      <p:sp>
        <p:nvSpPr>
          <p:cNvPr id="4" name="Footer Placeholder 3">
            <a:extLst>
              <a:ext uri="{FF2B5EF4-FFF2-40B4-BE49-F238E27FC236}">
                <a16:creationId xmlns:a16="http://schemas.microsoft.com/office/drawing/2014/main" id="{74ADED52-ED6A-0DDC-01AC-DD5D7702518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84BC610-8974-F6B2-E0FE-7B53887C7BCF}"/>
              </a:ext>
            </a:extLst>
          </p:cNvPr>
          <p:cNvSpPr>
            <a:spLocks noGrp="1"/>
          </p:cNvSpPr>
          <p:nvPr>
            <p:ph type="sldNum" sz="quarter" idx="12"/>
          </p:nvPr>
        </p:nvSpPr>
        <p:spPr/>
        <p:txBody>
          <a:bodyPr/>
          <a:lstStyle/>
          <a:p>
            <a:fld id="{382B47E1-F59F-47B3-8D16-B2A0740F319A}" type="slidenum">
              <a:rPr lang="en-US" smtClean="0"/>
              <a:pPr/>
              <a:t>87</a:t>
            </a:fld>
            <a:endParaRPr lang="en-US" dirty="0"/>
          </a:p>
        </p:txBody>
      </p:sp>
      <p:pic>
        <p:nvPicPr>
          <p:cNvPr id="6" name="Content Placeholder 5">
            <a:extLst>
              <a:ext uri="{FF2B5EF4-FFF2-40B4-BE49-F238E27FC236}">
                <a16:creationId xmlns:a16="http://schemas.microsoft.com/office/drawing/2014/main" id="{C92B5C76-506D-CB9F-4151-071F7726CAF5}"/>
              </a:ext>
            </a:extLst>
          </p:cNvPr>
          <p:cNvPicPr>
            <a:picLocks noGrp="1" noChangeAspect="1"/>
          </p:cNvPicPr>
          <p:nvPr>
            <p:ph idx="1"/>
          </p:nvPr>
        </p:nvPicPr>
        <p:blipFill>
          <a:blip r:embed="rId2"/>
          <a:stretch>
            <a:fillRect/>
          </a:stretch>
        </p:blipFill>
        <p:spPr>
          <a:xfrm>
            <a:off x="7310065" y="2322938"/>
            <a:ext cx="4795835" cy="2875627"/>
          </a:xfrm>
        </p:spPr>
      </p:pic>
      <p:pic>
        <p:nvPicPr>
          <p:cNvPr id="10" name="Picture 9">
            <a:extLst>
              <a:ext uri="{FF2B5EF4-FFF2-40B4-BE49-F238E27FC236}">
                <a16:creationId xmlns:a16="http://schemas.microsoft.com/office/drawing/2014/main" id="{69993889-6DD4-244B-2922-DF221AC3229A}"/>
              </a:ext>
            </a:extLst>
          </p:cNvPr>
          <p:cNvPicPr>
            <a:picLocks noChangeAspect="1"/>
          </p:cNvPicPr>
          <p:nvPr/>
        </p:nvPicPr>
        <p:blipFill>
          <a:blip r:embed="rId3"/>
          <a:stretch>
            <a:fillRect/>
          </a:stretch>
        </p:blipFill>
        <p:spPr>
          <a:xfrm>
            <a:off x="1024127" y="2282501"/>
            <a:ext cx="6287656" cy="361732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01B6B5B-2DE7-6193-C763-0B197AFEE8D4}"/>
                  </a:ext>
                </a:extLst>
              </p:cNvPr>
              <p:cNvSpPr txBox="1"/>
              <p:nvPr/>
            </p:nvSpPr>
            <p:spPr>
              <a:xfrm>
                <a:off x="7331086" y="5293929"/>
                <a:ext cx="4797553"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A </a:t>
                </a:r>
                <a14:m>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𝐴𝑝𝑝𝑟𝑜𝑥𝑖𝑚𝑎𝑡𝑖𝑜𝑛</m:t>
                    </m:r>
                  </m:oMath>
                </a14:m>
                <a:r>
                  <a:rPr lang="en-US" dirty="0"/>
                  <a:t> : Low Frequency</a:t>
                </a:r>
              </a:p>
              <a:p>
                <a:pPr algn="ctr"/>
                <a:r>
                  <a:rPr lang="en-US" dirty="0"/>
                  <a:t>D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𝐷𝑒𝑡𝑎𝑖𝑙𝑠</m:t>
                    </m:r>
                  </m:oMath>
                </a14:m>
                <a:r>
                  <a:rPr lang="en-US" dirty="0"/>
                  <a:t> : High Frequency</a:t>
                </a:r>
              </a:p>
            </p:txBody>
          </p:sp>
        </mc:Choice>
        <mc:Fallback xmlns="">
          <p:sp>
            <p:nvSpPr>
              <p:cNvPr id="7" name="TextBox 6">
                <a:extLst>
                  <a:ext uri="{FF2B5EF4-FFF2-40B4-BE49-F238E27FC236}">
                    <a16:creationId xmlns:a16="http://schemas.microsoft.com/office/drawing/2014/main" id="{C01B6B5B-2DE7-6193-C763-0B197AFEE8D4}"/>
                  </a:ext>
                </a:extLst>
              </p:cNvPr>
              <p:cNvSpPr txBox="1">
                <a:spLocks noRot="1" noChangeAspect="1" noMove="1" noResize="1" noEditPoints="1" noAdjustHandles="1" noChangeArrowheads="1" noChangeShapeType="1" noTextEdit="1"/>
              </p:cNvSpPr>
              <p:nvPr/>
            </p:nvSpPr>
            <p:spPr>
              <a:xfrm>
                <a:off x="7331086" y="5293929"/>
                <a:ext cx="4797553" cy="646331"/>
              </a:xfrm>
              <a:prstGeom prst="rect">
                <a:avLst/>
              </a:prstGeom>
              <a:blipFill>
                <a:blip r:embed="rId4"/>
                <a:stretch>
                  <a:fillRect t="-3670" b="-11927"/>
                </a:stretch>
              </a:blipFill>
            </p:spPr>
            <p:txBody>
              <a:bodyPr/>
              <a:lstStyle/>
              <a:p>
                <a:r>
                  <a:rPr lang="en-US">
                    <a:noFill/>
                  </a:rPr>
                  <a:t> </a:t>
                </a:r>
              </a:p>
            </p:txBody>
          </p:sp>
        </mc:Fallback>
      </mc:AlternateContent>
    </p:spTree>
    <p:extLst>
      <p:ext uri="{BB962C8B-B14F-4D97-AF65-F5344CB8AC3E}">
        <p14:creationId xmlns:p14="http://schemas.microsoft.com/office/powerpoint/2010/main" val="277206930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67E6E-B08D-8923-67E7-36737DA16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B8262-E7FB-EBAF-8A89-2B98E24F6F8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endParaRPr lang="en-US" dirty="0"/>
          </a:p>
        </p:txBody>
      </p:sp>
      <p:sp>
        <p:nvSpPr>
          <p:cNvPr id="4" name="Footer Placeholder 3">
            <a:extLst>
              <a:ext uri="{FF2B5EF4-FFF2-40B4-BE49-F238E27FC236}">
                <a16:creationId xmlns:a16="http://schemas.microsoft.com/office/drawing/2014/main" id="{32991110-B754-79B8-F820-9DA3A5960B6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D5D4F13-5565-EEE8-35A8-BCAFA9965F02}"/>
              </a:ext>
            </a:extLst>
          </p:cNvPr>
          <p:cNvSpPr>
            <a:spLocks noGrp="1"/>
          </p:cNvSpPr>
          <p:nvPr>
            <p:ph type="sldNum" sz="quarter" idx="12"/>
          </p:nvPr>
        </p:nvSpPr>
        <p:spPr/>
        <p:txBody>
          <a:bodyPr/>
          <a:lstStyle/>
          <a:p>
            <a:fld id="{382B47E1-F59F-47B3-8D16-B2A0740F319A}" type="slidenum">
              <a:rPr lang="en-US" smtClean="0"/>
              <a:pPr/>
              <a:t>88</a:t>
            </a:fld>
            <a:endParaRPr lang="en-US" dirty="0"/>
          </a:p>
        </p:txBody>
      </p:sp>
      <p:pic>
        <p:nvPicPr>
          <p:cNvPr id="11" name="Content Placeholder 10">
            <a:extLst>
              <a:ext uri="{FF2B5EF4-FFF2-40B4-BE49-F238E27FC236}">
                <a16:creationId xmlns:a16="http://schemas.microsoft.com/office/drawing/2014/main" id="{6DD97FD3-20A5-D66E-CD7B-0C62D6FCF1B4}"/>
              </a:ext>
            </a:extLst>
          </p:cNvPr>
          <p:cNvPicPr>
            <a:picLocks noGrp="1" noChangeAspect="1"/>
          </p:cNvPicPr>
          <p:nvPr>
            <p:ph idx="1"/>
          </p:nvPr>
        </p:nvPicPr>
        <p:blipFill>
          <a:blip r:embed="rId2"/>
          <a:stretch>
            <a:fillRect/>
          </a:stretch>
        </p:blipFill>
        <p:spPr>
          <a:xfrm>
            <a:off x="1554547" y="2298192"/>
            <a:ext cx="9205881" cy="3603374"/>
          </a:xfrm>
        </p:spPr>
      </p:pic>
    </p:spTree>
    <p:extLst>
      <p:ext uri="{BB962C8B-B14F-4D97-AF65-F5344CB8AC3E}">
        <p14:creationId xmlns:p14="http://schemas.microsoft.com/office/powerpoint/2010/main" val="32120533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E45E-2F9A-6707-CE34-49676FE0B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D1894-5E58-A1A3-D45E-A9C75B20658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an example</a:t>
            </a:r>
            <a:endParaRPr lang="en-US" dirty="0">
              <a:solidFill>
                <a:srgbClr val="FF0000"/>
              </a:solidFill>
            </a:endParaRPr>
          </a:p>
        </p:txBody>
      </p:sp>
      <p:sp>
        <p:nvSpPr>
          <p:cNvPr id="4" name="Footer Placeholder 3">
            <a:extLst>
              <a:ext uri="{FF2B5EF4-FFF2-40B4-BE49-F238E27FC236}">
                <a16:creationId xmlns:a16="http://schemas.microsoft.com/office/drawing/2014/main" id="{1F2942FA-12E7-1E02-02DE-CF2E627E6CF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C5727E3-BCA2-FBF5-7AB0-3DC30B211771}"/>
              </a:ext>
            </a:extLst>
          </p:cNvPr>
          <p:cNvSpPr>
            <a:spLocks noGrp="1"/>
          </p:cNvSpPr>
          <p:nvPr>
            <p:ph type="sldNum" sz="quarter" idx="12"/>
          </p:nvPr>
        </p:nvSpPr>
        <p:spPr/>
        <p:txBody>
          <a:bodyPr/>
          <a:lstStyle/>
          <a:p>
            <a:fld id="{382B47E1-F59F-47B3-8D16-B2A0740F319A}" type="slidenum">
              <a:rPr lang="en-US" smtClean="0"/>
              <a:pPr/>
              <a:t>89</a:t>
            </a:fld>
            <a:endParaRPr lang="en-US" dirty="0"/>
          </a:p>
        </p:txBody>
      </p:sp>
      <p:pic>
        <p:nvPicPr>
          <p:cNvPr id="11" name="Content Placeholder 10">
            <a:extLst>
              <a:ext uri="{FF2B5EF4-FFF2-40B4-BE49-F238E27FC236}">
                <a16:creationId xmlns:a16="http://schemas.microsoft.com/office/drawing/2014/main" id="{950BA79F-0F5D-D20B-E362-35F02C4E4F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394533" y="2184067"/>
            <a:ext cx="9205881" cy="3974592"/>
          </a:xfrm>
        </p:spPr>
      </p:pic>
    </p:spTree>
    <p:extLst>
      <p:ext uri="{BB962C8B-B14F-4D97-AF65-F5344CB8AC3E}">
        <p14:creationId xmlns:p14="http://schemas.microsoft.com/office/powerpoint/2010/main" val="3750358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AF4E2-28A5-92E0-140F-4413623F92B4}"/>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wavelet decomposition</a:t>
            </a:r>
            <a:endParaRPr lang="en-US" dirty="0"/>
          </a:p>
        </p:txBody>
      </p:sp>
      <p:pic>
        <p:nvPicPr>
          <p:cNvPr id="7" name="Content Placeholder 6">
            <a:extLst>
              <a:ext uri="{FF2B5EF4-FFF2-40B4-BE49-F238E27FC236}">
                <a16:creationId xmlns:a16="http://schemas.microsoft.com/office/drawing/2014/main" id="{26215C78-ED14-AE09-1531-16C008C74731}"/>
              </a:ext>
            </a:extLst>
          </p:cNvPr>
          <p:cNvPicPr>
            <a:picLocks noGrp="1" noChangeAspect="1"/>
          </p:cNvPicPr>
          <p:nvPr>
            <p:ph idx="1"/>
          </p:nvPr>
        </p:nvPicPr>
        <p:blipFill>
          <a:blip r:embed="rId2"/>
          <a:stretch>
            <a:fillRect/>
          </a:stretch>
        </p:blipFill>
        <p:spPr>
          <a:xfrm>
            <a:off x="7191295" y="2490487"/>
            <a:ext cx="4578351" cy="3456332"/>
          </a:xfrm>
        </p:spPr>
      </p:pic>
      <p:sp>
        <p:nvSpPr>
          <p:cNvPr id="4" name="Footer Placeholder 3">
            <a:extLst>
              <a:ext uri="{FF2B5EF4-FFF2-40B4-BE49-F238E27FC236}">
                <a16:creationId xmlns:a16="http://schemas.microsoft.com/office/drawing/2014/main" id="{F246ABF7-E08F-ADC6-CB55-4E2B50F6748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7256F69-DCAE-874A-BB3E-2B3F7E1FF1BE}"/>
              </a:ext>
            </a:extLst>
          </p:cNvPr>
          <p:cNvSpPr>
            <a:spLocks noGrp="1"/>
          </p:cNvSpPr>
          <p:nvPr>
            <p:ph type="sldNum" sz="quarter" idx="12"/>
          </p:nvPr>
        </p:nvSpPr>
        <p:spPr/>
        <p:txBody>
          <a:bodyPr/>
          <a:lstStyle/>
          <a:p>
            <a:fld id="{382B47E1-F59F-47B3-8D16-B2A0740F319A}" type="slidenum">
              <a:rPr lang="en-US" smtClean="0"/>
              <a:pPr/>
              <a:t>90</a:t>
            </a:fld>
            <a:endParaRPr lang="en-US" dirty="0"/>
          </a:p>
        </p:txBody>
      </p:sp>
      <p:sp>
        <p:nvSpPr>
          <p:cNvPr id="8" name="TextBox 7">
            <a:extLst>
              <a:ext uri="{FF2B5EF4-FFF2-40B4-BE49-F238E27FC236}">
                <a16:creationId xmlns:a16="http://schemas.microsoft.com/office/drawing/2014/main" id="{60B83DD6-B4C9-A453-8CD9-C070337A7444}"/>
              </a:ext>
            </a:extLst>
          </p:cNvPr>
          <p:cNvSpPr txBox="1"/>
          <p:nvPr/>
        </p:nvSpPr>
        <p:spPr>
          <a:xfrm>
            <a:off x="1024127" y="2358189"/>
            <a:ext cx="6167168" cy="3477875"/>
          </a:xfrm>
          <a:prstGeom prst="rect">
            <a:avLst/>
          </a:prstGeom>
          <a:noFill/>
        </p:spPr>
        <p:txBody>
          <a:bodyPr wrap="square" rtlCol="0">
            <a:spAutoFit/>
          </a:bodyPr>
          <a:lstStyle/>
          <a:p>
            <a:r>
              <a:rPr lang="en-US" sz="2800" b="1" dirty="0"/>
              <a:t>Multi-Level Decomposition</a:t>
            </a:r>
          </a:p>
          <a:p>
            <a:pPr algn="ctr"/>
            <a:endParaRPr lang="en-US" sz="2400" dirty="0"/>
          </a:p>
          <a:p>
            <a:pPr algn="ctr"/>
            <a:r>
              <a:rPr lang="en-US" sz="2800" dirty="0"/>
              <a:t>The decomposition process can be iterated, with successive approximations being decomposed in turn, so that one signal is broken down into many lower-resolution components. This is called the </a:t>
            </a:r>
            <a:r>
              <a:rPr lang="en-US" sz="2800" dirty="0">
                <a:solidFill>
                  <a:srgbClr val="FF0000"/>
                </a:solidFill>
              </a:rPr>
              <a:t>wavelet decomposition tree</a:t>
            </a:r>
          </a:p>
        </p:txBody>
      </p:sp>
    </p:spTree>
    <p:extLst>
      <p:ext uri="{BB962C8B-B14F-4D97-AF65-F5344CB8AC3E}">
        <p14:creationId xmlns:p14="http://schemas.microsoft.com/office/powerpoint/2010/main" val="9102317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ADC87-7AF2-7360-852E-893B2CB10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2CC4F-75AE-519A-2474-A76014F890B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wavelet decomposition</a:t>
            </a:r>
            <a:endParaRPr lang="en-US" dirty="0"/>
          </a:p>
        </p:txBody>
      </p:sp>
      <p:sp>
        <p:nvSpPr>
          <p:cNvPr id="4" name="Footer Placeholder 3">
            <a:extLst>
              <a:ext uri="{FF2B5EF4-FFF2-40B4-BE49-F238E27FC236}">
                <a16:creationId xmlns:a16="http://schemas.microsoft.com/office/drawing/2014/main" id="{40BDE9CC-B345-3EE2-FEB1-582C3D52FDF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55B45D8D-533D-38EB-ECDF-00A9EF6428EE}"/>
              </a:ext>
            </a:extLst>
          </p:cNvPr>
          <p:cNvSpPr>
            <a:spLocks noGrp="1"/>
          </p:cNvSpPr>
          <p:nvPr>
            <p:ph type="sldNum" sz="quarter" idx="12"/>
          </p:nvPr>
        </p:nvSpPr>
        <p:spPr/>
        <p:txBody>
          <a:bodyPr/>
          <a:lstStyle/>
          <a:p>
            <a:fld id="{382B47E1-F59F-47B3-8D16-B2A0740F319A}" type="slidenum">
              <a:rPr lang="en-US" smtClean="0"/>
              <a:pPr/>
              <a:t>91</a:t>
            </a:fld>
            <a:endParaRPr lang="en-US" dirty="0"/>
          </a:p>
        </p:txBody>
      </p:sp>
      <p:pic>
        <p:nvPicPr>
          <p:cNvPr id="10" name="Content Placeholder 9">
            <a:extLst>
              <a:ext uri="{FF2B5EF4-FFF2-40B4-BE49-F238E27FC236}">
                <a16:creationId xmlns:a16="http://schemas.microsoft.com/office/drawing/2014/main" id="{6C6326D0-2DA2-587D-A7EF-177AFB3F3D50}"/>
              </a:ext>
            </a:extLst>
          </p:cNvPr>
          <p:cNvPicPr>
            <a:picLocks noGrp="1" noChangeAspect="1"/>
          </p:cNvPicPr>
          <p:nvPr>
            <p:ph idx="1"/>
          </p:nvPr>
        </p:nvPicPr>
        <p:blipFill>
          <a:blip r:embed="rId2"/>
          <a:stretch>
            <a:fillRect/>
          </a:stretch>
        </p:blipFill>
        <p:spPr>
          <a:xfrm>
            <a:off x="1643887" y="1909202"/>
            <a:ext cx="8738707" cy="4363582"/>
          </a:xfrm>
        </p:spPr>
      </p:pic>
    </p:spTree>
    <p:extLst>
      <p:ext uri="{BB962C8B-B14F-4D97-AF65-F5344CB8AC3E}">
        <p14:creationId xmlns:p14="http://schemas.microsoft.com/office/powerpoint/2010/main" val="9150732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1EB38-D73F-036E-493D-AD3A9465B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BC123-41BA-EFFD-74B3-8FC39C64892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idwt - reconstruction</a:t>
            </a:r>
            <a:endParaRPr lang="en-US" dirty="0"/>
          </a:p>
        </p:txBody>
      </p:sp>
      <p:sp>
        <p:nvSpPr>
          <p:cNvPr id="4" name="Footer Placeholder 3">
            <a:extLst>
              <a:ext uri="{FF2B5EF4-FFF2-40B4-BE49-F238E27FC236}">
                <a16:creationId xmlns:a16="http://schemas.microsoft.com/office/drawing/2014/main" id="{3587F4EB-0CC9-6B48-AAE8-B7930B91C3D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DD90432-05A4-E58A-BD91-F097334565B9}"/>
              </a:ext>
            </a:extLst>
          </p:cNvPr>
          <p:cNvSpPr>
            <a:spLocks noGrp="1"/>
          </p:cNvSpPr>
          <p:nvPr>
            <p:ph type="sldNum" sz="quarter" idx="12"/>
          </p:nvPr>
        </p:nvSpPr>
        <p:spPr/>
        <p:txBody>
          <a:bodyPr/>
          <a:lstStyle/>
          <a:p>
            <a:fld id="{382B47E1-F59F-47B3-8D16-B2A0740F319A}" type="slidenum">
              <a:rPr lang="en-US" smtClean="0"/>
              <a:pPr/>
              <a:t>92</a:t>
            </a:fld>
            <a:endParaRPr lang="en-US" dirty="0"/>
          </a:p>
        </p:txBody>
      </p:sp>
      <p:pic>
        <p:nvPicPr>
          <p:cNvPr id="8" name="Content Placeholder 7">
            <a:extLst>
              <a:ext uri="{FF2B5EF4-FFF2-40B4-BE49-F238E27FC236}">
                <a16:creationId xmlns:a16="http://schemas.microsoft.com/office/drawing/2014/main" id="{730EC2DB-F3A2-22F2-16FB-044DB8B3F009}"/>
              </a:ext>
            </a:extLst>
          </p:cNvPr>
          <p:cNvPicPr>
            <a:picLocks noGrp="1" noChangeAspect="1"/>
          </p:cNvPicPr>
          <p:nvPr>
            <p:ph idx="1"/>
          </p:nvPr>
        </p:nvPicPr>
        <p:blipFill>
          <a:blip r:embed="rId2"/>
          <a:stretch>
            <a:fillRect/>
          </a:stretch>
        </p:blipFill>
        <p:spPr>
          <a:xfrm>
            <a:off x="2438400" y="1743198"/>
            <a:ext cx="7137319" cy="4686118"/>
          </a:xfrm>
        </p:spPr>
      </p:pic>
    </p:spTree>
    <p:extLst>
      <p:ext uri="{BB962C8B-B14F-4D97-AF65-F5344CB8AC3E}">
        <p14:creationId xmlns:p14="http://schemas.microsoft.com/office/powerpoint/2010/main" val="34209149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248E-FB68-5474-7A15-BC8ECEB99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A71525-1C28-C5C1-D3E1-21F5D762BDD8}"/>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idwt - reconstruction</a:t>
            </a:r>
            <a:endParaRPr lang="en-US" dirty="0"/>
          </a:p>
        </p:txBody>
      </p:sp>
      <p:sp>
        <p:nvSpPr>
          <p:cNvPr id="4" name="Footer Placeholder 3">
            <a:extLst>
              <a:ext uri="{FF2B5EF4-FFF2-40B4-BE49-F238E27FC236}">
                <a16:creationId xmlns:a16="http://schemas.microsoft.com/office/drawing/2014/main" id="{4EB521D6-4F78-D53F-7661-5F4A996CA40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F03347BF-9944-FF20-B0E5-2FCD49970FC9}"/>
              </a:ext>
            </a:extLst>
          </p:cNvPr>
          <p:cNvSpPr>
            <a:spLocks noGrp="1"/>
          </p:cNvSpPr>
          <p:nvPr>
            <p:ph type="sldNum" sz="quarter" idx="12"/>
          </p:nvPr>
        </p:nvSpPr>
        <p:spPr/>
        <p:txBody>
          <a:bodyPr/>
          <a:lstStyle/>
          <a:p>
            <a:fld id="{382B47E1-F59F-47B3-8D16-B2A0740F319A}" type="slidenum">
              <a:rPr lang="en-US" smtClean="0"/>
              <a:pPr/>
              <a:t>93</a:t>
            </a:fld>
            <a:endParaRPr lang="en-US" dirty="0"/>
          </a:p>
        </p:txBody>
      </p:sp>
      <p:sp>
        <p:nvSpPr>
          <p:cNvPr id="6" name="Content Placeholder 5">
            <a:extLst>
              <a:ext uri="{FF2B5EF4-FFF2-40B4-BE49-F238E27FC236}">
                <a16:creationId xmlns:a16="http://schemas.microsoft.com/office/drawing/2014/main" id="{474467BE-573B-C6E9-FAEA-512F2B65870D}"/>
              </a:ext>
            </a:extLst>
          </p:cNvPr>
          <p:cNvSpPr>
            <a:spLocks noGrp="1"/>
          </p:cNvSpPr>
          <p:nvPr>
            <p:ph idx="1"/>
          </p:nvPr>
        </p:nvSpPr>
        <p:spPr/>
        <p:txBody>
          <a:bodyPr/>
          <a:lstStyle/>
          <a:p>
            <a:pPr>
              <a:buFont typeface="Wingdings" panose="05000000000000000000" pitchFamily="2" charset="2"/>
              <a:buChar char="q"/>
            </a:pPr>
            <a:r>
              <a:rPr lang="en-US" b="1" dirty="0"/>
              <a:t> Where wavelet analysis involves filtering and down-sampling, the wavelet reconstruction process consists of up-sampling and filtering. Up-sampling is the process of lengthening a signal component by inserting zeros between samples.</a:t>
            </a:r>
          </a:p>
        </p:txBody>
      </p:sp>
      <p:pic>
        <p:nvPicPr>
          <p:cNvPr id="9" name="Picture 8">
            <a:extLst>
              <a:ext uri="{FF2B5EF4-FFF2-40B4-BE49-F238E27FC236}">
                <a16:creationId xmlns:a16="http://schemas.microsoft.com/office/drawing/2014/main" id="{9EF7C99F-DC0D-ECE6-A945-1B02711EE3DD}"/>
              </a:ext>
            </a:extLst>
          </p:cNvPr>
          <p:cNvPicPr>
            <a:picLocks noChangeAspect="1"/>
          </p:cNvPicPr>
          <p:nvPr/>
        </p:nvPicPr>
        <p:blipFill>
          <a:blip r:embed="rId3"/>
          <a:stretch>
            <a:fillRect/>
          </a:stretch>
        </p:blipFill>
        <p:spPr>
          <a:xfrm>
            <a:off x="1197242" y="3621172"/>
            <a:ext cx="9920491" cy="2764055"/>
          </a:xfrm>
          <a:prstGeom prst="rect">
            <a:avLst/>
          </a:prstGeom>
        </p:spPr>
      </p:pic>
    </p:spTree>
    <p:extLst>
      <p:ext uri="{BB962C8B-B14F-4D97-AF65-F5344CB8AC3E}">
        <p14:creationId xmlns:p14="http://schemas.microsoft.com/office/powerpoint/2010/main" val="136871916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62678-B75D-D716-25A9-9E385D3F72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59E97-1196-7244-275D-672B8106241C}"/>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analysis and synthesis</a:t>
            </a:r>
            <a:endParaRPr lang="en-US" dirty="0"/>
          </a:p>
        </p:txBody>
      </p:sp>
      <p:sp>
        <p:nvSpPr>
          <p:cNvPr id="4" name="Footer Placeholder 3">
            <a:extLst>
              <a:ext uri="{FF2B5EF4-FFF2-40B4-BE49-F238E27FC236}">
                <a16:creationId xmlns:a16="http://schemas.microsoft.com/office/drawing/2014/main" id="{DD7AE346-3850-869D-1CAD-7DCE9514B4E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CEC06B7-27DD-4CA3-D5F0-3E4B64284EF6}"/>
              </a:ext>
            </a:extLst>
          </p:cNvPr>
          <p:cNvSpPr>
            <a:spLocks noGrp="1"/>
          </p:cNvSpPr>
          <p:nvPr>
            <p:ph type="sldNum" sz="quarter" idx="12"/>
          </p:nvPr>
        </p:nvSpPr>
        <p:spPr/>
        <p:txBody>
          <a:bodyPr/>
          <a:lstStyle/>
          <a:p>
            <a:fld id="{382B47E1-F59F-47B3-8D16-B2A0740F319A}" type="slidenum">
              <a:rPr lang="en-US" smtClean="0"/>
              <a:pPr/>
              <a:t>94</a:t>
            </a:fld>
            <a:endParaRPr lang="en-US" dirty="0"/>
          </a:p>
        </p:txBody>
      </p:sp>
      <p:pic>
        <p:nvPicPr>
          <p:cNvPr id="7" name="Content Placeholder 6">
            <a:extLst>
              <a:ext uri="{FF2B5EF4-FFF2-40B4-BE49-F238E27FC236}">
                <a16:creationId xmlns:a16="http://schemas.microsoft.com/office/drawing/2014/main" id="{88DB729A-E68A-5B2E-8673-7987E8E22C2D}"/>
              </a:ext>
            </a:extLst>
          </p:cNvPr>
          <p:cNvPicPr>
            <a:picLocks noGrp="1" noChangeAspect="1"/>
          </p:cNvPicPr>
          <p:nvPr>
            <p:ph idx="1"/>
          </p:nvPr>
        </p:nvPicPr>
        <p:blipFill>
          <a:blip r:embed="rId3"/>
          <a:stretch>
            <a:fillRect/>
          </a:stretch>
        </p:blipFill>
        <p:spPr>
          <a:xfrm>
            <a:off x="975132" y="2489201"/>
            <a:ext cx="10241736" cy="3258002"/>
          </a:xfrm>
        </p:spPr>
      </p:pic>
    </p:spTree>
    <p:extLst>
      <p:ext uri="{BB962C8B-B14F-4D97-AF65-F5344CB8AC3E}">
        <p14:creationId xmlns:p14="http://schemas.microsoft.com/office/powerpoint/2010/main" val="8411610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49F24-B5CE-7DE6-A50B-4013A79F6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75920-EAEE-E0E4-F166-713B359392AB}"/>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analysis and synthesis</a:t>
            </a:r>
            <a:endParaRPr lang="en-US" dirty="0"/>
          </a:p>
        </p:txBody>
      </p:sp>
      <p:sp>
        <p:nvSpPr>
          <p:cNvPr id="4" name="Footer Placeholder 3">
            <a:extLst>
              <a:ext uri="{FF2B5EF4-FFF2-40B4-BE49-F238E27FC236}">
                <a16:creationId xmlns:a16="http://schemas.microsoft.com/office/drawing/2014/main" id="{F3591DAF-05F1-A772-9C6D-14760C4C8F0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0249C7C-4CA0-4943-2AA4-169DA99543C1}"/>
              </a:ext>
            </a:extLst>
          </p:cNvPr>
          <p:cNvSpPr>
            <a:spLocks noGrp="1"/>
          </p:cNvSpPr>
          <p:nvPr>
            <p:ph type="sldNum" sz="quarter" idx="12"/>
          </p:nvPr>
        </p:nvSpPr>
        <p:spPr/>
        <p:txBody>
          <a:bodyPr/>
          <a:lstStyle/>
          <a:p>
            <a:fld id="{382B47E1-F59F-47B3-8D16-B2A0740F319A}" type="slidenum">
              <a:rPr lang="en-US" smtClean="0"/>
              <a:pPr/>
              <a:t>95</a:t>
            </a:fld>
            <a:endParaRPr lang="en-US" dirty="0"/>
          </a:p>
        </p:txBody>
      </p:sp>
      <p:pic>
        <p:nvPicPr>
          <p:cNvPr id="9" name="Content Placeholder 8">
            <a:extLst>
              <a:ext uri="{FF2B5EF4-FFF2-40B4-BE49-F238E27FC236}">
                <a16:creationId xmlns:a16="http://schemas.microsoft.com/office/drawing/2014/main" id="{D59B76EA-B72D-4631-01BE-D8DECC5BEBEE}"/>
              </a:ext>
            </a:extLst>
          </p:cNvPr>
          <p:cNvPicPr>
            <a:picLocks noGrp="1" noChangeAspect="1"/>
          </p:cNvPicPr>
          <p:nvPr>
            <p:ph idx="1"/>
          </p:nvPr>
        </p:nvPicPr>
        <p:blipFill>
          <a:blip r:embed="rId3"/>
          <a:stretch>
            <a:fillRect/>
          </a:stretch>
        </p:blipFill>
        <p:spPr>
          <a:xfrm>
            <a:off x="1052374" y="2470883"/>
            <a:ext cx="10087252" cy="3604160"/>
          </a:xfrm>
        </p:spPr>
      </p:pic>
    </p:spTree>
    <p:extLst>
      <p:ext uri="{BB962C8B-B14F-4D97-AF65-F5344CB8AC3E}">
        <p14:creationId xmlns:p14="http://schemas.microsoft.com/office/powerpoint/2010/main" val="117267878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75F73-0897-DF9B-3593-4BF3A9662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E86B53-813F-3E3F-33B0-4A4A71B80E2D}"/>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analysis and synthesis</a:t>
            </a:r>
            <a:endParaRPr lang="en-US" dirty="0"/>
          </a:p>
        </p:txBody>
      </p:sp>
      <p:sp>
        <p:nvSpPr>
          <p:cNvPr id="4" name="Footer Placeholder 3">
            <a:extLst>
              <a:ext uri="{FF2B5EF4-FFF2-40B4-BE49-F238E27FC236}">
                <a16:creationId xmlns:a16="http://schemas.microsoft.com/office/drawing/2014/main" id="{676B7C47-0160-7E1E-57A7-816F08BF82BC}"/>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1EA70A3-C37D-524A-049F-45E11387B8FD}"/>
              </a:ext>
            </a:extLst>
          </p:cNvPr>
          <p:cNvSpPr>
            <a:spLocks noGrp="1"/>
          </p:cNvSpPr>
          <p:nvPr>
            <p:ph type="sldNum" sz="quarter" idx="12"/>
          </p:nvPr>
        </p:nvSpPr>
        <p:spPr/>
        <p:txBody>
          <a:bodyPr/>
          <a:lstStyle/>
          <a:p>
            <a:fld id="{382B47E1-F59F-47B3-8D16-B2A0740F319A}" type="slidenum">
              <a:rPr lang="en-US" smtClean="0"/>
              <a:pPr/>
              <a:t>96</a:t>
            </a:fld>
            <a:endParaRPr lang="en-US" dirty="0"/>
          </a:p>
        </p:txBody>
      </p:sp>
      <p:pic>
        <p:nvPicPr>
          <p:cNvPr id="11" name="Picture 10">
            <a:extLst>
              <a:ext uri="{FF2B5EF4-FFF2-40B4-BE49-F238E27FC236}">
                <a16:creationId xmlns:a16="http://schemas.microsoft.com/office/drawing/2014/main" id="{6E54A121-75E6-4973-9778-4650B3D346AD}"/>
              </a:ext>
            </a:extLst>
          </p:cNvPr>
          <p:cNvPicPr>
            <a:picLocks noChangeAspect="1"/>
          </p:cNvPicPr>
          <p:nvPr/>
        </p:nvPicPr>
        <p:blipFill>
          <a:blip r:embed="rId3"/>
          <a:stretch>
            <a:fillRect/>
          </a:stretch>
        </p:blipFill>
        <p:spPr>
          <a:xfrm>
            <a:off x="942600" y="2694432"/>
            <a:ext cx="7811590" cy="2657846"/>
          </a:xfrm>
          <a:prstGeom prst="rect">
            <a:avLst/>
          </a:prstGeom>
        </p:spPr>
      </p:pic>
      <p:pic>
        <p:nvPicPr>
          <p:cNvPr id="18" name="Picture 17">
            <a:extLst>
              <a:ext uri="{FF2B5EF4-FFF2-40B4-BE49-F238E27FC236}">
                <a16:creationId xmlns:a16="http://schemas.microsoft.com/office/drawing/2014/main" id="{B4161389-5A1B-2C49-1459-35104C55F71A}"/>
              </a:ext>
            </a:extLst>
          </p:cNvPr>
          <p:cNvPicPr>
            <a:picLocks noChangeAspect="1"/>
          </p:cNvPicPr>
          <p:nvPr/>
        </p:nvPicPr>
        <p:blipFill>
          <a:blip r:embed="rId4"/>
          <a:stretch>
            <a:fillRect/>
          </a:stretch>
        </p:blipFill>
        <p:spPr>
          <a:xfrm>
            <a:off x="8591630" y="1335024"/>
            <a:ext cx="3400900" cy="3115110"/>
          </a:xfrm>
          <a:prstGeom prst="rect">
            <a:avLst/>
          </a:prstGeom>
        </p:spPr>
      </p:pic>
      <p:pic>
        <p:nvPicPr>
          <p:cNvPr id="20" name="Picture 19">
            <a:extLst>
              <a:ext uri="{FF2B5EF4-FFF2-40B4-BE49-F238E27FC236}">
                <a16:creationId xmlns:a16="http://schemas.microsoft.com/office/drawing/2014/main" id="{9B94B70B-C518-D378-83AE-C108801BD88B}"/>
              </a:ext>
            </a:extLst>
          </p:cNvPr>
          <p:cNvPicPr>
            <a:picLocks noChangeAspect="1"/>
          </p:cNvPicPr>
          <p:nvPr/>
        </p:nvPicPr>
        <p:blipFill>
          <a:blip r:embed="rId5"/>
          <a:stretch>
            <a:fillRect/>
          </a:stretch>
        </p:blipFill>
        <p:spPr>
          <a:xfrm>
            <a:off x="8754190" y="4450134"/>
            <a:ext cx="2857899" cy="1952898"/>
          </a:xfrm>
          <a:prstGeom prst="rect">
            <a:avLst/>
          </a:prstGeom>
        </p:spPr>
      </p:pic>
    </p:spTree>
    <p:extLst>
      <p:ext uri="{BB962C8B-B14F-4D97-AF65-F5344CB8AC3E}">
        <p14:creationId xmlns:p14="http://schemas.microsoft.com/office/powerpoint/2010/main" val="350381798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F9E38-A465-F75E-D3ED-A81BFCF12A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B3CF4-BD11-50DA-67C7-C618EFB24CE4}"/>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Wavelet transform as Sub-band Transform</a:t>
            </a:r>
            <a:endParaRPr lang="en-US" dirty="0"/>
          </a:p>
        </p:txBody>
      </p:sp>
      <p:sp>
        <p:nvSpPr>
          <p:cNvPr id="4" name="Footer Placeholder 3">
            <a:extLst>
              <a:ext uri="{FF2B5EF4-FFF2-40B4-BE49-F238E27FC236}">
                <a16:creationId xmlns:a16="http://schemas.microsoft.com/office/drawing/2014/main" id="{ECE6EFBF-C20A-DA03-3C54-10F085C33C04}"/>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65084191-F3FD-679F-D511-22F14C4F6F4A}"/>
              </a:ext>
            </a:extLst>
          </p:cNvPr>
          <p:cNvSpPr>
            <a:spLocks noGrp="1"/>
          </p:cNvSpPr>
          <p:nvPr>
            <p:ph type="sldNum" sz="quarter" idx="12"/>
          </p:nvPr>
        </p:nvSpPr>
        <p:spPr/>
        <p:txBody>
          <a:bodyPr/>
          <a:lstStyle/>
          <a:p>
            <a:fld id="{382B47E1-F59F-47B3-8D16-B2A0740F319A}" type="slidenum">
              <a:rPr lang="en-US" smtClean="0"/>
              <a:pPr/>
              <a:t>97</a:t>
            </a:fld>
            <a:endParaRPr lang="en-US" dirty="0"/>
          </a:p>
        </p:txBody>
      </p:sp>
      <p:pic>
        <p:nvPicPr>
          <p:cNvPr id="6" name="Picture 5">
            <a:extLst>
              <a:ext uri="{FF2B5EF4-FFF2-40B4-BE49-F238E27FC236}">
                <a16:creationId xmlns:a16="http://schemas.microsoft.com/office/drawing/2014/main" id="{7E40B13F-4A43-B6F6-705D-248E4F971B83}"/>
              </a:ext>
            </a:extLst>
          </p:cNvPr>
          <p:cNvPicPr>
            <a:picLocks noChangeAspect="1"/>
          </p:cNvPicPr>
          <p:nvPr/>
        </p:nvPicPr>
        <p:blipFill>
          <a:blip r:embed="rId3"/>
          <a:stretch>
            <a:fillRect/>
          </a:stretch>
        </p:blipFill>
        <p:spPr>
          <a:xfrm>
            <a:off x="1433094" y="2140712"/>
            <a:ext cx="9448788" cy="3973498"/>
          </a:xfrm>
          <a:prstGeom prst="rect">
            <a:avLst/>
          </a:prstGeom>
        </p:spPr>
      </p:pic>
    </p:spTree>
    <p:extLst>
      <p:ext uri="{BB962C8B-B14F-4D97-AF65-F5344CB8AC3E}">
        <p14:creationId xmlns:p14="http://schemas.microsoft.com/office/powerpoint/2010/main" val="37163581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8F87-C4B8-80B9-E564-7AB8BD4A1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16817A-334E-8CD7-0851-F3D9F0E05C88}"/>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multiscale analysis</a:t>
            </a:r>
            <a:endParaRPr lang="en-US" dirty="0"/>
          </a:p>
        </p:txBody>
      </p:sp>
      <p:sp>
        <p:nvSpPr>
          <p:cNvPr id="4" name="Footer Placeholder 3">
            <a:extLst>
              <a:ext uri="{FF2B5EF4-FFF2-40B4-BE49-F238E27FC236}">
                <a16:creationId xmlns:a16="http://schemas.microsoft.com/office/drawing/2014/main" id="{010E5CBC-85A8-30A1-7B02-CB4E610BAB6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C6C7A71-44F4-A357-DC48-76116A5D650E}"/>
              </a:ext>
            </a:extLst>
          </p:cNvPr>
          <p:cNvSpPr>
            <a:spLocks noGrp="1"/>
          </p:cNvSpPr>
          <p:nvPr>
            <p:ph type="sldNum" sz="quarter" idx="12"/>
          </p:nvPr>
        </p:nvSpPr>
        <p:spPr/>
        <p:txBody>
          <a:bodyPr/>
          <a:lstStyle/>
          <a:p>
            <a:fld id="{382B47E1-F59F-47B3-8D16-B2A0740F319A}" type="slidenum">
              <a:rPr lang="en-US" smtClean="0"/>
              <a:pPr/>
              <a:t>98</a:t>
            </a:fld>
            <a:endParaRPr lang="en-US" dirty="0"/>
          </a:p>
        </p:txBody>
      </p:sp>
      <p:pic>
        <p:nvPicPr>
          <p:cNvPr id="9" name="Picture 8">
            <a:extLst>
              <a:ext uri="{FF2B5EF4-FFF2-40B4-BE49-F238E27FC236}">
                <a16:creationId xmlns:a16="http://schemas.microsoft.com/office/drawing/2014/main" id="{0E5170B8-3515-1A2C-DA5C-668A7B3F24BF}"/>
              </a:ext>
            </a:extLst>
          </p:cNvPr>
          <p:cNvPicPr>
            <a:picLocks noChangeAspect="1"/>
          </p:cNvPicPr>
          <p:nvPr/>
        </p:nvPicPr>
        <p:blipFill>
          <a:blip r:embed="rId3"/>
          <a:stretch>
            <a:fillRect/>
          </a:stretch>
        </p:blipFill>
        <p:spPr>
          <a:xfrm>
            <a:off x="1194192" y="2084832"/>
            <a:ext cx="9803616" cy="4187952"/>
          </a:xfrm>
          <a:prstGeom prst="rect">
            <a:avLst/>
          </a:prstGeom>
        </p:spPr>
      </p:pic>
    </p:spTree>
    <p:extLst>
      <p:ext uri="{BB962C8B-B14F-4D97-AF65-F5344CB8AC3E}">
        <p14:creationId xmlns:p14="http://schemas.microsoft.com/office/powerpoint/2010/main" val="1402487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4641F-465E-A5A2-5824-EDF4BC8C2EE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0864AFB-EB3B-7A1C-F4FB-B3755788F02A}"/>
              </a:ext>
            </a:extLst>
          </p:cNvPr>
          <p:cNvPicPr>
            <a:picLocks noChangeAspect="1"/>
          </p:cNvPicPr>
          <p:nvPr/>
        </p:nvPicPr>
        <p:blipFill>
          <a:blip r:embed="rId3"/>
          <a:stretch>
            <a:fillRect/>
          </a:stretch>
        </p:blipFill>
        <p:spPr>
          <a:xfrm>
            <a:off x="2204720" y="1261498"/>
            <a:ext cx="7346348" cy="5199597"/>
          </a:xfrm>
          <a:prstGeom prst="rect">
            <a:avLst/>
          </a:prstGeom>
        </p:spPr>
      </p:pic>
      <p:sp>
        <p:nvSpPr>
          <p:cNvPr id="2" name="Title 1">
            <a:extLst>
              <a:ext uri="{FF2B5EF4-FFF2-40B4-BE49-F238E27FC236}">
                <a16:creationId xmlns:a16="http://schemas.microsoft.com/office/drawing/2014/main" id="{2D7910B8-F495-CBDC-FAF8-FF6C74A2742C}"/>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2-D Discrete Wavelet Transform</a:t>
            </a:r>
            <a:endParaRPr lang="en-US" dirty="0"/>
          </a:p>
        </p:txBody>
      </p:sp>
      <p:sp>
        <p:nvSpPr>
          <p:cNvPr id="4" name="Footer Placeholder 3">
            <a:extLst>
              <a:ext uri="{FF2B5EF4-FFF2-40B4-BE49-F238E27FC236}">
                <a16:creationId xmlns:a16="http://schemas.microsoft.com/office/drawing/2014/main" id="{5CBEC9BD-CA00-B211-2071-183D1C909896}"/>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BE694AD-02C2-5DE7-EDBA-FDCA34F39F78}"/>
              </a:ext>
            </a:extLst>
          </p:cNvPr>
          <p:cNvSpPr>
            <a:spLocks noGrp="1"/>
          </p:cNvSpPr>
          <p:nvPr>
            <p:ph type="sldNum" sz="quarter" idx="12"/>
          </p:nvPr>
        </p:nvSpPr>
        <p:spPr/>
        <p:txBody>
          <a:bodyPr/>
          <a:lstStyle/>
          <a:p>
            <a:fld id="{382B47E1-F59F-47B3-8D16-B2A0740F319A}" type="slidenum">
              <a:rPr lang="en-US" smtClean="0"/>
              <a:pPr/>
              <a:t>99</a:t>
            </a:fld>
            <a:endParaRPr lang="en-US" dirty="0"/>
          </a:p>
        </p:txBody>
      </p:sp>
    </p:spTree>
    <p:extLst>
      <p:ext uri="{BB962C8B-B14F-4D97-AF65-F5344CB8AC3E}">
        <p14:creationId xmlns:p14="http://schemas.microsoft.com/office/powerpoint/2010/main" val="9046790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89945-8F92-FF89-B267-0868E9F620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48B9C-1D6E-91EA-8318-2816F8EB07C5}"/>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lang="en-US" sz="3600" dirty="0">
                <a:solidFill>
                  <a:srgbClr val="FF0000"/>
                </a:solidFill>
                <a:latin typeface="Tw Cen MT Condensed" panose="020B0606020104020203"/>
              </a:rPr>
              <a:t>2-D Discrete Wavelet Transform</a:t>
            </a:r>
            <a:endParaRPr lang="en-US" dirty="0"/>
          </a:p>
        </p:txBody>
      </p:sp>
      <p:sp>
        <p:nvSpPr>
          <p:cNvPr id="4" name="Footer Placeholder 3">
            <a:extLst>
              <a:ext uri="{FF2B5EF4-FFF2-40B4-BE49-F238E27FC236}">
                <a16:creationId xmlns:a16="http://schemas.microsoft.com/office/drawing/2014/main" id="{3730689A-9C4F-151A-0020-9EB7ED3DF81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D3955AA-A658-E0FE-F709-5B0D8AD2E0C1}"/>
              </a:ext>
            </a:extLst>
          </p:cNvPr>
          <p:cNvSpPr>
            <a:spLocks noGrp="1"/>
          </p:cNvSpPr>
          <p:nvPr>
            <p:ph type="sldNum" sz="quarter" idx="12"/>
          </p:nvPr>
        </p:nvSpPr>
        <p:spPr/>
        <p:txBody>
          <a:bodyPr/>
          <a:lstStyle/>
          <a:p>
            <a:fld id="{382B47E1-F59F-47B3-8D16-B2A0740F319A}" type="slidenum">
              <a:rPr lang="en-US" smtClean="0"/>
              <a:pPr/>
              <a:t>100</a:t>
            </a:fld>
            <a:endParaRPr lang="en-US" dirty="0"/>
          </a:p>
        </p:txBody>
      </p:sp>
      <p:pic>
        <p:nvPicPr>
          <p:cNvPr id="6" name="Picture 5">
            <a:extLst>
              <a:ext uri="{FF2B5EF4-FFF2-40B4-BE49-F238E27FC236}">
                <a16:creationId xmlns:a16="http://schemas.microsoft.com/office/drawing/2014/main" id="{BFED0EFE-6593-09D3-3698-53A3D081A3E2}"/>
              </a:ext>
            </a:extLst>
          </p:cNvPr>
          <p:cNvPicPr>
            <a:picLocks noChangeAspect="1"/>
          </p:cNvPicPr>
          <p:nvPr/>
        </p:nvPicPr>
        <p:blipFill>
          <a:blip r:embed="rId3"/>
          <a:stretch>
            <a:fillRect/>
          </a:stretch>
        </p:blipFill>
        <p:spPr>
          <a:xfrm>
            <a:off x="1136293" y="2214880"/>
            <a:ext cx="9919413" cy="3590684"/>
          </a:xfrm>
          <a:prstGeom prst="rect">
            <a:avLst/>
          </a:prstGeom>
        </p:spPr>
      </p:pic>
    </p:spTree>
    <p:extLst>
      <p:ext uri="{BB962C8B-B14F-4D97-AF65-F5344CB8AC3E}">
        <p14:creationId xmlns:p14="http://schemas.microsoft.com/office/powerpoint/2010/main" val="6301977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4B825-2943-C4C8-0909-8B8252565547}"/>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pic>
        <p:nvPicPr>
          <p:cNvPr id="8" name="Content Placeholder 7">
            <a:extLst>
              <a:ext uri="{FF2B5EF4-FFF2-40B4-BE49-F238E27FC236}">
                <a16:creationId xmlns:a16="http://schemas.microsoft.com/office/drawing/2014/main" id="{29DF3E5F-96C7-AEAF-DC1E-1204CDC552AB}"/>
              </a:ext>
            </a:extLst>
          </p:cNvPr>
          <p:cNvPicPr>
            <a:picLocks noGrp="1" noChangeAspect="1"/>
          </p:cNvPicPr>
          <p:nvPr>
            <p:ph sz="half" idx="1"/>
          </p:nvPr>
        </p:nvPicPr>
        <p:blipFill>
          <a:blip r:embed="rId2"/>
          <a:stretch>
            <a:fillRect/>
          </a:stretch>
        </p:blipFill>
        <p:spPr>
          <a:xfrm>
            <a:off x="1447800" y="1926138"/>
            <a:ext cx="3962613" cy="4454524"/>
          </a:xfrm>
        </p:spPr>
      </p:pic>
      <p:pic>
        <p:nvPicPr>
          <p:cNvPr id="10" name="Content Placeholder 9">
            <a:extLst>
              <a:ext uri="{FF2B5EF4-FFF2-40B4-BE49-F238E27FC236}">
                <a16:creationId xmlns:a16="http://schemas.microsoft.com/office/drawing/2014/main" id="{540C6877-7CE0-9DFE-C6B2-9DCD7529EA9C}"/>
              </a:ext>
            </a:extLst>
          </p:cNvPr>
          <p:cNvPicPr>
            <a:picLocks noGrp="1" noChangeAspect="1"/>
          </p:cNvPicPr>
          <p:nvPr>
            <p:ph sz="half" idx="2"/>
          </p:nvPr>
        </p:nvPicPr>
        <p:blipFill>
          <a:blip r:embed="rId3"/>
          <a:stretch>
            <a:fillRect/>
          </a:stretch>
        </p:blipFill>
        <p:spPr>
          <a:xfrm>
            <a:off x="6781589" y="1930401"/>
            <a:ext cx="4073424" cy="4450261"/>
          </a:xfrm>
        </p:spPr>
      </p:pic>
      <p:sp>
        <p:nvSpPr>
          <p:cNvPr id="5" name="Footer Placeholder 4">
            <a:extLst>
              <a:ext uri="{FF2B5EF4-FFF2-40B4-BE49-F238E27FC236}">
                <a16:creationId xmlns:a16="http://schemas.microsoft.com/office/drawing/2014/main" id="{3E445249-AACF-E02D-9EA6-5415EF8F968B}"/>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AFEA3D9F-3540-2841-2B01-725414C4DAC4}"/>
              </a:ext>
            </a:extLst>
          </p:cNvPr>
          <p:cNvSpPr>
            <a:spLocks noGrp="1"/>
          </p:cNvSpPr>
          <p:nvPr>
            <p:ph type="sldNum" sz="quarter" idx="12"/>
          </p:nvPr>
        </p:nvSpPr>
        <p:spPr/>
        <p:txBody>
          <a:bodyPr/>
          <a:lstStyle/>
          <a:p>
            <a:fld id="{382B47E1-F59F-47B3-8D16-B2A0740F319A}" type="slidenum">
              <a:rPr lang="en-US" sz="1600" smtClean="0"/>
              <a:t>101</a:t>
            </a:fld>
            <a:endParaRPr lang="en-US" sz="1600" dirty="0"/>
          </a:p>
        </p:txBody>
      </p:sp>
      <p:cxnSp>
        <p:nvCxnSpPr>
          <p:cNvPr id="12" name="Straight Arrow Connector 11">
            <a:extLst>
              <a:ext uri="{FF2B5EF4-FFF2-40B4-BE49-F238E27FC236}">
                <a16:creationId xmlns:a16="http://schemas.microsoft.com/office/drawing/2014/main" id="{7251F60E-A5E6-C172-9514-D4A08D0783A4}"/>
              </a:ext>
            </a:extLst>
          </p:cNvPr>
          <p:cNvCxnSpPr/>
          <p:nvPr/>
        </p:nvCxnSpPr>
        <p:spPr>
          <a:xfrm>
            <a:off x="5516880" y="3931920"/>
            <a:ext cx="1087120" cy="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3D16FDCB-9852-20E9-0CC7-E6500576560A}"/>
              </a:ext>
            </a:extLst>
          </p:cNvPr>
          <p:cNvSpPr txBox="1"/>
          <p:nvPr/>
        </p:nvSpPr>
        <p:spPr>
          <a:xfrm>
            <a:off x="5516880" y="3562588"/>
            <a:ext cx="1087120" cy="369332"/>
          </a:xfrm>
          <a:prstGeom prst="rect">
            <a:avLst/>
          </a:prstGeom>
          <a:noFill/>
        </p:spPr>
        <p:txBody>
          <a:bodyPr wrap="square" rtlCol="0">
            <a:spAutoFit/>
          </a:bodyPr>
          <a:lstStyle/>
          <a:p>
            <a:r>
              <a:rPr lang="en-US" dirty="0"/>
              <a:t>2D DWT</a:t>
            </a:r>
          </a:p>
        </p:txBody>
      </p:sp>
    </p:spTree>
    <p:extLst>
      <p:ext uri="{BB962C8B-B14F-4D97-AF65-F5344CB8AC3E}">
        <p14:creationId xmlns:p14="http://schemas.microsoft.com/office/powerpoint/2010/main" val="21610133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D7143-704E-DC07-D51E-788A4369C2AC}"/>
            </a:ext>
          </a:extLst>
        </p:cNvPr>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232F66DF-407C-85BB-F246-E60C3A17FFB3}"/>
              </a:ext>
            </a:extLst>
          </p:cNvPr>
          <p:cNvPicPr>
            <a:picLocks noGrp="1" noChangeAspect="1"/>
          </p:cNvPicPr>
          <p:nvPr>
            <p:ph sz="half" idx="1"/>
          </p:nvPr>
        </p:nvPicPr>
        <p:blipFill>
          <a:blip r:embed="rId2"/>
          <a:stretch>
            <a:fillRect/>
          </a:stretch>
        </p:blipFill>
        <p:spPr>
          <a:xfrm>
            <a:off x="6096000" y="1847452"/>
            <a:ext cx="5715000" cy="4425332"/>
          </a:xfrm>
        </p:spPr>
      </p:pic>
      <p:sp>
        <p:nvSpPr>
          <p:cNvPr id="2" name="Title 1">
            <a:extLst>
              <a:ext uri="{FF2B5EF4-FFF2-40B4-BE49-F238E27FC236}">
                <a16:creationId xmlns:a16="http://schemas.microsoft.com/office/drawing/2014/main" id="{9772B26F-BDF4-2CF3-38CD-6EE0B93C54B2}"/>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pic>
        <p:nvPicPr>
          <p:cNvPr id="10" name="Content Placeholder 9">
            <a:extLst>
              <a:ext uri="{FF2B5EF4-FFF2-40B4-BE49-F238E27FC236}">
                <a16:creationId xmlns:a16="http://schemas.microsoft.com/office/drawing/2014/main" id="{3BC8C4BE-E7B5-091D-D303-D756AC06DF62}"/>
              </a:ext>
            </a:extLst>
          </p:cNvPr>
          <p:cNvPicPr>
            <a:picLocks noGrp="1" noChangeAspect="1"/>
          </p:cNvPicPr>
          <p:nvPr>
            <p:ph sz="half" idx="2"/>
          </p:nvPr>
        </p:nvPicPr>
        <p:blipFill>
          <a:blip r:embed="rId3"/>
          <a:stretch>
            <a:fillRect/>
          </a:stretch>
        </p:blipFill>
        <p:spPr>
          <a:xfrm>
            <a:off x="1225571" y="1782401"/>
            <a:ext cx="4291309" cy="4688303"/>
          </a:xfrm>
        </p:spPr>
      </p:pic>
      <p:sp>
        <p:nvSpPr>
          <p:cNvPr id="5" name="Footer Placeholder 4">
            <a:extLst>
              <a:ext uri="{FF2B5EF4-FFF2-40B4-BE49-F238E27FC236}">
                <a16:creationId xmlns:a16="http://schemas.microsoft.com/office/drawing/2014/main" id="{040A7C09-3371-5952-398C-D3ED0D2178ED}"/>
              </a:ext>
            </a:extLst>
          </p:cNvPr>
          <p:cNvSpPr>
            <a:spLocks noGrp="1"/>
          </p:cNvSpPr>
          <p:nvPr>
            <p:ph type="ftr" sz="quarter" idx="11"/>
          </p:nvPr>
        </p:nvSpPr>
        <p:spPr/>
        <p:txBody>
          <a:bodyPr/>
          <a:lstStyle/>
          <a:p>
            <a:r>
              <a:rPr lang="en-US" sz="1600" dirty="0"/>
              <a:t>Information Hiding, Shiraz university of technology</a:t>
            </a:r>
          </a:p>
        </p:txBody>
      </p:sp>
      <p:sp>
        <p:nvSpPr>
          <p:cNvPr id="6" name="Slide Number Placeholder 5">
            <a:extLst>
              <a:ext uri="{FF2B5EF4-FFF2-40B4-BE49-F238E27FC236}">
                <a16:creationId xmlns:a16="http://schemas.microsoft.com/office/drawing/2014/main" id="{BC54A762-9170-86FA-A295-FB0A45DC18FE}"/>
              </a:ext>
            </a:extLst>
          </p:cNvPr>
          <p:cNvSpPr>
            <a:spLocks noGrp="1"/>
          </p:cNvSpPr>
          <p:nvPr>
            <p:ph type="sldNum" sz="quarter" idx="12"/>
          </p:nvPr>
        </p:nvSpPr>
        <p:spPr/>
        <p:txBody>
          <a:bodyPr/>
          <a:lstStyle/>
          <a:p>
            <a:fld id="{382B47E1-F59F-47B3-8D16-B2A0740F319A}" type="slidenum">
              <a:rPr lang="en-US" sz="1600" smtClean="0"/>
              <a:t>102</a:t>
            </a:fld>
            <a:endParaRPr lang="en-US" sz="1600" dirty="0"/>
          </a:p>
        </p:txBody>
      </p:sp>
      <p:cxnSp>
        <p:nvCxnSpPr>
          <p:cNvPr id="12" name="Straight Arrow Connector 11">
            <a:extLst>
              <a:ext uri="{FF2B5EF4-FFF2-40B4-BE49-F238E27FC236}">
                <a16:creationId xmlns:a16="http://schemas.microsoft.com/office/drawing/2014/main" id="{72B75EFE-134B-1330-D28A-5B1A4B8535E4}"/>
              </a:ext>
            </a:extLst>
          </p:cNvPr>
          <p:cNvCxnSpPr/>
          <p:nvPr/>
        </p:nvCxnSpPr>
        <p:spPr>
          <a:xfrm>
            <a:off x="5516880" y="3931920"/>
            <a:ext cx="1087120" cy="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3" name="TextBox 12">
            <a:extLst>
              <a:ext uri="{FF2B5EF4-FFF2-40B4-BE49-F238E27FC236}">
                <a16:creationId xmlns:a16="http://schemas.microsoft.com/office/drawing/2014/main" id="{D97601B2-0BE5-EA06-3204-19C1D41A001B}"/>
              </a:ext>
            </a:extLst>
          </p:cNvPr>
          <p:cNvSpPr txBox="1"/>
          <p:nvPr/>
        </p:nvSpPr>
        <p:spPr>
          <a:xfrm>
            <a:off x="5516880" y="3562588"/>
            <a:ext cx="1087120" cy="369332"/>
          </a:xfrm>
          <a:prstGeom prst="rect">
            <a:avLst/>
          </a:prstGeom>
          <a:noFill/>
        </p:spPr>
        <p:txBody>
          <a:bodyPr wrap="square" rtlCol="0">
            <a:spAutoFit/>
          </a:bodyPr>
          <a:lstStyle/>
          <a:p>
            <a:r>
              <a:rPr lang="en-US" dirty="0"/>
              <a:t>2D IDWT</a:t>
            </a:r>
          </a:p>
        </p:txBody>
      </p:sp>
    </p:spTree>
    <p:extLst>
      <p:ext uri="{BB962C8B-B14F-4D97-AF65-F5344CB8AC3E}">
        <p14:creationId xmlns:p14="http://schemas.microsoft.com/office/powerpoint/2010/main" val="37890379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EF62C-6A54-7F2A-4482-B6B0F45AA7C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E24C805-208D-9E20-BA55-3FA036065D1A}"/>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8618F3A-A9C1-D285-DBE7-1031DA7C12D2}"/>
              </a:ext>
            </a:extLst>
          </p:cNvPr>
          <p:cNvSpPr>
            <a:spLocks noGrp="1"/>
          </p:cNvSpPr>
          <p:nvPr>
            <p:ph type="sldNum" sz="quarter" idx="12"/>
          </p:nvPr>
        </p:nvSpPr>
        <p:spPr/>
        <p:txBody>
          <a:bodyPr/>
          <a:lstStyle/>
          <a:p>
            <a:fld id="{382B47E1-F59F-47B3-8D16-B2A0740F319A}" type="slidenum">
              <a:rPr lang="en-US" smtClean="0"/>
              <a:pPr/>
              <a:t>103</a:t>
            </a:fld>
            <a:endParaRPr lang="en-US" dirty="0"/>
          </a:p>
        </p:txBody>
      </p:sp>
      <p:pic>
        <p:nvPicPr>
          <p:cNvPr id="7" name="Picture 6">
            <a:extLst>
              <a:ext uri="{FF2B5EF4-FFF2-40B4-BE49-F238E27FC236}">
                <a16:creationId xmlns:a16="http://schemas.microsoft.com/office/drawing/2014/main" id="{4CE784D6-DE88-B316-C689-6D3F93C43727}"/>
              </a:ext>
            </a:extLst>
          </p:cNvPr>
          <p:cNvPicPr>
            <a:picLocks noChangeAspect="1"/>
          </p:cNvPicPr>
          <p:nvPr/>
        </p:nvPicPr>
        <p:blipFill>
          <a:blip r:embed="rId3"/>
          <a:stretch>
            <a:fillRect/>
          </a:stretch>
        </p:blipFill>
        <p:spPr>
          <a:xfrm>
            <a:off x="693399" y="92785"/>
            <a:ext cx="10838201" cy="6363230"/>
          </a:xfrm>
          <a:prstGeom prst="rect">
            <a:avLst/>
          </a:prstGeom>
        </p:spPr>
      </p:pic>
    </p:spTree>
    <p:extLst>
      <p:ext uri="{BB962C8B-B14F-4D97-AF65-F5344CB8AC3E}">
        <p14:creationId xmlns:p14="http://schemas.microsoft.com/office/powerpoint/2010/main" val="69002226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3726F-E205-658C-05E2-BCB7F7B98B55}"/>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pic>
        <p:nvPicPr>
          <p:cNvPr id="7" name="Content Placeholder 6">
            <a:extLst>
              <a:ext uri="{FF2B5EF4-FFF2-40B4-BE49-F238E27FC236}">
                <a16:creationId xmlns:a16="http://schemas.microsoft.com/office/drawing/2014/main" id="{96F7C64B-2D40-2284-5D78-3651A68B3D14}"/>
              </a:ext>
            </a:extLst>
          </p:cNvPr>
          <p:cNvPicPr>
            <a:picLocks noGrp="1" noChangeAspect="1"/>
          </p:cNvPicPr>
          <p:nvPr>
            <p:ph idx="1"/>
          </p:nvPr>
        </p:nvPicPr>
        <p:blipFill>
          <a:blip r:embed="rId2"/>
          <a:stretch>
            <a:fillRect/>
          </a:stretch>
        </p:blipFill>
        <p:spPr>
          <a:xfrm>
            <a:off x="2552460" y="1881102"/>
            <a:ext cx="7210055" cy="4391682"/>
          </a:xfrm>
        </p:spPr>
      </p:pic>
      <p:sp>
        <p:nvSpPr>
          <p:cNvPr id="4" name="Footer Placeholder 3">
            <a:extLst>
              <a:ext uri="{FF2B5EF4-FFF2-40B4-BE49-F238E27FC236}">
                <a16:creationId xmlns:a16="http://schemas.microsoft.com/office/drawing/2014/main" id="{133A1F8B-34D4-928C-BB35-54D169DB69D3}"/>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37AB165-E6A1-3D6B-FF9C-1B3728CCF93E}"/>
              </a:ext>
            </a:extLst>
          </p:cNvPr>
          <p:cNvSpPr>
            <a:spLocks noGrp="1"/>
          </p:cNvSpPr>
          <p:nvPr>
            <p:ph type="sldNum" sz="quarter" idx="12"/>
          </p:nvPr>
        </p:nvSpPr>
        <p:spPr/>
        <p:txBody>
          <a:bodyPr/>
          <a:lstStyle/>
          <a:p>
            <a:fld id="{382B47E1-F59F-47B3-8D16-B2A0740F319A}" type="slidenum">
              <a:rPr lang="en-US" smtClean="0"/>
              <a:pPr/>
              <a:t>104</a:t>
            </a:fld>
            <a:endParaRPr lang="en-US" dirty="0"/>
          </a:p>
        </p:txBody>
      </p:sp>
    </p:spTree>
    <p:extLst>
      <p:ext uri="{BB962C8B-B14F-4D97-AF65-F5344CB8AC3E}">
        <p14:creationId xmlns:p14="http://schemas.microsoft.com/office/powerpoint/2010/main" val="27355970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A9E8B-C35C-E536-EBAE-B27C3526B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72BD1-E965-31F6-F3AD-0573E90AEBAA}"/>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pic>
        <p:nvPicPr>
          <p:cNvPr id="7" name="Content Placeholder 6">
            <a:extLst>
              <a:ext uri="{FF2B5EF4-FFF2-40B4-BE49-F238E27FC236}">
                <a16:creationId xmlns:a16="http://schemas.microsoft.com/office/drawing/2014/main" id="{BB879DEA-6AC1-0C8F-1713-96A0CF0D1D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552460" y="1881102"/>
            <a:ext cx="7210055" cy="4391682"/>
          </a:xfrm>
        </p:spPr>
      </p:pic>
      <p:sp>
        <p:nvSpPr>
          <p:cNvPr id="4" name="Footer Placeholder 3">
            <a:extLst>
              <a:ext uri="{FF2B5EF4-FFF2-40B4-BE49-F238E27FC236}">
                <a16:creationId xmlns:a16="http://schemas.microsoft.com/office/drawing/2014/main" id="{742CEF75-B3C8-9AF2-2046-E32C608FD93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8EBB8FF-5070-0DEF-5CCE-6F67151B4551}"/>
              </a:ext>
            </a:extLst>
          </p:cNvPr>
          <p:cNvSpPr>
            <a:spLocks noGrp="1"/>
          </p:cNvSpPr>
          <p:nvPr>
            <p:ph type="sldNum" sz="quarter" idx="12"/>
          </p:nvPr>
        </p:nvSpPr>
        <p:spPr/>
        <p:txBody>
          <a:bodyPr/>
          <a:lstStyle/>
          <a:p>
            <a:fld id="{382B47E1-F59F-47B3-8D16-B2A0740F319A}" type="slidenum">
              <a:rPr lang="en-US" smtClean="0"/>
              <a:pPr/>
              <a:t>105</a:t>
            </a:fld>
            <a:endParaRPr lang="en-US" dirty="0"/>
          </a:p>
        </p:txBody>
      </p:sp>
    </p:spTree>
    <p:extLst>
      <p:ext uri="{BB962C8B-B14F-4D97-AF65-F5344CB8AC3E}">
        <p14:creationId xmlns:p14="http://schemas.microsoft.com/office/powerpoint/2010/main" val="263187818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7A47-2B41-7B5E-93AC-A4993DF03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97A26-0418-9B90-6167-5EAC098B8AA3}"/>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sp>
        <p:nvSpPr>
          <p:cNvPr id="4" name="Footer Placeholder 3">
            <a:extLst>
              <a:ext uri="{FF2B5EF4-FFF2-40B4-BE49-F238E27FC236}">
                <a16:creationId xmlns:a16="http://schemas.microsoft.com/office/drawing/2014/main" id="{CCBECCE5-A85C-2B62-A548-BA5FD006F0B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2FFCB47-5681-53A4-D9C6-56BE62526366}"/>
              </a:ext>
            </a:extLst>
          </p:cNvPr>
          <p:cNvSpPr>
            <a:spLocks noGrp="1"/>
          </p:cNvSpPr>
          <p:nvPr>
            <p:ph type="sldNum" sz="quarter" idx="12"/>
          </p:nvPr>
        </p:nvSpPr>
        <p:spPr/>
        <p:txBody>
          <a:bodyPr/>
          <a:lstStyle/>
          <a:p>
            <a:fld id="{382B47E1-F59F-47B3-8D16-B2A0740F319A}" type="slidenum">
              <a:rPr lang="en-US" smtClean="0"/>
              <a:pPr/>
              <a:t>106</a:t>
            </a:fld>
            <a:endParaRPr lang="en-US" dirty="0"/>
          </a:p>
        </p:txBody>
      </p:sp>
      <p:pic>
        <p:nvPicPr>
          <p:cNvPr id="9" name="Content Placeholder 8">
            <a:extLst>
              <a:ext uri="{FF2B5EF4-FFF2-40B4-BE49-F238E27FC236}">
                <a16:creationId xmlns:a16="http://schemas.microsoft.com/office/drawing/2014/main" id="{409D741C-DC03-9F6D-CE45-2FC3925353B3}"/>
              </a:ext>
            </a:extLst>
          </p:cNvPr>
          <p:cNvPicPr>
            <a:picLocks noGrp="1" noChangeAspect="1"/>
          </p:cNvPicPr>
          <p:nvPr>
            <p:ph idx="1"/>
          </p:nvPr>
        </p:nvPicPr>
        <p:blipFill>
          <a:blip r:embed="rId2"/>
          <a:stretch>
            <a:fillRect/>
          </a:stretch>
        </p:blipFill>
        <p:spPr>
          <a:xfrm>
            <a:off x="1694743" y="2273021"/>
            <a:ext cx="8925490" cy="3347059"/>
          </a:xfrm>
        </p:spPr>
      </p:pic>
      <p:sp>
        <p:nvSpPr>
          <p:cNvPr id="10" name="TextBox 9">
            <a:extLst>
              <a:ext uri="{FF2B5EF4-FFF2-40B4-BE49-F238E27FC236}">
                <a16:creationId xmlns:a16="http://schemas.microsoft.com/office/drawing/2014/main" id="{C1D7BDE3-4588-5CF7-62D9-C7A5D762A4E7}"/>
              </a:ext>
            </a:extLst>
          </p:cNvPr>
          <p:cNvSpPr txBox="1"/>
          <p:nvPr/>
        </p:nvSpPr>
        <p:spPr>
          <a:xfrm>
            <a:off x="3437021" y="5808269"/>
            <a:ext cx="531795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2-D Dyadic decompositions (1-Level left, 3-Level right)</a:t>
            </a:r>
          </a:p>
        </p:txBody>
      </p:sp>
    </p:spTree>
    <p:extLst>
      <p:ext uri="{BB962C8B-B14F-4D97-AF65-F5344CB8AC3E}">
        <p14:creationId xmlns:p14="http://schemas.microsoft.com/office/powerpoint/2010/main" val="954275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C0333-695B-1E96-C644-4826133F4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7373-519A-DBB6-6C07-9B5BDC7EF1C2}"/>
              </a:ext>
            </a:extLst>
          </p:cNvPr>
          <p:cNvSpPr>
            <a:spLocks noGrp="1"/>
          </p:cNvSpPr>
          <p:nvPr>
            <p:ph type="title"/>
          </p:nvPr>
        </p:nvSpPr>
        <p:spPr/>
        <p:txBody>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Discrete Wavelet Transform</a:t>
            </a:r>
            <a:endParaRPr lang="en-US" dirty="0"/>
          </a:p>
        </p:txBody>
      </p:sp>
      <p:sp>
        <p:nvSpPr>
          <p:cNvPr id="4" name="Footer Placeholder 3">
            <a:extLst>
              <a:ext uri="{FF2B5EF4-FFF2-40B4-BE49-F238E27FC236}">
                <a16:creationId xmlns:a16="http://schemas.microsoft.com/office/drawing/2014/main" id="{D82B3F67-40F9-8DD6-1C35-F463880FCAF8}"/>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3AE88053-C53B-6B9B-539B-DA85FB4F4C12}"/>
              </a:ext>
            </a:extLst>
          </p:cNvPr>
          <p:cNvSpPr>
            <a:spLocks noGrp="1"/>
          </p:cNvSpPr>
          <p:nvPr>
            <p:ph type="sldNum" sz="quarter" idx="12"/>
          </p:nvPr>
        </p:nvSpPr>
        <p:spPr/>
        <p:txBody>
          <a:bodyPr/>
          <a:lstStyle/>
          <a:p>
            <a:fld id="{382B47E1-F59F-47B3-8D16-B2A0740F319A}" type="slidenum">
              <a:rPr lang="en-US" smtClean="0"/>
              <a:pPr/>
              <a:t>107</a:t>
            </a:fld>
            <a:endParaRPr lang="en-US" dirty="0"/>
          </a:p>
        </p:txBody>
      </p:sp>
      <p:pic>
        <p:nvPicPr>
          <p:cNvPr id="8" name="Picture 7">
            <a:extLst>
              <a:ext uri="{FF2B5EF4-FFF2-40B4-BE49-F238E27FC236}">
                <a16:creationId xmlns:a16="http://schemas.microsoft.com/office/drawing/2014/main" id="{B3C6E02D-52AC-321A-2837-7D2DD29F5C25}"/>
              </a:ext>
            </a:extLst>
          </p:cNvPr>
          <p:cNvPicPr>
            <a:picLocks noChangeAspect="1"/>
          </p:cNvPicPr>
          <p:nvPr/>
        </p:nvPicPr>
        <p:blipFill>
          <a:blip r:embed="rId2"/>
          <a:stretch>
            <a:fillRect/>
          </a:stretch>
        </p:blipFill>
        <p:spPr>
          <a:xfrm>
            <a:off x="1348952" y="2770633"/>
            <a:ext cx="3173345" cy="2796509"/>
          </a:xfrm>
          <a:prstGeom prst="rect">
            <a:avLst/>
          </a:prstGeom>
        </p:spPr>
      </p:pic>
      <p:pic>
        <p:nvPicPr>
          <p:cNvPr id="12" name="Picture 11">
            <a:extLst>
              <a:ext uri="{FF2B5EF4-FFF2-40B4-BE49-F238E27FC236}">
                <a16:creationId xmlns:a16="http://schemas.microsoft.com/office/drawing/2014/main" id="{852496A9-716D-D539-8472-E16D528D0D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7122" y="1876681"/>
            <a:ext cx="6443728" cy="4584414"/>
          </a:xfrm>
          <a:prstGeom prst="rect">
            <a:avLst/>
          </a:prstGeom>
        </p:spPr>
      </p:pic>
    </p:spTree>
    <p:extLst>
      <p:ext uri="{BB962C8B-B14F-4D97-AF65-F5344CB8AC3E}">
        <p14:creationId xmlns:p14="http://schemas.microsoft.com/office/powerpoint/2010/main" val="25812827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765C2-0C5C-060C-CAEE-A33A09E8E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FB5BA-AA95-EF97-6AE0-F7BEC06569A6}"/>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ED4628EC-D0F9-C807-6FB1-BB922A95710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D56AC7DA-D706-C998-7506-91AA339A5507}"/>
              </a:ext>
            </a:extLst>
          </p:cNvPr>
          <p:cNvSpPr>
            <a:spLocks noGrp="1"/>
          </p:cNvSpPr>
          <p:nvPr>
            <p:ph type="sldNum" sz="quarter" idx="12"/>
          </p:nvPr>
        </p:nvSpPr>
        <p:spPr/>
        <p:txBody>
          <a:bodyPr/>
          <a:lstStyle/>
          <a:p>
            <a:fld id="{382B47E1-F59F-47B3-8D16-B2A0740F319A}" type="slidenum">
              <a:rPr lang="en-US" smtClean="0"/>
              <a:pPr/>
              <a:t>108</a:t>
            </a:fld>
            <a:endParaRPr lang="en-US" dirty="0"/>
          </a:p>
        </p:txBody>
      </p:sp>
      <p:sp>
        <p:nvSpPr>
          <p:cNvPr id="3" name="TextBox 2">
            <a:extLst>
              <a:ext uri="{FF2B5EF4-FFF2-40B4-BE49-F238E27FC236}">
                <a16:creationId xmlns:a16="http://schemas.microsoft.com/office/drawing/2014/main" id="{C1FA15FD-5B3D-CAB4-AF82-6416F2F93E9D}"/>
              </a:ext>
            </a:extLst>
          </p:cNvPr>
          <p:cNvSpPr txBox="1"/>
          <p:nvPr/>
        </p:nvSpPr>
        <p:spPr>
          <a:xfrm>
            <a:off x="1024127" y="2333971"/>
            <a:ext cx="10143746" cy="3877985"/>
          </a:xfrm>
          <a:prstGeom prst="rect">
            <a:avLst/>
          </a:prstGeom>
          <a:noFill/>
        </p:spPr>
        <p:txBody>
          <a:bodyPr wrap="square" rtlCol="0">
            <a:spAutoFit/>
          </a:bodyPr>
          <a:lstStyle/>
          <a:p>
            <a:pPr marL="285750" indent="-285750">
              <a:buFont typeface="Wingdings" panose="05000000000000000000" pitchFamily="2" charset="2"/>
              <a:buChar char="q"/>
            </a:pPr>
            <a:r>
              <a:rPr lang="en-US" sz="2400" b="1" dirty="0"/>
              <a:t> Traditional approaches to wavelets have used a filter bank interpretation</a:t>
            </a:r>
          </a:p>
          <a:p>
            <a:pPr marL="285750" indent="-285750">
              <a:spcBef>
                <a:spcPts val="600"/>
              </a:spcBef>
              <a:spcAft>
                <a:spcPts val="600"/>
              </a:spcAft>
              <a:buFont typeface="Wingdings" panose="05000000000000000000" pitchFamily="2" charset="2"/>
              <a:buChar char="q"/>
            </a:pPr>
            <a:r>
              <a:rPr lang="en-US" sz="2400" b="1" dirty="0"/>
              <a:t> Fourier techniques required to get synthesis (reconstruction) filters from analysis filters</a:t>
            </a:r>
          </a:p>
          <a:p>
            <a:pPr marL="285750" indent="-285750">
              <a:buFont typeface="Wingdings" panose="05000000000000000000" pitchFamily="2" charset="2"/>
              <a:buChar char="q"/>
            </a:pPr>
            <a:r>
              <a:rPr lang="en-US" sz="2400" b="1" dirty="0"/>
              <a:t> Not easy to generalize</a:t>
            </a:r>
          </a:p>
          <a:p>
            <a:pPr marL="285750" indent="-285750">
              <a:buFont typeface="Wingdings" panose="05000000000000000000" pitchFamily="2" charset="2"/>
              <a:buChar char="q"/>
            </a:pPr>
            <a:endParaRPr lang="en-US" sz="2400" b="1" dirty="0"/>
          </a:p>
          <a:p>
            <a:pPr marL="285750" indent="-285750">
              <a:buFont typeface="Wingdings" panose="05000000000000000000" pitchFamily="2" charset="2"/>
              <a:buChar char="q"/>
            </a:pPr>
            <a:r>
              <a:rPr lang="en-US" sz="2400" b="1" dirty="0"/>
              <a:t> Wavelet construction – Lifting (3 Steps):</a:t>
            </a:r>
          </a:p>
          <a:p>
            <a:pPr marL="800100" lvl="1" indent="-342900">
              <a:buFont typeface="Wingdings" panose="05000000000000000000" pitchFamily="2" charset="2"/>
              <a:buChar char="§"/>
            </a:pPr>
            <a:r>
              <a:rPr lang="en-US" sz="2400" b="1" dirty="0"/>
              <a:t>Split</a:t>
            </a:r>
          </a:p>
          <a:p>
            <a:pPr marL="800100" lvl="1" indent="-342900">
              <a:buFont typeface="Wingdings" panose="05000000000000000000" pitchFamily="2" charset="2"/>
              <a:buChar char="§"/>
            </a:pPr>
            <a:r>
              <a:rPr lang="en-US" sz="2400" b="1" dirty="0"/>
              <a:t>Predict (P step)</a:t>
            </a:r>
          </a:p>
          <a:p>
            <a:pPr marL="800100" lvl="1" indent="-342900">
              <a:buFont typeface="Wingdings" panose="05000000000000000000" pitchFamily="2" charset="2"/>
              <a:buChar char="§"/>
            </a:pPr>
            <a:r>
              <a:rPr lang="en-US" sz="2400" b="1" dirty="0"/>
              <a:t>Update (U step)</a:t>
            </a:r>
          </a:p>
          <a:p>
            <a:pPr marL="285750" indent="-285750">
              <a:buFont typeface="Wingdings" panose="05000000000000000000" pitchFamily="2" charset="2"/>
              <a:buChar char="q"/>
            </a:pPr>
            <a:endParaRPr lang="en-US" sz="2000" b="1" dirty="0"/>
          </a:p>
        </p:txBody>
      </p:sp>
    </p:spTree>
    <p:extLst>
      <p:ext uri="{BB962C8B-B14F-4D97-AF65-F5344CB8AC3E}">
        <p14:creationId xmlns:p14="http://schemas.microsoft.com/office/powerpoint/2010/main" val="347259167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B5FC4-5E3D-E78B-6EAE-1FF4CC053E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A3F6A-90C0-7CE9-D2F9-3365DD702236}"/>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5039787D-CD48-16FC-7B9D-72882C3E522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EEB8BF63-966B-BF87-D5B3-C9A26140FA81}"/>
              </a:ext>
            </a:extLst>
          </p:cNvPr>
          <p:cNvSpPr>
            <a:spLocks noGrp="1"/>
          </p:cNvSpPr>
          <p:nvPr>
            <p:ph type="sldNum" sz="quarter" idx="12"/>
          </p:nvPr>
        </p:nvSpPr>
        <p:spPr/>
        <p:txBody>
          <a:bodyPr/>
          <a:lstStyle/>
          <a:p>
            <a:fld id="{382B47E1-F59F-47B3-8D16-B2A0740F319A}" type="slidenum">
              <a:rPr lang="en-US" smtClean="0"/>
              <a:pPr/>
              <a:t>109</a:t>
            </a:fld>
            <a:endParaRPr lang="en-US" dirty="0"/>
          </a:p>
        </p:txBody>
      </p:sp>
      <p:sp>
        <p:nvSpPr>
          <p:cNvPr id="3" name="TextBox 2">
            <a:extLst>
              <a:ext uri="{FF2B5EF4-FFF2-40B4-BE49-F238E27FC236}">
                <a16:creationId xmlns:a16="http://schemas.microsoft.com/office/drawing/2014/main" id="{F8903E3A-86AE-5A05-7589-918CA01DD30E}"/>
              </a:ext>
            </a:extLst>
          </p:cNvPr>
          <p:cNvSpPr txBox="1"/>
          <p:nvPr/>
        </p:nvSpPr>
        <p:spPr>
          <a:xfrm>
            <a:off x="908566" y="2152945"/>
            <a:ext cx="10143746" cy="461665"/>
          </a:xfrm>
          <a:prstGeom prst="rect">
            <a:avLst/>
          </a:prstGeom>
          <a:noFill/>
        </p:spPr>
        <p:txBody>
          <a:bodyPr wrap="square" rtlCol="0">
            <a:spAutoFit/>
          </a:bodyPr>
          <a:lstStyle/>
          <a:p>
            <a:r>
              <a:rPr lang="en-US" sz="2400" b="1" dirty="0"/>
              <a:t>1) S step:</a:t>
            </a:r>
          </a:p>
        </p:txBody>
      </p:sp>
      <p:pic>
        <p:nvPicPr>
          <p:cNvPr id="7" name="Picture 6">
            <a:extLst>
              <a:ext uri="{FF2B5EF4-FFF2-40B4-BE49-F238E27FC236}">
                <a16:creationId xmlns:a16="http://schemas.microsoft.com/office/drawing/2014/main" id="{F7869094-2C46-E536-DCD7-76AA8063DCFC}"/>
              </a:ext>
            </a:extLst>
          </p:cNvPr>
          <p:cNvPicPr>
            <a:picLocks noChangeAspect="1"/>
          </p:cNvPicPr>
          <p:nvPr/>
        </p:nvPicPr>
        <p:blipFill>
          <a:blip r:embed="rId2"/>
          <a:stretch>
            <a:fillRect/>
          </a:stretch>
        </p:blipFill>
        <p:spPr>
          <a:xfrm>
            <a:off x="1542953" y="2802923"/>
            <a:ext cx="8874971" cy="3128394"/>
          </a:xfrm>
          <a:prstGeom prst="rect">
            <a:avLst/>
          </a:prstGeom>
        </p:spPr>
      </p:pic>
    </p:spTree>
    <p:extLst>
      <p:ext uri="{BB962C8B-B14F-4D97-AF65-F5344CB8AC3E}">
        <p14:creationId xmlns:p14="http://schemas.microsoft.com/office/powerpoint/2010/main" val="37782168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8C455-B21E-5472-C911-F36C69CE3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4C567-C8B3-B82E-8910-63BC591B40DF}"/>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05072903-03A4-4E1E-497A-1D4F514C46A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DEBD2B8-551D-15FF-E8CE-91F3A423CDB9}"/>
              </a:ext>
            </a:extLst>
          </p:cNvPr>
          <p:cNvSpPr>
            <a:spLocks noGrp="1"/>
          </p:cNvSpPr>
          <p:nvPr>
            <p:ph type="sldNum" sz="quarter" idx="12"/>
          </p:nvPr>
        </p:nvSpPr>
        <p:spPr/>
        <p:txBody>
          <a:bodyPr/>
          <a:lstStyle/>
          <a:p>
            <a:fld id="{382B47E1-F59F-47B3-8D16-B2A0740F319A}" type="slidenum">
              <a:rPr lang="en-US" smtClean="0"/>
              <a:pPr/>
              <a:t>110</a:t>
            </a:fld>
            <a:endParaRPr lang="en-US" dirty="0"/>
          </a:p>
        </p:txBody>
      </p:sp>
      <p:sp>
        <p:nvSpPr>
          <p:cNvPr id="3" name="TextBox 2">
            <a:extLst>
              <a:ext uri="{FF2B5EF4-FFF2-40B4-BE49-F238E27FC236}">
                <a16:creationId xmlns:a16="http://schemas.microsoft.com/office/drawing/2014/main" id="{23FC2B25-6CF9-EF59-8159-233A99751ECB}"/>
              </a:ext>
            </a:extLst>
          </p:cNvPr>
          <p:cNvSpPr txBox="1"/>
          <p:nvPr/>
        </p:nvSpPr>
        <p:spPr>
          <a:xfrm>
            <a:off x="908566" y="2152945"/>
            <a:ext cx="10143746" cy="461665"/>
          </a:xfrm>
          <a:prstGeom prst="rect">
            <a:avLst/>
          </a:prstGeom>
          <a:noFill/>
        </p:spPr>
        <p:txBody>
          <a:bodyPr wrap="square" rtlCol="0">
            <a:spAutoFit/>
          </a:bodyPr>
          <a:lstStyle/>
          <a:p>
            <a:r>
              <a:rPr lang="en-US" sz="2400" b="1" dirty="0"/>
              <a:t>2) P step:</a:t>
            </a:r>
          </a:p>
        </p:txBody>
      </p:sp>
      <p:pic>
        <p:nvPicPr>
          <p:cNvPr id="7" name="Picture 6">
            <a:extLst>
              <a:ext uri="{FF2B5EF4-FFF2-40B4-BE49-F238E27FC236}">
                <a16:creationId xmlns:a16="http://schemas.microsoft.com/office/drawing/2014/main" id="{75C3C13E-5226-1E94-C905-01297E6C71A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27774" y="2733047"/>
            <a:ext cx="7705330" cy="3609611"/>
          </a:xfrm>
          <a:prstGeom prst="rect">
            <a:avLst/>
          </a:prstGeom>
        </p:spPr>
      </p:pic>
    </p:spTree>
    <p:extLst>
      <p:ext uri="{BB962C8B-B14F-4D97-AF65-F5344CB8AC3E}">
        <p14:creationId xmlns:p14="http://schemas.microsoft.com/office/powerpoint/2010/main" val="11160379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20E6E-2A63-E4E8-E772-1B159C6B1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27FB7-B384-D20D-D575-155DC48AC6D8}"/>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347EEBB7-22EC-408E-86E6-2F13CA53F7B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4542D600-CCDD-E99D-F96E-FEE89DB44C31}"/>
              </a:ext>
            </a:extLst>
          </p:cNvPr>
          <p:cNvSpPr>
            <a:spLocks noGrp="1"/>
          </p:cNvSpPr>
          <p:nvPr>
            <p:ph type="sldNum" sz="quarter" idx="12"/>
          </p:nvPr>
        </p:nvSpPr>
        <p:spPr/>
        <p:txBody>
          <a:bodyPr/>
          <a:lstStyle/>
          <a:p>
            <a:fld id="{382B47E1-F59F-47B3-8D16-B2A0740F319A}" type="slidenum">
              <a:rPr lang="en-US" smtClean="0"/>
              <a:pPr/>
              <a:t>111</a:t>
            </a:fld>
            <a:endParaRPr lang="en-US" dirty="0"/>
          </a:p>
        </p:txBody>
      </p:sp>
      <p:sp>
        <p:nvSpPr>
          <p:cNvPr id="3" name="TextBox 2">
            <a:extLst>
              <a:ext uri="{FF2B5EF4-FFF2-40B4-BE49-F238E27FC236}">
                <a16:creationId xmlns:a16="http://schemas.microsoft.com/office/drawing/2014/main" id="{1F4E5EDA-7A46-2723-D322-75433A987258}"/>
              </a:ext>
            </a:extLst>
          </p:cNvPr>
          <p:cNvSpPr txBox="1"/>
          <p:nvPr/>
        </p:nvSpPr>
        <p:spPr>
          <a:xfrm>
            <a:off x="908566" y="2152945"/>
            <a:ext cx="10143746" cy="461665"/>
          </a:xfrm>
          <a:prstGeom prst="rect">
            <a:avLst/>
          </a:prstGeom>
          <a:noFill/>
        </p:spPr>
        <p:txBody>
          <a:bodyPr wrap="square" rtlCol="0">
            <a:spAutoFit/>
          </a:bodyPr>
          <a:lstStyle/>
          <a:p>
            <a:r>
              <a:rPr lang="en-US" sz="2400" b="1" dirty="0"/>
              <a:t>2) P step:</a:t>
            </a:r>
          </a:p>
        </p:txBody>
      </p:sp>
      <p:pic>
        <p:nvPicPr>
          <p:cNvPr id="7" name="Picture 6">
            <a:extLst>
              <a:ext uri="{FF2B5EF4-FFF2-40B4-BE49-F238E27FC236}">
                <a16:creationId xmlns:a16="http://schemas.microsoft.com/office/drawing/2014/main" id="{13BB6266-9961-74D9-7C93-B7995DA07FE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86398" y="2471391"/>
            <a:ext cx="6065107" cy="3989704"/>
          </a:xfrm>
          <a:prstGeom prst="rect">
            <a:avLst/>
          </a:prstGeom>
        </p:spPr>
      </p:pic>
    </p:spTree>
    <p:extLst>
      <p:ext uri="{BB962C8B-B14F-4D97-AF65-F5344CB8AC3E}">
        <p14:creationId xmlns:p14="http://schemas.microsoft.com/office/powerpoint/2010/main" val="19174842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2493-AC51-D49F-D5C1-8386B3084D3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1EBF84F-5662-EF53-CFBE-329EAAD8E32B}"/>
              </a:ext>
            </a:extLst>
          </p:cNvPr>
          <p:cNvPicPr>
            <a:picLocks noChangeAspect="1"/>
          </p:cNvPicPr>
          <p:nvPr/>
        </p:nvPicPr>
        <p:blipFill>
          <a:blip r:embed="rId2"/>
          <a:stretch>
            <a:fillRect/>
          </a:stretch>
        </p:blipFill>
        <p:spPr>
          <a:xfrm>
            <a:off x="2184503" y="2682723"/>
            <a:ext cx="7822994" cy="3877778"/>
          </a:xfrm>
          <a:prstGeom prst="rect">
            <a:avLst/>
          </a:prstGeom>
        </p:spPr>
      </p:pic>
      <p:sp>
        <p:nvSpPr>
          <p:cNvPr id="2" name="Title 1">
            <a:extLst>
              <a:ext uri="{FF2B5EF4-FFF2-40B4-BE49-F238E27FC236}">
                <a16:creationId xmlns:a16="http://schemas.microsoft.com/office/drawing/2014/main" id="{37AB7854-9274-3AC1-2A0A-ED94F14215C1}"/>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17A830F1-9CEE-0601-B2F0-659289C598C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A6770D4-A564-AFD0-473D-AA4CBCF28CEC}"/>
              </a:ext>
            </a:extLst>
          </p:cNvPr>
          <p:cNvSpPr>
            <a:spLocks noGrp="1"/>
          </p:cNvSpPr>
          <p:nvPr>
            <p:ph type="sldNum" sz="quarter" idx="12"/>
          </p:nvPr>
        </p:nvSpPr>
        <p:spPr/>
        <p:txBody>
          <a:bodyPr/>
          <a:lstStyle/>
          <a:p>
            <a:fld id="{382B47E1-F59F-47B3-8D16-B2A0740F319A}" type="slidenum">
              <a:rPr lang="en-US" smtClean="0"/>
              <a:pPr/>
              <a:t>112</a:t>
            </a:fld>
            <a:endParaRPr lang="en-US" dirty="0"/>
          </a:p>
        </p:txBody>
      </p:sp>
      <p:sp>
        <p:nvSpPr>
          <p:cNvPr id="3" name="TextBox 2">
            <a:extLst>
              <a:ext uri="{FF2B5EF4-FFF2-40B4-BE49-F238E27FC236}">
                <a16:creationId xmlns:a16="http://schemas.microsoft.com/office/drawing/2014/main" id="{A71FB642-A3FC-0795-9EDB-C8D3F17A11AD}"/>
              </a:ext>
            </a:extLst>
          </p:cNvPr>
          <p:cNvSpPr txBox="1"/>
          <p:nvPr/>
        </p:nvSpPr>
        <p:spPr>
          <a:xfrm>
            <a:off x="908566" y="2152945"/>
            <a:ext cx="10143746" cy="461665"/>
          </a:xfrm>
          <a:prstGeom prst="rect">
            <a:avLst/>
          </a:prstGeom>
          <a:noFill/>
        </p:spPr>
        <p:txBody>
          <a:bodyPr wrap="square" rtlCol="0">
            <a:spAutoFit/>
          </a:bodyPr>
          <a:lstStyle/>
          <a:p>
            <a:r>
              <a:rPr lang="en-US" sz="2400" b="1" dirty="0"/>
              <a:t>3) U step:</a:t>
            </a:r>
          </a:p>
        </p:txBody>
      </p:sp>
    </p:spTree>
    <p:extLst>
      <p:ext uri="{BB962C8B-B14F-4D97-AF65-F5344CB8AC3E}">
        <p14:creationId xmlns:p14="http://schemas.microsoft.com/office/powerpoint/2010/main" val="11955287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3EACF-69D9-3043-0D64-A3DE56FC1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393E0-A1A1-451A-C117-7DCC8501D133}"/>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4F48F7CB-BCCD-0D05-F80F-83DA7A9C09C7}"/>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884CF88D-84D8-7A01-8594-B06E8A53F23A}"/>
              </a:ext>
            </a:extLst>
          </p:cNvPr>
          <p:cNvSpPr>
            <a:spLocks noGrp="1"/>
          </p:cNvSpPr>
          <p:nvPr>
            <p:ph type="sldNum" sz="quarter" idx="12"/>
          </p:nvPr>
        </p:nvSpPr>
        <p:spPr/>
        <p:txBody>
          <a:bodyPr/>
          <a:lstStyle/>
          <a:p>
            <a:fld id="{382B47E1-F59F-47B3-8D16-B2A0740F319A}" type="slidenum">
              <a:rPr lang="en-US" smtClean="0"/>
              <a:pPr/>
              <a:t>113</a:t>
            </a:fld>
            <a:endParaRPr lang="en-US" dirty="0"/>
          </a:p>
        </p:txBody>
      </p:sp>
      <p:sp>
        <p:nvSpPr>
          <p:cNvPr id="3" name="TextBox 2">
            <a:extLst>
              <a:ext uri="{FF2B5EF4-FFF2-40B4-BE49-F238E27FC236}">
                <a16:creationId xmlns:a16="http://schemas.microsoft.com/office/drawing/2014/main" id="{2DA046DE-3E0E-9D10-8839-69D9231D51A2}"/>
              </a:ext>
            </a:extLst>
          </p:cNvPr>
          <p:cNvSpPr txBox="1"/>
          <p:nvPr/>
        </p:nvSpPr>
        <p:spPr>
          <a:xfrm>
            <a:off x="1147104" y="2171946"/>
            <a:ext cx="10143746" cy="461665"/>
          </a:xfrm>
          <a:prstGeom prst="rect">
            <a:avLst/>
          </a:prstGeom>
          <a:noFill/>
        </p:spPr>
        <p:txBody>
          <a:bodyPr wrap="square" rtlCol="0">
            <a:spAutoFit/>
          </a:bodyPr>
          <a:lstStyle/>
          <a:p>
            <a:r>
              <a:rPr lang="en-US" sz="2400" b="1" dirty="0"/>
              <a:t>Summary:</a:t>
            </a:r>
          </a:p>
        </p:txBody>
      </p:sp>
      <p:pic>
        <p:nvPicPr>
          <p:cNvPr id="7" name="Picture 6">
            <a:extLst>
              <a:ext uri="{FF2B5EF4-FFF2-40B4-BE49-F238E27FC236}">
                <a16:creationId xmlns:a16="http://schemas.microsoft.com/office/drawing/2014/main" id="{1F46C900-540E-1875-51C2-4EF4AE615749}"/>
              </a:ext>
            </a:extLst>
          </p:cNvPr>
          <p:cNvPicPr>
            <a:picLocks noChangeAspect="1"/>
          </p:cNvPicPr>
          <p:nvPr/>
        </p:nvPicPr>
        <p:blipFill>
          <a:blip r:embed="rId2"/>
          <a:stretch>
            <a:fillRect/>
          </a:stretch>
        </p:blipFill>
        <p:spPr>
          <a:xfrm>
            <a:off x="2923732" y="2210513"/>
            <a:ext cx="6344535" cy="4124901"/>
          </a:xfrm>
          <a:prstGeom prst="rect">
            <a:avLst/>
          </a:prstGeom>
        </p:spPr>
      </p:pic>
    </p:spTree>
    <p:extLst>
      <p:ext uri="{BB962C8B-B14F-4D97-AF65-F5344CB8AC3E}">
        <p14:creationId xmlns:p14="http://schemas.microsoft.com/office/powerpoint/2010/main" val="36796362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BE887-137D-04CA-A55D-B8E03D6FA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8ABFA-8C89-0BC0-240B-2294048D9285}"/>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976203AE-883B-65B1-22F6-E22B6334545B}"/>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7D7D2C74-F122-6BEB-525F-5BD07D3995DA}"/>
              </a:ext>
            </a:extLst>
          </p:cNvPr>
          <p:cNvSpPr>
            <a:spLocks noGrp="1"/>
          </p:cNvSpPr>
          <p:nvPr>
            <p:ph type="sldNum" sz="quarter" idx="12"/>
          </p:nvPr>
        </p:nvSpPr>
        <p:spPr/>
        <p:txBody>
          <a:bodyPr/>
          <a:lstStyle/>
          <a:p>
            <a:fld id="{382B47E1-F59F-47B3-8D16-B2A0740F319A}" type="slidenum">
              <a:rPr lang="en-US" smtClean="0"/>
              <a:pPr/>
              <a:t>114</a:t>
            </a:fld>
            <a:endParaRPr lang="en-US" dirty="0"/>
          </a:p>
        </p:txBody>
      </p:sp>
      <p:sp>
        <p:nvSpPr>
          <p:cNvPr id="6" name="TextBox 5">
            <a:extLst>
              <a:ext uri="{FF2B5EF4-FFF2-40B4-BE49-F238E27FC236}">
                <a16:creationId xmlns:a16="http://schemas.microsoft.com/office/drawing/2014/main" id="{3A32923E-2DC1-0353-C8E6-3F944B4DD139}"/>
              </a:ext>
            </a:extLst>
          </p:cNvPr>
          <p:cNvSpPr txBox="1"/>
          <p:nvPr/>
        </p:nvSpPr>
        <p:spPr>
          <a:xfrm>
            <a:off x="1024127" y="2273968"/>
            <a:ext cx="10266722" cy="400110"/>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For inverse transform, simply run the forward Haar wavelet transform backwards</a:t>
            </a:r>
            <a:r>
              <a:rPr lang="en-US" b="1" dirty="0"/>
              <a:t>.</a:t>
            </a:r>
          </a:p>
        </p:txBody>
      </p:sp>
      <p:pic>
        <p:nvPicPr>
          <p:cNvPr id="9" name="Picture 8">
            <a:extLst>
              <a:ext uri="{FF2B5EF4-FFF2-40B4-BE49-F238E27FC236}">
                <a16:creationId xmlns:a16="http://schemas.microsoft.com/office/drawing/2014/main" id="{A8AC53FD-01C7-7D58-7B67-2BC97D2DCB2A}"/>
              </a:ext>
            </a:extLst>
          </p:cNvPr>
          <p:cNvPicPr>
            <a:picLocks noChangeAspect="1"/>
          </p:cNvPicPr>
          <p:nvPr/>
        </p:nvPicPr>
        <p:blipFill>
          <a:blip r:embed="rId2"/>
          <a:stretch>
            <a:fillRect/>
          </a:stretch>
        </p:blipFill>
        <p:spPr>
          <a:xfrm>
            <a:off x="3156694" y="2863214"/>
            <a:ext cx="6001588" cy="3296110"/>
          </a:xfrm>
          <a:prstGeom prst="rect">
            <a:avLst/>
          </a:prstGeom>
        </p:spPr>
      </p:pic>
    </p:spTree>
    <p:extLst>
      <p:ext uri="{BB962C8B-B14F-4D97-AF65-F5344CB8AC3E}">
        <p14:creationId xmlns:p14="http://schemas.microsoft.com/office/powerpoint/2010/main" val="21752490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CDC50-CF1F-F6BA-72C6-77102AEF4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62DC8-897D-D53A-BE6C-3AF7624B52A6}"/>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2C2664C8-EBBB-0CC9-4183-0D9E04BD57D0}"/>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9F7D1080-AD7E-2389-7967-E968FF291867}"/>
              </a:ext>
            </a:extLst>
          </p:cNvPr>
          <p:cNvSpPr>
            <a:spLocks noGrp="1"/>
          </p:cNvSpPr>
          <p:nvPr>
            <p:ph type="sldNum" sz="quarter" idx="12"/>
          </p:nvPr>
        </p:nvSpPr>
        <p:spPr/>
        <p:txBody>
          <a:bodyPr/>
          <a:lstStyle/>
          <a:p>
            <a:fld id="{382B47E1-F59F-47B3-8D16-B2A0740F319A}" type="slidenum">
              <a:rPr lang="en-US" smtClean="0"/>
              <a:pPr/>
              <a:t>115</a:t>
            </a:fld>
            <a:endParaRPr lang="en-US" dirty="0"/>
          </a:p>
        </p:txBody>
      </p:sp>
      <p:pic>
        <p:nvPicPr>
          <p:cNvPr id="7" name="Picture 6">
            <a:extLst>
              <a:ext uri="{FF2B5EF4-FFF2-40B4-BE49-F238E27FC236}">
                <a16:creationId xmlns:a16="http://schemas.microsoft.com/office/drawing/2014/main" id="{0B59F84F-BE11-B0F3-CB84-50BFFF37EE62}"/>
              </a:ext>
            </a:extLst>
          </p:cNvPr>
          <p:cNvPicPr>
            <a:picLocks noChangeAspect="1"/>
          </p:cNvPicPr>
          <p:nvPr/>
        </p:nvPicPr>
        <p:blipFill>
          <a:blip r:embed="rId2"/>
          <a:stretch>
            <a:fillRect/>
          </a:stretch>
        </p:blipFill>
        <p:spPr>
          <a:xfrm>
            <a:off x="2213811" y="2496914"/>
            <a:ext cx="7551741" cy="3775870"/>
          </a:xfrm>
          <a:prstGeom prst="rect">
            <a:avLst/>
          </a:prstGeom>
        </p:spPr>
      </p:pic>
      <p:sp>
        <p:nvSpPr>
          <p:cNvPr id="8" name="TextBox 7">
            <a:extLst>
              <a:ext uri="{FF2B5EF4-FFF2-40B4-BE49-F238E27FC236}">
                <a16:creationId xmlns:a16="http://schemas.microsoft.com/office/drawing/2014/main" id="{3528D64D-A63B-50FA-2683-41E14F7012DB}"/>
              </a:ext>
            </a:extLst>
          </p:cNvPr>
          <p:cNvSpPr txBox="1"/>
          <p:nvPr/>
        </p:nvSpPr>
        <p:spPr>
          <a:xfrm>
            <a:off x="1263316" y="2385028"/>
            <a:ext cx="1900990"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General lifting stage of wavelet</a:t>
            </a:r>
          </a:p>
          <a:p>
            <a:pPr algn="ctr"/>
            <a:r>
              <a:rPr lang="en-US" b="1" dirty="0"/>
              <a:t>decomposition</a:t>
            </a:r>
          </a:p>
        </p:txBody>
      </p:sp>
    </p:spTree>
    <p:extLst>
      <p:ext uri="{BB962C8B-B14F-4D97-AF65-F5344CB8AC3E}">
        <p14:creationId xmlns:p14="http://schemas.microsoft.com/office/powerpoint/2010/main" val="41994004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20C98-C23C-871E-F78A-98739A504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599D4-0C24-9042-917D-2874898308CA}"/>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0BE3D04B-916C-0762-A062-85243BBA4A52}"/>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215607A2-9B82-C163-91EC-720A299AEE57}"/>
              </a:ext>
            </a:extLst>
          </p:cNvPr>
          <p:cNvSpPr>
            <a:spLocks noGrp="1"/>
          </p:cNvSpPr>
          <p:nvPr>
            <p:ph type="sldNum" sz="quarter" idx="12"/>
          </p:nvPr>
        </p:nvSpPr>
        <p:spPr/>
        <p:txBody>
          <a:bodyPr/>
          <a:lstStyle/>
          <a:p>
            <a:fld id="{382B47E1-F59F-47B3-8D16-B2A0740F319A}" type="slidenum">
              <a:rPr lang="en-US" smtClean="0"/>
              <a:pPr/>
              <a:t>116</a:t>
            </a:fld>
            <a:endParaRPr lang="en-US" dirty="0"/>
          </a:p>
        </p:txBody>
      </p:sp>
      <p:pic>
        <p:nvPicPr>
          <p:cNvPr id="6" name="Picture 5">
            <a:extLst>
              <a:ext uri="{FF2B5EF4-FFF2-40B4-BE49-F238E27FC236}">
                <a16:creationId xmlns:a16="http://schemas.microsoft.com/office/drawing/2014/main" id="{09626C5B-9F76-4978-AFD7-37EA253A7FAF}"/>
              </a:ext>
            </a:extLst>
          </p:cNvPr>
          <p:cNvPicPr>
            <a:picLocks noChangeAspect="1"/>
          </p:cNvPicPr>
          <p:nvPr/>
        </p:nvPicPr>
        <p:blipFill>
          <a:blip r:embed="rId2"/>
          <a:stretch>
            <a:fillRect/>
          </a:stretch>
        </p:blipFill>
        <p:spPr>
          <a:xfrm>
            <a:off x="1586662" y="3493609"/>
            <a:ext cx="9141651" cy="2779175"/>
          </a:xfrm>
          <a:prstGeom prst="rect">
            <a:avLst/>
          </a:prstGeom>
        </p:spPr>
      </p:pic>
      <p:sp>
        <p:nvSpPr>
          <p:cNvPr id="8" name="TextBox 7">
            <a:extLst>
              <a:ext uri="{FF2B5EF4-FFF2-40B4-BE49-F238E27FC236}">
                <a16:creationId xmlns:a16="http://schemas.microsoft.com/office/drawing/2014/main" id="{93D3ADAE-769E-FED8-D40D-E5925F44E843}"/>
              </a:ext>
            </a:extLst>
          </p:cNvPr>
          <p:cNvSpPr txBox="1"/>
          <p:nvPr/>
        </p:nvSpPr>
        <p:spPr>
          <a:xfrm>
            <a:off x="1024127" y="2589165"/>
            <a:ext cx="8169442" cy="400110"/>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We can produce a multi-level decomposition by cascading lifting stages</a:t>
            </a:r>
          </a:p>
        </p:txBody>
      </p:sp>
    </p:spTree>
    <p:extLst>
      <p:ext uri="{BB962C8B-B14F-4D97-AF65-F5344CB8AC3E}">
        <p14:creationId xmlns:p14="http://schemas.microsoft.com/office/powerpoint/2010/main" val="2892010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BC0F3-24C2-C437-2C29-F35A856557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A52EA-1B9B-5A9F-C518-80147637864B}"/>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A4056364-3A7F-93E8-9B34-DD90BF3D71EF}"/>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C69EB771-C59B-A667-2A37-160695B672B2}"/>
              </a:ext>
            </a:extLst>
          </p:cNvPr>
          <p:cNvSpPr>
            <a:spLocks noGrp="1"/>
          </p:cNvSpPr>
          <p:nvPr>
            <p:ph type="sldNum" sz="quarter" idx="12"/>
          </p:nvPr>
        </p:nvSpPr>
        <p:spPr/>
        <p:txBody>
          <a:bodyPr/>
          <a:lstStyle/>
          <a:p>
            <a:fld id="{382B47E1-F59F-47B3-8D16-B2A0740F319A}" type="slidenum">
              <a:rPr lang="en-US" smtClean="0"/>
              <a:pPr/>
              <a:t>117</a:t>
            </a:fld>
            <a:endParaRPr lang="en-US" dirty="0"/>
          </a:p>
        </p:txBody>
      </p:sp>
      <p:pic>
        <p:nvPicPr>
          <p:cNvPr id="7" name="Picture 6">
            <a:extLst>
              <a:ext uri="{FF2B5EF4-FFF2-40B4-BE49-F238E27FC236}">
                <a16:creationId xmlns:a16="http://schemas.microsoft.com/office/drawing/2014/main" id="{01F03779-DE0E-00DB-3F10-8FFCA281DD7B}"/>
              </a:ext>
            </a:extLst>
          </p:cNvPr>
          <p:cNvPicPr>
            <a:picLocks noChangeAspect="1"/>
          </p:cNvPicPr>
          <p:nvPr/>
        </p:nvPicPr>
        <p:blipFill>
          <a:blip r:embed="rId2"/>
          <a:stretch>
            <a:fillRect/>
          </a:stretch>
        </p:blipFill>
        <p:spPr>
          <a:xfrm>
            <a:off x="2952311" y="2934155"/>
            <a:ext cx="6287377" cy="3000794"/>
          </a:xfrm>
          <a:prstGeom prst="rect">
            <a:avLst/>
          </a:prstGeom>
        </p:spPr>
      </p:pic>
      <p:sp>
        <p:nvSpPr>
          <p:cNvPr id="9" name="TextBox 8">
            <a:extLst>
              <a:ext uri="{FF2B5EF4-FFF2-40B4-BE49-F238E27FC236}">
                <a16:creationId xmlns:a16="http://schemas.microsoft.com/office/drawing/2014/main" id="{B17AC474-287D-80CC-8D96-6F8D29B555BB}"/>
              </a:ext>
            </a:extLst>
          </p:cNvPr>
          <p:cNvSpPr txBox="1"/>
          <p:nvPr/>
        </p:nvSpPr>
        <p:spPr>
          <a:xfrm>
            <a:off x="905613" y="2333991"/>
            <a:ext cx="1900990"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General lifting stage of inverse wavelet</a:t>
            </a:r>
          </a:p>
          <a:p>
            <a:pPr algn="ctr"/>
            <a:r>
              <a:rPr lang="en-US" b="1" dirty="0"/>
              <a:t>decomposition</a:t>
            </a:r>
          </a:p>
        </p:txBody>
      </p:sp>
    </p:spTree>
    <p:extLst>
      <p:ext uri="{BB962C8B-B14F-4D97-AF65-F5344CB8AC3E}">
        <p14:creationId xmlns:p14="http://schemas.microsoft.com/office/powerpoint/2010/main" val="26497815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B1D00-C66E-1948-55C8-8BB18D28C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315E9-671B-EB5C-FB76-1759C6D8B7EC}"/>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6B0FA4DD-5305-5F60-9FAB-81EF0249B5BE}"/>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05D085F5-647B-DF48-1B32-89E4F8E0C0A9}"/>
              </a:ext>
            </a:extLst>
          </p:cNvPr>
          <p:cNvSpPr>
            <a:spLocks noGrp="1"/>
          </p:cNvSpPr>
          <p:nvPr>
            <p:ph type="sldNum" sz="quarter" idx="12"/>
          </p:nvPr>
        </p:nvSpPr>
        <p:spPr/>
        <p:txBody>
          <a:bodyPr/>
          <a:lstStyle/>
          <a:p>
            <a:fld id="{382B47E1-F59F-47B3-8D16-B2A0740F319A}" type="slidenum">
              <a:rPr lang="en-US" smtClean="0"/>
              <a:pPr/>
              <a:t>118</a:t>
            </a:fld>
            <a:endParaRPr lang="en-US" dirty="0"/>
          </a:p>
        </p:txBody>
      </p:sp>
      <p:pic>
        <p:nvPicPr>
          <p:cNvPr id="6" name="Picture 5">
            <a:extLst>
              <a:ext uri="{FF2B5EF4-FFF2-40B4-BE49-F238E27FC236}">
                <a16:creationId xmlns:a16="http://schemas.microsoft.com/office/drawing/2014/main" id="{AE515ACC-9385-24D9-FB64-4C9CD34EABE7}"/>
              </a:ext>
            </a:extLst>
          </p:cNvPr>
          <p:cNvPicPr>
            <a:picLocks noChangeAspect="1"/>
          </p:cNvPicPr>
          <p:nvPr/>
        </p:nvPicPr>
        <p:blipFill>
          <a:blip r:embed="rId2"/>
          <a:stretch>
            <a:fillRect/>
          </a:stretch>
        </p:blipFill>
        <p:spPr>
          <a:xfrm>
            <a:off x="2117559" y="3057697"/>
            <a:ext cx="7477788" cy="3215087"/>
          </a:xfrm>
          <a:prstGeom prst="rect">
            <a:avLst/>
          </a:prstGeom>
        </p:spPr>
      </p:pic>
      <p:sp>
        <p:nvSpPr>
          <p:cNvPr id="8" name="TextBox 7">
            <a:extLst>
              <a:ext uri="{FF2B5EF4-FFF2-40B4-BE49-F238E27FC236}">
                <a16:creationId xmlns:a16="http://schemas.microsoft.com/office/drawing/2014/main" id="{DDDA8C10-F256-2C89-3A31-40C4C9984C13}"/>
              </a:ext>
            </a:extLst>
          </p:cNvPr>
          <p:cNvSpPr txBox="1"/>
          <p:nvPr/>
        </p:nvSpPr>
        <p:spPr>
          <a:xfrm>
            <a:off x="1024127" y="2589165"/>
            <a:ext cx="8169442" cy="400110"/>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a:t>We can produce a multi-level inverse wavelet by cascading lifting stages</a:t>
            </a:r>
          </a:p>
        </p:txBody>
      </p:sp>
    </p:spTree>
    <p:extLst>
      <p:ext uri="{BB962C8B-B14F-4D97-AF65-F5344CB8AC3E}">
        <p14:creationId xmlns:p14="http://schemas.microsoft.com/office/powerpoint/2010/main" val="82326928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83344-6A8B-9A5B-A3E0-98F67D48C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8CF2E-EB7D-E108-4B55-3C521BF4F868}"/>
              </a:ext>
            </a:extLst>
          </p:cNvPr>
          <p:cNvSpPr>
            <a:spLocks noGrp="1"/>
          </p:cNvSpPr>
          <p:nvPr>
            <p:ph type="title"/>
          </p:nvPr>
        </p:nvSpPr>
        <p:spPr/>
        <p:txBody>
          <a:bodyPr>
            <a:normAutofit/>
          </a:bodyPr>
          <a:lstStyle/>
          <a:p>
            <a: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t>Fast wavelet transform</a:t>
            </a:r>
            <a:br>
              <a:rPr kumimoji="0" lang="en-US" sz="5000" b="0" i="0" u="none" strike="noStrike" kern="1200" cap="all" spc="100" normalizeH="0" baseline="0" noProof="0" dirty="0">
                <a:ln>
                  <a:noFill/>
                </a:ln>
                <a:solidFill>
                  <a:srgbClr val="0070C0"/>
                </a:solidFill>
                <a:effectLst/>
                <a:uLnTx/>
                <a:uFillTx/>
                <a:latin typeface="Tw Cen MT Condensed" panose="020B0606020104020203"/>
                <a:ea typeface="+mj-ea"/>
                <a:cs typeface="+mj-cs"/>
              </a:rPr>
            </a:br>
            <a:r>
              <a:rPr kumimoji="0" lang="en-US" sz="3600" b="0" i="0" u="none" strike="noStrike" kern="1200" cap="all" spc="100" normalizeH="0" baseline="0" noProof="0" dirty="0">
                <a:ln>
                  <a:noFill/>
                </a:ln>
                <a:solidFill>
                  <a:srgbClr val="FF0000"/>
                </a:solidFill>
                <a:effectLst/>
                <a:uLnTx/>
                <a:uFillTx/>
                <a:latin typeface="Tw Cen MT Condensed" panose="020B0606020104020203"/>
                <a:ea typeface="+mj-ea"/>
                <a:cs typeface="+mj-cs"/>
              </a:rPr>
              <a:t>2-D DWT (a simplified approach)</a:t>
            </a:r>
            <a:endParaRPr lang="en-US" dirty="0"/>
          </a:p>
        </p:txBody>
      </p:sp>
      <p:sp>
        <p:nvSpPr>
          <p:cNvPr id="4" name="Footer Placeholder 3">
            <a:extLst>
              <a:ext uri="{FF2B5EF4-FFF2-40B4-BE49-F238E27FC236}">
                <a16:creationId xmlns:a16="http://schemas.microsoft.com/office/drawing/2014/main" id="{4BFDA4F2-BBE3-DD4B-7DB8-97150A7AC155}"/>
              </a:ext>
            </a:extLst>
          </p:cNvPr>
          <p:cNvSpPr>
            <a:spLocks noGrp="1"/>
          </p:cNvSpPr>
          <p:nvPr>
            <p:ph type="ftr" sz="quarter" idx="11"/>
          </p:nvPr>
        </p:nvSpPr>
        <p:spPr/>
        <p:txBody>
          <a:bodyPr/>
          <a:lstStyle/>
          <a:p>
            <a:r>
              <a:rPr lang="en-US" cap="none"/>
              <a:t>Information Hiding, Shiraz University of Technology</a:t>
            </a:r>
            <a:endParaRPr lang="en-US" dirty="0"/>
          </a:p>
        </p:txBody>
      </p:sp>
      <p:sp>
        <p:nvSpPr>
          <p:cNvPr id="5" name="Slide Number Placeholder 4">
            <a:extLst>
              <a:ext uri="{FF2B5EF4-FFF2-40B4-BE49-F238E27FC236}">
                <a16:creationId xmlns:a16="http://schemas.microsoft.com/office/drawing/2014/main" id="{1292DBFA-A100-4F62-42A8-B0E0ABB6B94E}"/>
              </a:ext>
            </a:extLst>
          </p:cNvPr>
          <p:cNvSpPr>
            <a:spLocks noGrp="1"/>
          </p:cNvSpPr>
          <p:nvPr>
            <p:ph type="sldNum" sz="quarter" idx="12"/>
          </p:nvPr>
        </p:nvSpPr>
        <p:spPr/>
        <p:txBody>
          <a:bodyPr/>
          <a:lstStyle/>
          <a:p>
            <a:fld id="{382B47E1-F59F-47B3-8D16-B2A0740F319A}" type="slidenum">
              <a:rPr lang="en-US" smtClean="0"/>
              <a:pPr/>
              <a:t>119</a:t>
            </a:fld>
            <a:endParaRPr lang="en-US" dirty="0"/>
          </a:p>
        </p:txBody>
      </p:sp>
      <p:pic>
        <p:nvPicPr>
          <p:cNvPr id="7" name="Picture 6">
            <a:extLst>
              <a:ext uri="{FF2B5EF4-FFF2-40B4-BE49-F238E27FC236}">
                <a16:creationId xmlns:a16="http://schemas.microsoft.com/office/drawing/2014/main" id="{65841B04-3B60-2682-4CBF-A0E38AE95F70}"/>
              </a:ext>
            </a:extLst>
          </p:cNvPr>
          <p:cNvPicPr>
            <a:picLocks noChangeAspect="1"/>
          </p:cNvPicPr>
          <p:nvPr/>
        </p:nvPicPr>
        <p:blipFill>
          <a:blip r:embed="rId2"/>
          <a:stretch>
            <a:fillRect/>
          </a:stretch>
        </p:blipFill>
        <p:spPr>
          <a:xfrm>
            <a:off x="1024127" y="2261937"/>
            <a:ext cx="7721631" cy="4010847"/>
          </a:xfrm>
          <a:prstGeom prst="rect">
            <a:avLst/>
          </a:prstGeom>
        </p:spPr>
      </p:pic>
    </p:spTree>
    <p:extLst>
      <p:ext uri="{BB962C8B-B14F-4D97-AF65-F5344CB8AC3E}">
        <p14:creationId xmlns:p14="http://schemas.microsoft.com/office/powerpoint/2010/main" val="31530504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A41AC481-B287-49C8-90EF-C669597D2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C186DD-5304-4F68-864E-B96D4F4886F9}">
  <we:reference id="wa200004052" version="1.0.0.2" store="en-US" storeType="OMEX"/>
  <we:alternateReferences>
    <we:reference id="wa200004052" version="1.0.0.2" store="wa200004052" storeType="OMEX"/>
  </we:alternateReferences>
  <we:properties>
    <we:property name="holatex.main" value="{&quot;pictures&quot;:[{&quot;name&quot;:&quot;Latex&quot;,&quot;code&quot;:&quot;\\documentclass{article}\n\\usepackage{amsmath} % Required for mathematical environments\n\\usepackage{xcolor}  % Required for colored text\n\\usepackage{tikz}    % Required for drawing arrows\n\n\\begin{document}\n\n\\begin{itemize}\n    \\item \\textbf{Non-Stationary Signal} $\\Rightarrow$ \n          \\textcolor{red}{{Frequency changes in time.}}\n          \n\n\\end{itemize}\n\n\\end{documen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3210</TotalTime>
  <Words>3872</Words>
  <Application>Microsoft Office PowerPoint</Application>
  <PresentationFormat>Widescreen</PresentationFormat>
  <Paragraphs>615</Paragraphs>
  <Slides>119</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119</vt:i4>
      </vt:variant>
    </vt:vector>
  </HeadingPairs>
  <TitlesOfParts>
    <vt:vector size="128" baseType="lpstr">
      <vt:lpstr>Arial</vt:lpstr>
      <vt:lpstr>Calibri</vt:lpstr>
      <vt:lpstr>Cambria Math</vt:lpstr>
      <vt:lpstr>Courier New</vt:lpstr>
      <vt:lpstr>Tw Cen MT</vt:lpstr>
      <vt:lpstr>Tw Cen MT Condensed</vt:lpstr>
      <vt:lpstr>Wingdings</vt:lpstr>
      <vt:lpstr>Wingdings 3</vt:lpstr>
      <vt:lpstr>Integral</vt:lpstr>
      <vt:lpstr>INFORMATION HIDING</vt:lpstr>
      <vt:lpstr>Lecture Overview Fundamentals of dft and dct</vt:lpstr>
      <vt:lpstr>Lecture Overview Fundamentals of dft and dct</vt:lpstr>
      <vt:lpstr>Lecture Overview Fundamentals of dft and dct</vt:lpstr>
      <vt:lpstr>INTRODUCTION to wavelets history</vt:lpstr>
      <vt:lpstr>INTRODUCTION to wavelets history</vt:lpstr>
      <vt:lpstr>INTRODUCTION to wavelets history</vt:lpstr>
      <vt:lpstr>INTRODUCTION to wavelets history</vt:lpstr>
      <vt:lpstr>INTRODUCTION to wavelets history</vt:lpstr>
      <vt:lpstr>INTRODUCTION to wavelets history</vt:lpstr>
      <vt:lpstr>INTRODUCTION to wavelets it’s applications</vt:lpstr>
      <vt:lpstr>INTRODUCTION to wavelets it’s applications</vt:lpstr>
      <vt:lpstr>INTRODUCTION to wavelets it’s applications</vt:lpstr>
      <vt:lpstr>INTRODUCTION to wavelets it’s applications</vt:lpstr>
      <vt:lpstr>INTRODUCTION to wavelets it’s applications</vt:lpstr>
      <vt:lpstr>INTRODUCTION to wavelets it’s applications</vt:lpstr>
      <vt:lpstr>INTRODUCTION to wavelets it’s applications – Gravitational waves</vt:lpstr>
      <vt:lpstr>Fourier Analysis a serious drawback</vt:lpstr>
      <vt:lpstr>Fourier Analysis a serious drawback</vt:lpstr>
      <vt:lpstr>Fourier Analysis a serious drawback</vt:lpstr>
      <vt:lpstr>Fourier Analysis a serious drawback – Another example to clarify</vt:lpstr>
      <vt:lpstr>Fourier Analysis a serious drawback – Another example to clarify</vt:lpstr>
      <vt:lpstr>Fourier Analysis a serious drawback – more example to clarify</vt:lpstr>
      <vt:lpstr>PowerPoint Presentation</vt:lpstr>
      <vt:lpstr>Fourier Analysis a serious drawback</vt:lpstr>
      <vt:lpstr>Fourier Analysis a serious drawback</vt:lpstr>
      <vt:lpstr>Fourier Analysis a serious drawback</vt:lpstr>
      <vt:lpstr>Fourier Analysis a serious drawback</vt:lpstr>
      <vt:lpstr>Fourier Analysis a serious drawback – Back to our example</vt:lpstr>
      <vt:lpstr>Windowed Fourier Analysis a solution to Fourier's drawbacks</vt:lpstr>
      <vt:lpstr>Windowed Fourier Analysis a solution to Fourier's drawbacks</vt:lpstr>
      <vt:lpstr>Windowed Fourier Analysis a solution to Fourier's drawbacks</vt:lpstr>
      <vt:lpstr>Windowed Fourier Analysis a solution to Fourier's drawbacks</vt:lpstr>
      <vt:lpstr>Windowed Fourier Analysis a solution to Fourier's drawbacks</vt:lpstr>
      <vt:lpstr>Windowed Fourier Analysis From the STFT to the Spectrogram</vt:lpstr>
      <vt:lpstr>Windowed Fourier Analysis From the STFT to the Spectrogram</vt:lpstr>
      <vt:lpstr>Windowed Fourier Analysis From the STFT to the Spectrogram</vt:lpstr>
      <vt:lpstr>Windowed Fourier Analysis STFT – SPECIAL CASE ( THE GABOR TRANSFORM )</vt:lpstr>
      <vt:lpstr>Windowed Fourier Analysis STFT – SPECIAL CASE ( THE GABOR TRANSFORM )</vt:lpstr>
      <vt:lpstr>Windowed Fourier Analysis STFT – SPECIAL CASE ( THE GABOR TRANSFORM )</vt:lpstr>
      <vt:lpstr>Windowed Fourier Analysis STFT – Analogy with music scores</vt:lpstr>
      <vt:lpstr>Windowed Fourier Analysis Heisenberg boxes - Time-frequency localization and spread</vt:lpstr>
      <vt:lpstr>Windowed Fourier Analysis Heisenberg boxes - Time-frequency localization and spread</vt:lpstr>
      <vt:lpstr>Windowed Fourier Analysis Heisenberg boxes - Time-frequency localization and spread</vt:lpstr>
      <vt:lpstr>Windowed Fourier Analysis Heisenberg’s indeterminacy relations</vt:lpstr>
      <vt:lpstr>Windowed Fourier Analysis Heisenberg’s indeterminacy relations</vt:lpstr>
      <vt:lpstr>Windowed Fourier Analysis Heisenberg’s indeterminacy relations</vt:lpstr>
      <vt:lpstr>Windowed Fourier Analysis Heisenberg’s indeterminacy relations</vt:lpstr>
      <vt:lpstr>Windowed Fourier Analysis Heisenberg’s indeterminacy relations</vt:lpstr>
      <vt:lpstr>Windowed Fourier Analysis Heisenberg’s indeterminacy relations</vt:lpstr>
      <vt:lpstr>Windowed Fourier Analysis Heisenberg’s indeterminacy relations</vt:lpstr>
      <vt:lpstr>Windowed Fourier Analysis Limitation of the Short Time Fourier Transform</vt:lpstr>
      <vt:lpstr>Windowed Fourier Analysis Limitation of the Short Time Fourier Transform</vt:lpstr>
      <vt:lpstr>wavelet a solution to Windowed Fourier's drawbacks</vt:lpstr>
      <vt:lpstr>wavelet a solution to Windowed Fourier's drawbacks</vt:lpstr>
      <vt:lpstr>wavelet a solution to Windowed Fourier's drawbacks</vt:lpstr>
      <vt:lpstr>wavelets a solution to Windowed Fourier's drawbacks</vt:lpstr>
      <vt:lpstr>wavelets The Continuous Wavelet Transform (CWT) – Definition</vt:lpstr>
      <vt:lpstr>wavelets The Continuous Wavelet Transform (CWT) – Definition</vt:lpstr>
      <vt:lpstr>wavelets The Continuous Wavelet Transform (CWT) – Definition</vt:lpstr>
      <vt:lpstr>wavelets The Continuous Wavelet Transform (CWT) – Definition</vt:lpstr>
      <vt:lpstr>wavelets wavelet Definition</vt:lpstr>
      <vt:lpstr>wavelets examples of mother wavelets</vt:lpstr>
      <vt:lpstr>wavelets examples of mother wavelets</vt:lpstr>
      <vt:lpstr>wavelets examples of mother wavelets</vt:lpstr>
      <vt:lpstr>wavelets Fourier Transform of wavelets</vt:lpstr>
      <vt:lpstr>wavelets Fourier Transform of wavelets</vt:lpstr>
      <vt:lpstr>wavelets Fourier Transform of wavelets</vt:lpstr>
      <vt:lpstr>wavelets Fourier Transform of wavelets</vt:lpstr>
      <vt:lpstr>wavelets Time-frequency resolution of wavelets</vt:lpstr>
      <vt:lpstr>wavelets Time-frequency resolution of wavelets</vt:lpstr>
      <vt:lpstr>wavelets Time-frequency resolution</vt:lpstr>
      <vt:lpstr>wavelets Some examples</vt:lpstr>
      <vt:lpstr>wavelets Some examples</vt:lpstr>
      <vt:lpstr>wavelets Some examples</vt:lpstr>
      <vt:lpstr>wavelets Some examples</vt:lpstr>
      <vt:lpstr>wavelets Some examples</vt:lpstr>
      <vt:lpstr>wavelets Some examples</vt:lpstr>
      <vt:lpstr>DISCRETE WAVELET TRANSFORM</vt:lpstr>
      <vt:lpstr>wavelets The Dyadic Wavelet Transform</vt:lpstr>
      <vt:lpstr>wavelets The Dyadic Wavelet Transform</vt:lpstr>
      <vt:lpstr>wavelets The Dyadic Wavelet Transform</vt:lpstr>
      <vt:lpstr>wavelets The Dyadic Wavelet Transform</vt:lpstr>
      <vt:lpstr>wavelets The Dyadic Wavelet Transform</vt:lpstr>
      <vt:lpstr>PowerPoint Presentation</vt:lpstr>
      <vt:lpstr>Fast wavelet transform</vt:lpstr>
      <vt:lpstr>Fast wavelet transform</vt:lpstr>
      <vt:lpstr>Fast wavelet transform</vt:lpstr>
      <vt:lpstr>Fast wavelet transform an example</vt:lpstr>
      <vt:lpstr>Fast wavelet transform wavelet decomposition</vt:lpstr>
      <vt:lpstr>Fast wavelet transform wavelet decomposition</vt:lpstr>
      <vt:lpstr>Fast wavelet transform idwt - reconstruction</vt:lpstr>
      <vt:lpstr>Fast wavelet transform idwt - reconstruction</vt:lpstr>
      <vt:lpstr>Fast wavelet transform analysis and synthesis</vt:lpstr>
      <vt:lpstr>Fast wavelet transform analysis and synthesis</vt:lpstr>
      <vt:lpstr>Fast wavelet transform analysis and synthesis</vt:lpstr>
      <vt:lpstr>Fast wavelet transform Wavelet transform as Sub-band Transform</vt:lpstr>
      <vt:lpstr>Fast wavelet transform multiscale analysis</vt:lpstr>
      <vt:lpstr>Fast wavelet transform 2-D Discrete Wavelet Transform</vt:lpstr>
      <vt:lpstr>Fast wavelet transform 2-D Discrete Wavelet Transform</vt:lpstr>
      <vt:lpstr>Fast wavelet transform 2-D Discrete Wavelet Transform</vt:lpstr>
      <vt:lpstr>Fast wavelet transform 2-D Discrete Wavelet Transform</vt:lpstr>
      <vt:lpstr>PowerPoint Presentation</vt:lpstr>
      <vt:lpstr>Fast wavelet transform 2-D Discrete Wavelet Transform</vt:lpstr>
      <vt:lpstr>Fast wavelet transform 2-D Discrete Wavelet Transform</vt:lpstr>
      <vt:lpstr>Fast wavelet transform 2-D Discrete Wavelet Transform</vt:lpstr>
      <vt:lpstr>Fast wavelet transform 2-D Discrete Wavelet Transform</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lpstr>Fast wavelet transform 2-D DWT (a simplified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Adib</dc:creator>
  <cp:lastModifiedBy>ADIB</cp:lastModifiedBy>
  <cp:revision>807</cp:revision>
  <dcterms:created xsi:type="dcterms:W3CDTF">2025-02-14T04:57:05Z</dcterms:created>
  <dcterms:modified xsi:type="dcterms:W3CDTF">2025-05-03T14:23:28Z</dcterms:modified>
</cp:coreProperties>
</file>