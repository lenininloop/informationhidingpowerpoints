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78"/>
  </p:notesMasterIdLst>
  <p:handoutMasterIdLst>
    <p:handoutMasterId r:id="rId79"/>
  </p:handoutMasterIdLst>
  <p:sldIdLst>
    <p:sldId id="256" r:id="rId2"/>
    <p:sldId id="258" r:id="rId3"/>
    <p:sldId id="385" r:id="rId4"/>
    <p:sldId id="391" r:id="rId5"/>
    <p:sldId id="386" r:id="rId6"/>
    <p:sldId id="387" r:id="rId7"/>
    <p:sldId id="388" r:id="rId8"/>
    <p:sldId id="389" r:id="rId9"/>
    <p:sldId id="394" r:id="rId10"/>
    <p:sldId id="395" r:id="rId11"/>
    <p:sldId id="390" r:id="rId12"/>
    <p:sldId id="393" r:id="rId13"/>
    <p:sldId id="392" r:id="rId14"/>
    <p:sldId id="396" r:id="rId15"/>
    <p:sldId id="397" r:id="rId16"/>
    <p:sldId id="398" r:id="rId17"/>
    <p:sldId id="399" r:id="rId18"/>
    <p:sldId id="400" r:id="rId19"/>
    <p:sldId id="401" r:id="rId20"/>
    <p:sldId id="402" r:id="rId21"/>
    <p:sldId id="405" r:id="rId22"/>
    <p:sldId id="406" r:id="rId23"/>
    <p:sldId id="403" r:id="rId24"/>
    <p:sldId id="413" r:id="rId25"/>
    <p:sldId id="407" r:id="rId26"/>
    <p:sldId id="408" r:id="rId27"/>
    <p:sldId id="409" r:id="rId28"/>
    <p:sldId id="404" r:id="rId29"/>
    <p:sldId id="410" r:id="rId30"/>
    <p:sldId id="411" r:id="rId31"/>
    <p:sldId id="412" r:id="rId32"/>
    <p:sldId id="414" r:id="rId33"/>
    <p:sldId id="415" r:id="rId34"/>
    <p:sldId id="416" r:id="rId35"/>
    <p:sldId id="417" r:id="rId36"/>
    <p:sldId id="418" r:id="rId37"/>
    <p:sldId id="419" r:id="rId38"/>
    <p:sldId id="420" r:id="rId39"/>
    <p:sldId id="425" r:id="rId40"/>
    <p:sldId id="421" r:id="rId41"/>
    <p:sldId id="422" r:id="rId42"/>
    <p:sldId id="426" r:id="rId43"/>
    <p:sldId id="423" r:id="rId44"/>
    <p:sldId id="424" r:id="rId45"/>
    <p:sldId id="427" r:id="rId46"/>
    <p:sldId id="428" r:id="rId47"/>
    <p:sldId id="430" r:id="rId48"/>
    <p:sldId id="429" r:id="rId49"/>
    <p:sldId id="431" r:id="rId50"/>
    <p:sldId id="432" r:id="rId51"/>
    <p:sldId id="435" r:id="rId52"/>
    <p:sldId id="433" r:id="rId53"/>
    <p:sldId id="434" r:id="rId54"/>
    <p:sldId id="436" r:id="rId55"/>
    <p:sldId id="437" r:id="rId56"/>
    <p:sldId id="443" r:id="rId57"/>
    <p:sldId id="444" r:id="rId58"/>
    <p:sldId id="438" r:id="rId59"/>
    <p:sldId id="439" r:id="rId60"/>
    <p:sldId id="440" r:id="rId61"/>
    <p:sldId id="441" r:id="rId62"/>
    <p:sldId id="445" r:id="rId63"/>
    <p:sldId id="446" r:id="rId64"/>
    <p:sldId id="447" r:id="rId65"/>
    <p:sldId id="442" r:id="rId66"/>
    <p:sldId id="449" r:id="rId67"/>
    <p:sldId id="448" r:id="rId68"/>
    <p:sldId id="450" r:id="rId69"/>
    <p:sldId id="451" r:id="rId70"/>
    <p:sldId id="452" r:id="rId71"/>
    <p:sldId id="453" r:id="rId72"/>
    <p:sldId id="454" r:id="rId73"/>
    <p:sldId id="455" r:id="rId74"/>
    <p:sldId id="456" r:id="rId75"/>
    <p:sldId id="457" r:id="rId76"/>
    <p:sldId id="458" r:id="rId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7D1BF4-5A65-4AEE-9A68-2E66F2371F8D}">
          <p14:sldIdLst>
            <p14:sldId id="256"/>
          </p14:sldIdLst>
        </p14:section>
        <p14:section name="Lecture Overview" id="{D1AEDBE2-3BAB-4481-A334-91B5260DFC5A}">
          <p14:sldIdLst>
            <p14:sldId id="258"/>
            <p14:sldId id="385"/>
            <p14:sldId id="391"/>
            <p14:sldId id="386"/>
            <p14:sldId id="387"/>
            <p14:sldId id="388"/>
            <p14:sldId id="389"/>
            <p14:sldId id="394"/>
            <p14:sldId id="395"/>
            <p14:sldId id="390"/>
            <p14:sldId id="393"/>
            <p14:sldId id="392"/>
            <p14:sldId id="396"/>
            <p14:sldId id="397"/>
            <p14:sldId id="398"/>
            <p14:sldId id="399"/>
            <p14:sldId id="400"/>
            <p14:sldId id="401"/>
            <p14:sldId id="402"/>
            <p14:sldId id="405"/>
            <p14:sldId id="406"/>
            <p14:sldId id="403"/>
            <p14:sldId id="413"/>
            <p14:sldId id="407"/>
            <p14:sldId id="408"/>
            <p14:sldId id="409"/>
            <p14:sldId id="404"/>
            <p14:sldId id="410"/>
            <p14:sldId id="411"/>
            <p14:sldId id="412"/>
            <p14:sldId id="414"/>
            <p14:sldId id="415"/>
            <p14:sldId id="416"/>
            <p14:sldId id="417"/>
            <p14:sldId id="418"/>
            <p14:sldId id="419"/>
            <p14:sldId id="420"/>
            <p14:sldId id="425"/>
            <p14:sldId id="421"/>
            <p14:sldId id="422"/>
            <p14:sldId id="426"/>
            <p14:sldId id="423"/>
            <p14:sldId id="424"/>
            <p14:sldId id="427"/>
            <p14:sldId id="428"/>
            <p14:sldId id="430"/>
            <p14:sldId id="429"/>
            <p14:sldId id="431"/>
            <p14:sldId id="432"/>
            <p14:sldId id="435"/>
            <p14:sldId id="433"/>
            <p14:sldId id="434"/>
            <p14:sldId id="436"/>
            <p14:sldId id="437"/>
            <p14:sldId id="443"/>
            <p14:sldId id="444"/>
            <p14:sldId id="438"/>
            <p14:sldId id="439"/>
            <p14:sldId id="440"/>
            <p14:sldId id="441"/>
            <p14:sldId id="445"/>
            <p14:sldId id="446"/>
            <p14:sldId id="447"/>
            <p14:sldId id="442"/>
            <p14:sldId id="449"/>
            <p14:sldId id="448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D7836"/>
    <a:srgbClr val="C79351"/>
    <a:srgbClr val="343434"/>
    <a:srgbClr val="FFFF99"/>
    <a:srgbClr val="CF543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5" autoAdjust="0"/>
    <p:restoredTop sz="90625" autoAdjust="0"/>
  </p:normalViewPr>
  <p:slideViewPr>
    <p:cSldViewPr snapToGrid="0">
      <p:cViewPr varScale="1">
        <p:scale>
          <a:sx n="80" d="100"/>
          <a:sy n="80" d="100"/>
        </p:scale>
        <p:origin x="126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07B03B-1818-36DE-BC71-1589B7160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4BC83-76BB-54B2-47A7-AAFA77B1C2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57C5F-FDF1-4461-8BEB-7B650942ABC1}" type="datetimeFigureOut">
              <a:rPr lang="en-US" smtClean="0"/>
              <a:t>6/21/2025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D7078-B9EC-077B-AAB1-78843354F1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Information hiding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E3C49-2DA4-5229-FC07-AF5C64561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5E7CF-5076-4F3B-B76A-DA0967462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438872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6:03:14.80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234 0 24575,'1'85'0,"-3"94"0,-14-84 0,10-65 0,-4 44 0,8 46 0,2-76 0,-1 0 0,-2 0 0,-12 59 0,10-74 0,1 1 0,1 59 0,3-61 0,-1 0 0,-1-1 0,-10 49 0,5-41 0,2 0 0,1 1 0,1 63 0,3-59 0,-2-1 0,-10 65 0,3-56 0,3-1 0,0 97 0,5-131 0,-1 1 0,0-1 0,-1 0 0,0 0 0,-1-1 0,0 1 0,-9 16 0,6-14 0,1 0 0,1 1 0,0 0 0,-4 26 0,6 77 0,4-90 0,-2 0 0,0 1 0,-10 50 0,2-21 0,2 0 0,3 118 0,4-130 0,0-1445 0,3 1380 0,0 0 0,2 0 0,-1 0 0,2 0 0,1 1 0,0 0 0,1 0 0,17-26 0,-24 41 0,0 0 0,0 0 0,0 0 0,0 0 0,0 0 0,1 0 0,-1 0 0,1 0 0,0 0 0,-1 1 0,1-1 0,0 1 0,0-1 0,0 1 0,0 0 0,0 0 0,0 0 0,1 0 0,-1 0 0,0 0 0,0 1 0,1-1 0,-1 1 0,0-1 0,1 1 0,2 0 0,-2 1 0,0 0 0,0 0 0,-1 0 0,1 1 0,0-1 0,-1 1 0,1 0 0,-1 0 0,1-1 0,-1 2 0,0-1 0,0 0 0,0 0 0,0 1 0,0-1 0,-1 1 0,1 0 0,-1-1 0,1 1 0,0 4 0,10 21 0,-2 0 0,-1 0 0,-2 1 0,7 49 0,2 126 0,-9-82 0,18 846 0,-25-964 0,-1 1 0,1 0 0,0 0 0,0-1 0,1 1 0,-1 0 0,1 0 0,0-1 0,0 1 0,1-1 0,-1 1 0,1-1 0,0 1 0,0-1 0,1 0 0,-1 0 0,1 0 0,3 4 0,-5-8 0,0 1 0,-1-1 0,1 1 0,0-1 0,0 0 0,-1 0 0,1 1 0,0-1 0,0 0 0,-1 0 0,1 0 0,0 0 0,0 1 0,0-1 0,-1 0 0,1-1 0,0 1 0,0 0 0,0 0 0,-1 0 0,1 0 0,0-1 0,0 1 0,-1 0 0,1-1 0,0 1 0,-1 0 0,1-1 0,0 1 0,-1-1 0,1 1 0,-1-1 0,1 0 0,0 1 0,-1-1 0,0 1 0,1-1 0,-1 0 0,1 1 0,-1-1 0,0 0 0,1 0 0,-1 1 0,0-1 0,0 0 0,0 0 0,1 0 0,-1-1 0,10-40 0,-4-38 0,-8-134 0,-1 78 0,4 98 0,-1-43 0,0 76 0,0-1 0,-1 1 0,0-1 0,0 1 0,0 0 0,-1 0 0,0 0 0,0 0 0,0 0 0,-1 0 0,-3-5 0,6 10 0,-1 0 0,1 0 0,0-1 0,-1 1 0,1 0 0,0 0 0,0 0 0,-1 0 0,1 0 0,0 0 0,-1 1 0,1-1 0,0 0 0,-1 0 0,1 0 0,0 0 0,-1 0 0,1 0 0,0 0 0,0 1 0,-1-1 0,1 0 0,0 0 0,0 0 0,-1 1 0,1-1 0,0 0 0,0 0 0,0 1 0,-1-1 0,1 0 0,0 0 0,0 1 0,0-1 0,0 0 0,0 1 0,0-1 0,-1 0 0,1 0 0,0 1 0,0-1 0,0 0 0,0 1 0,0-1 0,0 0 0,0 1 0,0-1 0,0 0 0,1 1 0,-1-1 0,0 0 0,0 1 0,-3 22 0,-1 416 0,7-227 0,-4-136 0,-19 125 0,11-108 0,4 179 0,6-202 0,-1-1055-1365,0 935-5461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5:38:40.41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24575,'4'7'0,"0"0"0,0 0 0,-1 0 0,0 0 0,0 0 0,-1 1 0,0 0 0,0-1 0,-1 1 0,0 0 0,-1 0 0,1 10 0,0-3 0,5 408 0,-9-232 0,3 1822-1365,0-1977-5461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5:38:40.41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24575,'4'7'0,"0"0"0,0 0 0,-1 0 0,0 0 0,0 0 0,-1 1 0,0 0 0,0-1 0,-1 1 0,0 0 0,-1 0 0,1 10 0,0-3 0,5 408 0,-9-232 0,3 1822-1365,0-1977-5461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5:38:56.12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5:38:40.41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24575,'4'7'0,"0"0"0,0 0 0,-1 0 0,0 0 0,0 0 0,-1 1 0,0 0 0,0-1 0,-1 1 0,0 0 0,-1 0 0,1 10 0,0-3 0,5 408 0,-9-232 0,3 1822-1365,0-1977-5461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5:38:56.12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5:47:56.51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36 62 24575,'0'-4'0,"0"-1"0,0 1 0,-1 0 0,1 0 0,-1 0 0,0 0 0,-1 0 0,1 0 0,0 0 0,-1 1 0,0-1 0,0 0 0,0 1 0,-3-4 0,5 7 0,-1 0 0,1 1 0,-1-1 0,1 0 0,-1 0 0,1 0 0,-1 1 0,1-1 0,-1 0 0,1 1 0,0-1 0,-1 0 0,1 1 0,-1-1 0,1 0 0,0 1 0,-1-1 0,1 1 0,0-1 0,0 1 0,-1-1 0,1 1 0,0-1 0,0 1 0,0-1 0,0 1 0,0-1 0,-1 1 0,1-1 0,0 1 0,0-1 0,0 1 0,0-1 0,1 1 0,-1-1 0,0 1 0,0 0 0,-3 26 0,-1 45 0,4 0 0,3 0 0,17 99 0,-9-81 0,-5 0 0,-7 144 0,-2-81 0,2-68 0,3 97 0,14-91 0,-10-64 0,4 47 0,-7 360 0,-5-224 0,4-182 0,0 0 0,10 40 0,4 39 0,-14 132 21,-3-139-1407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5:47:56.51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36 62 24575,'0'-4'0,"0"-1"0,0 1 0,-1 0 0,1 0 0,-1 0 0,0 0 0,-1 0 0,1 0 0,0 0 0,-1 1 0,0-1 0,0 0 0,0 1 0,-3-4 0,5 7 0,-1 0 0,1 1 0,-1-1 0,1 0 0,-1 0 0,1 0 0,-1 1 0,1-1 0,-1 0 0,1 1 0,0-1 0,-1 0 0,1 1 0,-1-1 0,1 0 0,0 1 0,-1-1 0,1 1 0,0-1 0,0 1 0,-1-1 0,1 1 0,0-1 0,0 1 0,0-1 0,0 1 0,0-1 0,-1 1 0,1-1 0,0 1 0,0-1 0,0 1 0,0-1 0,1 1 0,-1-1 0,0 1 0,0 0 0,-3 26 0,-1 45 0,4 0 0,3 0 0,17 99 0,-9-81 0,-5 0 0,-7 144 0,-2-81 0,2-68 0,3 97 0,14-91 0,-10-64 0,4 47 0,-7 360 0,-5-224 0,4-182 0,0 0 0,10 40 0,4 39 0,-14 132 21,-3-139-1407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67F40-F767-44F2-AA8C-0A942D29D2BB}" type="datetimeFigureOut">
              <a:rPr lang="en-US" smtClean="0"/>
              <a:t>6/21/2025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Information hiding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8D007-CB10-4C3E-A76A-23FBDDDC3D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47147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Information hiding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097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Information hiding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49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859" y="4824784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62259" y="489834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70704"/>
            <a:ext cx="10287191" cy="274320"/>
          </a:xfrm>
        </p:spPr>
        <p:txBody>
          <a:bodyPr/>
          <a:lstStyle>
            <a:lvl1pPr algn="l">
              <a:defRPr sz="1600" b="1"/>
            </a:lvl1pPr>
          </a:lstStyle>
          <a:p>
            <a:r>
              <a:rPr lang="en-US" cap="none" dirty="0"/>
              <a:t>Information Hiding, Shiraz university of technology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62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10266723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66724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4128" y="6461095"/>
            <a:ext cx="10266722" cy="27432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algn="l">
              <a:defRPr sz="1400" b="1"/>
            </a:lvl1pPr>
          </a:lstStyle>
          <a:p>
            <a:r>
              <a:rPr lang="en-US" cap="none" dirty="0"/>
              <a:t>Information Hiding, Shiraz University of Technology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13774" y="6461095"/>
            <a:ext cx="477076" cy="274320"/>
          </a:xfrm>
        </p:spPr>
        <p:txBody>
          <a:bodyPr/>
          <a:lstStyle>
            <a:lvl1pPr>
              <a:defRPr sz="1400" b="1"/>
            </a:lvl1pPr>
          </a:lstStyle>
          <a:p>
            <a:fld id="{382B47E1-F59F-47B3-8D16-B2A0740F319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650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Information Hiding, Shiraz university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38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Information Hiding, Shiraz university of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28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Information Hiding, Shiraz university of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177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Information Hiding, Shiraz university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396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Information Hiding, Shiraz university of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37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 dirty="0"/>
              <a:t>Information Hiding, Shiraz university of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82B47E1-F59F-47B3-8D16-B2A0740F319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22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/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Information Hiding, Shiraz university of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70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Information Hiding, Shiraz university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73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Information Hiding, Shiraz university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597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Information Hiding, Shiraz university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82B47E1-F59F-47B3-8D16-B2A0740F319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88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customXml" Target="../ink/ink4.xml"/><Relationship Id="rId4" Type="http://schemas.openxmlformats.org/officeDocument/2006/relationships/image" Target="../media/image7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customXml" Target="../ink/ink6.xml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F952-F51B-9E16-AE94-2AF7EC3BB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72428" y="5267914"/>
            <a:ext cx="7772400" cy="146304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INFORMATION HIDING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550EBE-03C9-6663-B172-AE3DCD9F5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4252" y="5174821"/>
            <a:ext cx="3632293" cy="146304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Watermark Embedding in Transform Domain</a:t>
            </a:r>
            <a:endParaRPr lang="en-US" sz="105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33094A-8749-D231-8FF5-43D6BA1D77A6}"/>
              </a:ext>
            </a:extLst>
          </p:cNvPr>
          <p:cNvSpPr txBox="1"/>
          <p:nvPr/>
        </p:nvSpPr>
        <p:spPr>
          <a:xfrm>
            <a:off x="-205204" y="6550223"/>
            <a:ext cx="509214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Adib Nikjou, Shiraz University of Technology, Summer 2025</a:t>
            </a: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 flipV="1">
            <a:off x="7244253" y="5217228"/>
            <a:ext cx="0" cy="137822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C6A5053-2C31-9B23-82E1-C7ED981E9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996" y="236085"/>
            <a:ext cx="9399549" cy="48963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6151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F3C1-647A-E396-7C67-5F16E7AA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Lecture Overview</a:t>
            </a:r>
            <a:br>
              <a:rPr lang="en-US" dirty="0"/>
            </a:br>
            <a:r>
              <a:rPr lang="en-US" sz="3200" dirty="0"/>
              <a:t>Watermark Embedding in Transform Domain</a:t>
            </a:r>
            <a:endParaRPr lang="en-US" sz="1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31D50-2B26-22F4-9D92-84A1241F5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6" y="2437735"/>
            <a:ext cx="10266724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Introduction to Transform Domain Watermarking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Motivation for Transform Domain Approaches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Fundamental Principles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Common Transform Types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Transform Properties Relevant to Watermarking</a:t>
            </a:r>
          </a:p>
          <a:p>
            <a:pPr marL="128016" lvl="1" indent="0">
              <a:buNone/>
            </a:pPr>
            <a:endParaRPr lang="en-US" sz="2000" dirty="0"/>
          </a:p>
          <a:p>
            <a:pPr>
              <a:buNone/>
            </a:pPr>
            <a:r>
              <a:rPr lang="en-US" sz="2400" b="1" dirty="0"/>
              <a:t>2. Watermarking Techniques in Transform Domain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LSB-Based Methods in Transform Domain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Substitution-Based Watermarking</a:t>
            </a:r>
          </a:p>
          <a:p>
            <a:pPr marL="128016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74169-2756-B5E6-FF31-2A010CA4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 dirty="0"/>
              <a:t>Information Hiding, Shiraz University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DEB55-7ACB-EA23-6545-2FEA29E1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2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2054F-027F-EB07-B74C-0E4C9DCD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E28A-26C7-19F4-29D9-7AA0EA72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Lecture Overview</a:t>
            </a:r>
            <a:br>
              <a:rPr lang="en-US" dirty="0"/>
            </a:br>
            <a:r>
              <a:rPr lang="en-US" sz="3200" dirty="0"/>
              <a:t>Watermark Embedding in Transform Domain</a:t>
            </a:r>
            <a:endParaRPr lang="en-US" sz="1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852DB-588D-8760-2064-70FB90C2C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351589"/>
            <a:ext cx="10266724" cy="4383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DCT-Based Watermarking: A Comprehensive Case Study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System Overview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Detailed Embedding Procedure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Extraction Procedure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spcBef>
                <a:spcPts val="1800"/>
              </a:spcBef>
              <a:buNone/>
            </a:pPr>
            <a:r>
              <a:rPr lang="en-US" sz="2400" b="1" dirty="0"/>
              <a:t>4. Advanced Optimization: Genetic Band Selection (GBS)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Motivation for Optimization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Genetic Algorithm Fundamentals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Fitness Function Design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80313-E427-5093-66F5-65EFE6CB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 dirty="0"/>
              <a:t>Information Hiding, Shiraz University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991D9C-C558-9061-12E4-430950E1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618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1D03AA-9614-66CE-7C25-D3D4BBBE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Information Hiding, Shiraz university of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F8F4-3E2A-EAA7-B9E2-BB3B30A7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z="1400" smtClean="0"/>
              <a:t>4</a:t>
            </a:fld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467B2-1FF8-306C-30E2-3B168783AF0D}"/>
              </a:ext>
            </a:extLst>
          </p:cNvPr>
          <p:cNvSpPr txBox="1"/>
          <p:nvPr/>
        </p:nvSpPr>
        <p:spPr>
          <a:xfrm>
            <a:off x="2030895" y="2767280"/>
            <a:ext cx="81302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Introduction to transform domain watermarking</a:t>
            </a:r>
          </a:p>
        </p:txBody>
      </p:sp>
    </p:spTree>
    <p:extLst>
      <p:ext uri="{BB962C8B-B14F-4D97-AF65-F5344CB8AC3E}">
        <p14:creationId xmlns:p14="http://schemas.microsoft.com/office/powerpoint/2010/main" val="401506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1446-FBBC-067F-0F4B-BEDC86A02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Introduction to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Motivation for Transform Domain Approaches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90AC1-9D8D-1154-9B72-540FC163C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Digital watermarking in the spatial domain, while simple to implement, suffers from several limitations: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C00000"/>
                </a:solidFill>
              </a:rPr>
              <a:t> Vulnerability to attacks: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	</a:t>
            </a:r>
            <a:r>
              <a:rPr lang="en-US" dirty="0"/>
              <a:t>Spatial domain watermarks are easily detected and removed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C00000"/>
                </a:solidFill>
              </a:rPr>
              <a:t> Limited robustness: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	</a:t>
            </a:r>
            <a:r>
              <a:rPr lang="en-US" dirty="0"/>
              <a:t>Poor performance against compression, filtering, and geometric transformations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C00000"/>
                </a:solidFill>
              </a:rPr>
              <a:t> Perceptual quality issues: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	</a:t>
            </a:r>
            <a:r>
              <a:rPr lang="en-US" dirty="0"/>
              <a:t>Direct pixel modification can introduce visible artifacts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287B5-A7AA-5A24-D9D3-60AB81F6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3DF9F-4208-5BDC-7E79-2117C1A9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17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69AB-3575-69D0-0B42-8CCF08FD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FABA-6E86-D102-C6A5-A807A102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Introduction to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Motivation for Transform Domain Approaches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9776A-E832-07C0-26D1-BE6DC7F2F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Transform domain watermarking addresses these limitations by embedding watermarks in the frequency representation of images, offering:</a:t>
            </a:r>
          </a:p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C00000"/>
                </a:solidFill>
              </a:rPr>
              <a:t> Enhanced robustness:</a:t>
            </a:r>
          </a:p>
          <a:p>
            <a:pPr marL="0" indent="0">
              <a:buNone/>
            </a:pPr>
            <a:r>
              <a:rPr lang="en-US" b="1" dirty="0"/>
              <a:t>	 Better resistance to common image processing operations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Improved imperceptibility:</a:t>
            </a:r>
          </a:p>
          <a:p>
            <a:pPr marL="0" indent="0">
              <a:buNone/>
            </a:pPr>
            <a:r>
              <a:rPr lang="en-US" b="1" dirty="0"/>
              <a:t>	 Watermark energy is distributed across spatial locations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Adaptive embedding: </a:t>
            </a:r>
          </a:p>
          <a:p>
            <a:pPr marL="0" indent="0">
              <a:buNone/>
            </a:pPr>
            <a:r>
              <a:rPr lang="en-US" b="1" dirty="0"/>
              <a:t>	Ability to exploit perceptual characteristics of the human visual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7AA85-BB8A-D34C-952E-344972FFF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29CC9-5E58-81CA-A678-D8C8269F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72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D9DA2-1759-C648-665E-3E8103FC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5E8AD-CC26-5F01-1BE9-BED3310E7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Introduction to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Fundamental Principles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86D31-6BC8-63D3-8256-1F85B198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6" y="2249424"/>
            <a:ext cx="10266724" cy="40233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Transform domain watermarking operates on the principle that: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Energy concentration:</a:t>
            </a:r>
          </a:p>
          <a:p>
            <a:pPr marL="0" indent="0">
              <a:buNone/>
            </a:pPr>
            <a:r>
              <a:rPr lang="en-US" b="1" dirty="0"/>
              <a:t>	 Most image energy is concentrated in low-frequency components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Perceptual masking:</a:t>
            </a:r>
          </a:p>
          <a:p>
            <a:pPr marL="0" indent="0">
              <a:buNone/>
            </a:pPr>
            <a:r>
              <a:rPr lang="en-US" b="1" dirty="0"/>
              <a:t>	 High-frequency components are less perceptible to human vision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Frequency spreading:</a:t>
            </a:r>
          </a:p>
          <a:p>
            <a:pPr marL="0" indent="0">
              <a:buNone/>
            </a:pPr>
            <a:r>
              <a:rPr lang="en-US" b="1" dirty="0"/>
              <a:t>	 Modifications in frequency domain are distributed spatially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C00000"/>
                </a:solidFill>
              </a:rPr>
              <a:t> Robustness correlation:</a:t>
            </a:r>
          </a:p>
          <a:p>
            <a:pPr marL="0" indent="0">
              <a:buNone/>
            </a:pPr>
            <a:r>
              <a:rPr lang="en-US" b="1" dirty="0"/>
              <a:t>	 Low and mid-frequency components are more robust to attacks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836B6-4436-487B-9A4B-E3F5BB13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6B2B2-B7C2-0B6A-B955-D1EAE06F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30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2F118-0195-F65F-B75D-A2275E1D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930B-48B9-A4F5-F784-6FA15DC6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D0B9C-63DE-030C-B830-37AD3551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6" y="2084832"/>
            <a:ext cx="10266724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sz="2800" b="1" dirty="0"/>
              <a:t>Discrete Fourier Transform (DFT)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dirty="0"/>
              <a:t> Advantages:</a:t>
            </a:r>
            <a:endParaRPr lang="en-US" sz="2800" dirty="0"/>
          </a:p>
          <a:p>
            <a:pPr lvl="2"/>
            <a:r>
              <a:rPr lang="en-US" sz="2000" dirty="0">
                <a:solidFill>
                  <a:srgbClr val="C00000"/>
                </a:solidFill>
              </a:rPr>
              <a:t>Complete frequency representation</a:t>
            </a:r>
          </a:p>
          <a:p>
            <a:pPr lvl="2"/>
            <a:r>
              <a:rPr lang="en-US" sz="2000" dirty="0"/>
              <a:t>Well-established mathematical properties</a:t>
            </a:r>
          </a:p>
          <a:p>
            <a:pPr lvl="2"/>
            <a:r>
              <a:rPr lang="en-US" sz="2000" dirty="0"/>
              <a:t>Suitable for global frequency analysis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dirty="0"/>
              <a:t> Disadvantages:</a:t>
            </a:r>
            <a:endParaRPr lang="en-US" sz="2800" dirty="0"/>
          </a:p>
          <a:p>
            <a:pPr lvl="2"/>
            <a:r>
              <a:rPr lang="en-US" sz="2000" dirty="0">
                <a:solidFill>
                  <a:srgbClr val="C00000"/>
                </a:solidFill>
              </a:rPr>
              <a:t>Complex-valued coefficients</a:t>
            </a:r>
          </a:p>
          <a:p>
            <a:pPr lvl="2"/>
            <a:r>
              <a:rPr lang="en-US" sz="2000" dirty="0"/>
              <a:t>High computational complexity</a:t>
            </a:r>
          </a:p>
          <a:p>
            <a:pPr lvl="2"/>
            <a:r>
              <a:rPr lang="en-US" sz="2000" dirty="0">
                <a:solidFill>
                  <a:srgbClr val="C00000"/>
                </a:solidFill>
              </a:rPr>
              <a:t>No spatial localization</a:t>
            </a:r>
          </a:p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766BD-22E5-A9CF-CD0A-0A570A48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D5BFA-9B2F-B177-7746-DE886364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4DA895-F3E2-8739-1379-DDD743802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105" y="2593186"/>
            <a:ext cx="6220693" cy="1247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796992-08F5-166C-C3DC-F6B695A67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104" y="4821566"/>
            <a:ext cx="6763694" cy="114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96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192CF-B34F-8E1D-D5D2-8291F71B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CCAF-8F5F-6E5B-377D-AF46D5E11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229C7-546A-93B9-A668-086A1DE09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EBFD9-C0F2-2A55-FFC1-8829B07D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AE06B0-1A9A-DE83-0D9F-87CF4325A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897" y="1916086"/>
            <a:ext cx="7707181" cy="435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11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72976-59A5-9F56-F728-F101B9B7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BF32F-1EB3-DF9F-D370-0E9FFAF5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1D9AA-61E1-447E-493E-1CC68204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75682-5812-1971-B406-1DDF5C09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EDA669-7F26-8BD8-C80A-B7869FE75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3897" y="2023131"/>
            <a:ext cx="7707181" cy="424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97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1CEC-21AD-0B6B-C9B0-EC5B37C6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5BF1-A6B0-7220-488A-74AE1FBF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73693-58BE-1088-A50F-89662B9B1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6" y="2084832"/>
            <a:ext cx="10266724" cy="40233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sz="2800" b="1" dirty="0"/>
              <a:t>Discrete Cosine Transform (DCT)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dirty="0"/>
              <a:t> Advantages:</a:t>
            </a:r>
            <a:endParaRPr lang="en-US" sz="2800" dirty="0"/>
          </a:p>
          <a:p>
            <a:pPr lvl="2"/>
            <a:r>
              <a:rPr lang="en-US" sz="2000" dirty="0">
                <a:solidFill>
                  <a:srgbClr val="C00000"/>
                </a:solidFill>
              </a:rPr>
              <a:t>Real-valued coefficients         Approximately Half of the DFT</a:t>
            </a:r>
          </a:p>
          <a:p>
            <a:pPr lvl="2"/>
            <a:r>
              <a:rPr lang="en-US" sz="2000" dirty="0"/>
              <a:t>Excellent energy compaction</a:t>
            </a:r>
          </a:p>
          <a:p>
            <a:pPr lvl="2"/>
            <a:r>
              <a:rPr lang="en-US" sz="2000" dirty="0"/>
              <a:t>Compatible with JPEG compression</a:t>
            </a:r>
          </a:p>
          <a:p>
            <a:pPr lvl="2"/>
            <a:r>
              <a:rPr lang="en-US" sz="2000" dirty="0"/>
              <a:t>Computationally efficient</a:t>
            </a:r>
          </a:p>
          <a:p>
            <a:pPr lvl="2"/>
            <a:endParaRPr lang="en-US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/>
              <a:t> </a:t>
            </a:r>
            <a:r>
              <a:rPr lang="en-US" sz="2800" b="1" dirty="0"/>
              <a:t>Applications:</a:t>
            </a:r>
            <a:endParaRPr lang="en-US" sz="2800" dirty="0"/>
          </a:p>
          <a:p>
            <a:pPr lvl="2"/>
            <a:r>
              <a:rPr lang="en-US" sz="2000" dirty="0">
                <a:solidFill>
                  <a:srgbClr val="C00000"/>
                </a:solidFill>
              </a:rPr>
              <a:t>JPEG compression standard</a:t>
            </a:r>
          </a:p>
          <a:p>
            <a:pPr lvl="2"/>
            <a:r>
              <a:rPr lang="en-US" sz="2000" dirty="0">
                <a:solidFill>
                  <a:srgbClr val="C00000"/>
                </a:solidFill>
              </a:rPr>
              <a:t>Video compression (MPEG)</a:t>
            </a:r>
          </a:p>
          <a:p>
            <a:pPr lvl="2"/>
            <a:r>
              <a:rPr lang="en-US" sz="2000" dirty="0"/>
              <a:t>Most common choice for watermarking</a:t>
            </a:r>
          </a:p>
          <a:p>
            <a:pPr lvl="2"/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D3AE3-52CE-99C2-3C23-DE579AF9F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E035E-6661-F459-0FCE-B9B6DB09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11</a:t>
            </a:fld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40BDE2-AB29-ACA6-D022-2272B762E6EB}"/>
              </a:ext>
            </a:extLst>
          </p:cNvPr>
          <p:cNvCxnSpPr/>
          <p:nvPr/>
        </p:nvCxnSpPr>
        <p:spPr>
          <a:xfrm>
            <a:off x="3856383" y="3286539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EE25A68-261A-5BD0-1FAB-7821AC1AD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634" y="2110595"/>
            <a:ext cx="3700274" cy="26368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51122E-472A-EB4B-7F23-E4A373A73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348" y="4932644"/>
            <a:ext cx="1438476" cy="13432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1C12E3F0-06C8-D919-0CB8-10DC423BF8FE}"/>
              </a:ext>
            </a:extLst>
          </p:cNvPr>
          <p:cNvSpPr/>
          <p:nvPr/>
        </p:nvSpPr>
        <p:spPr>
          <a:xfrm>
            <a:off x="7769938" y="2110595"/>
            <a:ext cx="327140" cy="3271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6C9BA3C-D2BF-60BC-870A-E0B825206322}"/>
              </a:ext>
            </a:extLst>
          </p:cNvPr>
          <p:cNvCxnSpPr>
            <a:cxnSpLocks/>
            <a:stCxn id="13" idx="2"/>
            <a:endCxn id="12" idx="1"/>
          </p:cNvCxnSpPr>
          <p:nvPr/>
        </p:nvCxnSpPr>
        <p:spPr>
          <a:xfrm rot="10800000" flipH="1" flipV="1">
            <a:off x="7769938" y="2274164"/>
            <a:ext cx="1210410" cy="3330085"/>
          </a:xfrm>
          <a:prstGeom prst="bentConnector3">
            <a:avLst>
              <a:gd name="adj1" fmla="val -18886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44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3F5B-0B9F-159F-FA52-DC828008D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E74C-C476-A568-2C20-C36686DA2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1B37D-C9DC-BD50-0291-34C9989F2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99DDC-2E77-889E-C5C2-F742EA0C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C7AF90-7E12-78AE-C1F2-11E528086D73}"/>
              </a:ext>
            </a:extLst>
          </p:cNvPr>
          <p:cNvSpPr txBox="1">
            <a:spLocks/>
          </p:cNvSpPr>
          <p:nvPr/>
        </p:nvSpPr>
        <p:spPr>
          <a:xfrm>
            <a:off x="547050" y="1941822"/>
            <a:ext cx="10266724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Lenna Image: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E7A3FC-32DF-73C7-465A-79850375B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792" y="2478336"/>
            <a:ext cx="3625502" cy="362550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3CE0C9-54C8-B920-8E24-72DE2E004D1A}"/>
              </a:ext>
            </a:extLst>
          </p:cNvPr>
          <p:cNvCxnSpPr/>
          <p:nvPr/>
        </p:nvCxnSpPr>
        <p:spPr>
          <a:xfrm>
            <a:off x="4624180" y="4216615"/>
            <a:ext cx="104221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B0810BC-893F-53AF-82C7-B3C924E3B214}"/>
              </a:ext>
            </a:extLst>
          </p:cNvPr>
          <p:cNvSpPr txBox="1"/>
          <p:nvPr/>
        </p:nvSpPr>
        <p:spPr>
          <a:xfrm>
            <a:off x="4711133" y="3847283"/>
            <a:ext cx="76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BDCT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15E3B8-B0D4-5555-AAF4-4D08E31B516A}"/>
              </a:ext>
            </a:extLst>
          </p:cNvPr>
          <p:cNvSpPr txBox="1"/>
          <p:nvPr/>
        </p:nvSpPr>
        <p:spPr>
          <a:xfrm>
            <a:off x="6433977" y="1910989"/>
            <a:ext cx="497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CD25D67C-307C-C31F-022D-9E354748C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303014"/>
              </p:ext>
            </p:extLst>
          </p:nvPr>
        </p:nvGraphicFramePr>
        <p:xfrm>
          <a:off x="5710392" y="1964110"/>
          <a:ext cx="6265821" cy="191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21160" imgH="1625400" progId="Equation.DSMT4">
                  <p:embed/>
                </p:oleObj>
              </mc:Choice>
              <mc:Fallback>
                <p:oleObj name="Equation" r:id="rId3" imgW="5321160" imgH="16254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D25D67C-307C-C31F-022D-9E354748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10392" y="1964110"/>
                        <a:ext cx="6265821" cy="1914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219219EB-04B8-17BB-7E15-797DDF11F5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672680"/>
              </p:ext>
            </p:extLst>
          </p:nvPr>
        </p:nvGraphicFramePr>
        <p:xfrm>
          <a:off x="5710392" y="4176306"/>
          <a:ext cx="6265821" cy="1891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84520" imgH="1625400" progId="Equation.DSMT4">
                  <p:embed/>
                </p:oleObj>
              </mc:Choice>
              <mc:Fallback>
                <p:oleObj name="Equation" r:id="rId5" imgW="5384520" imgH="162540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19219EB-04B8-17BB-7E15-797DDF11F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10392" y="4176306"/>
                        <a:ext cx="6265821" cy="18915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AAD8D82-BC0B-94D1-C214-18101D5606BC}"/>
              </a:ext>
            </a:extLst>
          </p:cNvPr>
          <p:cNvSpPr txBox="1"/>
          <p:nvPr/>
        </p:nvSpPr>
        <p:spPr>
          <a:xfrm>
            <a:off x="850792" y="2687550"/>
            <a:ext cx="76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B(0,0)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88ADAD-1002-62C0-2CD1-B7A370CE8905}"/>
              </a:ext>
            </a:extLst>
          </p:cNvPr>
          <p:cNvSpPr txBox="1"/>
          <p:nvPr/>
        </p:nvSpPr>
        <p:spPr>
          <a:xfrm>
            <a:off x="4987312" y="4865383"/>
            <a:ext cx="81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B(0,1)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F227A1-1E4E-E88A-BF25-4E041FFC680B}"/>
              </a:ext>
            </a:extLst>
          </p:cNvPr>
          <p:cNvSpPr txBox="1"/>
          <p:nvPr/>
        </p:nvSpPr>
        <p:spPr>
          <a:xfrm rot="5400000">
            <a:off x="8855133" y="5890044"/>
            <a:ext cx="13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072790-F94C-D5EF-43F8-B9EE91F4B70D}"/>
              </a:ext>
            </a:extLst>
          </p:cNvPr>
          <p:cNvSpPr/>
          <p:nvPr/>
        </p:nvSpPr>
        <p:spPr>
          <a:xfrm>
            <a:off x="850792" y="2486527"/>
            <a:ext cx="764420" cy="768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719A52-7EDB-CEB9-50B5-45EFF91F1BFA}"/>
              </a:ext>
            </a:extLst>
          </p:cNvPr>
          <p:cNvSpPr txBox="1"/>
          <p:nvPr/>
        </p:nvSpPr>
        <p:spPr>
          <a:xfrm>
            <a:off x="1615212" y="2677718"/>
            <a:ext cx="76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B(0,1)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BBFA14-12F4-6CDE-FB36-7F042BAB4868}"/>
              </a:ext>
            </a:extLst>
          </p:cNvPr>
          <p:cNvSpPr/>
          <p:nvPr/>
        </p:nvSpPr>
        <p:spPr>
          <a:xfrm>
            <a:off x="1615212" y="2489813"/>
            <a:ext cx="764420" cy="768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BE7F39-976A-7D1C-3CEC-F83A507670F1}"/>
              </a:ext>
            </a:extLst>
          </p:cNvPr>
          <p:cNvSpPr txBox="1"/>
          <p:nvPr/>
        </p:nvSpPr>
        <p:spPr>
          <a:xfrm>
            <a:off x="5052847" y="28111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B(0,0)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7363DE-CF89-9C24-840C-4083C7491579}"/>
              </a:ext>
            </a:extLst>
          </p:cNvPr>
          <p:cNvSpPr/>
          <p:nvPr/>
        </p:nvSpPr>
        <p:spPr>
          <a:xfrm>
            <a:off x="2389167" y="2488168"/>
            <a:ext cx="764420" cy="768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0D15DC-81D9-99D9-0299-8458DFCCFE39}"/>
              </a:ext>
            </a:extLst>
          </p:cNvPr>
          <p:cNvSpPr txBox="1"/>
          <p:nvPr/>
        </p:nvSpPr>
        <p:spPr>
          <a:xfrm>
            <a:off x="2518938" y="2662302"/>
            <a:ext cx="369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4445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B1ED-71CF-491B-5051-B5F8B0DE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47DD4E0-3E89-B062-8F06-F7C11E50E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9985" y="1350440"/>
            <a:ext cx="4112327" cy="2542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C8FCC2-697A-3CF0-2834-B3F204C74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132" y="3892606"/>
            <a:ext cx="5612292" cy="2489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98D505-1B78-56CF-E777-18F79D3D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5E3B0-AC9F-9653-3B47-FF1F7F8E4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6" y="2084832"/>
            <a:ext cx="10266724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sz="2800" b="1" dirty="0"/>
              <a:t> Discrete Wavelet Transform (DWT)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 marL="0" indent="0">
              <a:buNone/>
            </a:pPr>
            <a:r>
              <a:rPr lang="en-US" b="1" dirty="0"/>
              <a:t>The DWT provides multi-resolution analysis through: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700" b="1" dirty="0"/>
              <a:t> </a:t>
            </a:r>
            <a:r>
              <a:rPr lang="en-US" sz="2200" dirty="0">
                <a:solidFill>
                  <a:srgbClr val="C00000"/>
                </a:solidFill>
              </a:rPr>
              <a:t>Low-pass filtering: </a:t>
            </a:r>
            <a:r>
              <a:rPr lang="en-US" sz="1900" dirty="0"/>
              <a:t>Approximation coefficients (LL)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700" b="1" dirty="0"/>
              <a:t> </a:t>
            </a:r>
            <a:r>
              <a:rPr lang="en-US" sz="2200" dirty="0">
                <a:solidFill>
                  <a:srgbClr val="C00000"/>
                </a:solidFill>
              </a:rPr>
              <a:t>High-pass filtering: </a:t>
            </a:r>
            <a:r>
              <a:rPr lang="en-US" sz="1900" dirty="0"/>
              <a:t>Detail coefficients (LH, HL, HH)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dirty="0"/>
              <a:t> Advantages:</a:t>
            </a:r>
            <a:endParaRPr lang="en-US" sz="2800" dirty="0"/>
          </a:p>
          <a:p>
            <a:pPr lvl="2"/>
            <a:r>
              <a:rPr lang="en-US" sz="2000" dirty="0"/>
              <a:t>Multi-resolution representation</a:t>
            </a:r>
          </a:p>
          <a:p>
            <a:pPr lvl="2"/>
            <a:r>
              <a:rPr lang="en-US" sz="2000" dirty="0">
                <a:solidFill>
                  <a:srgbClr val="C00000"/>
                </a:solidFill>
              </a:rPr>
              <a:t>Good time-frequency localization</a:t>
            </a:r>
          </a:p>
          <a:p>
            <a:pPr lvl="2"/>
            <a:r>
              <a:rPr lang="en-US" sz="2000" dirty="0">
                <a:solidFill>
                  <a:srgbClr val="C00000"/>
                </a:solidFill>
              </a:rPr>
              <a:t>Compatible with JPEG2000</a:t>
            </a:r>
          </a:p>
          <a:p>
            <a:pPr lvl="2"/>
            <a:r>
              <a:rPr lang="en-US" sz="2000" dirty="0"/>
              <a:t>Excellent for texture analysis</a:t>
            </a:r>
          </a:p>
          <a:p>
            <a:pPr lvl="2"/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FD5CF-4923-44C4-22C5-D886C57F7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7707D-8FAF-0490-A785-80FBBDAF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254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4AD5-D28B-7D0B-D6B0-86E6CADE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3CCA5-DE7A-E45C-2890-6B14A6F2F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C36134-E9E8-6832-5821-81A4FAFF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8B3D0-5DFC-0486-D633-25FD3BEA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2CD66A-AAC4-1F39-1544-9C6F1F8AB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831" y="2745606"/>
            <a:ext cx="4524623" cy="2795074"/>
          </a:xfrm>
          <a:prstGeom prst="rect">
            <a:avLst/>
          </a:prstGeom>
        </p:spPr>
      </p:pic>
      <p:pic>
        <p:nvPicPr>
          <p:cNvPr id="14" name="Picture 13" descr="A collage of images of a person&#10;&#10;AI-generated content may be incorrect.">
            <a:extLst>
              <a:ext uri="{FF2B5EF4-FFF2-40B4-BE49-F238E27FC236}">
                <a16:creationId xmlns:a16="http://schemas.microsoft.com/office/drawing/2014/main" id="{963FDADE-975F-11E1-60B9-8EE92663A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80" y="1897378"/>
            <a:ext cx="6764351" cy="449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82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B8E0-2CCB-DAA3-380F-7F08FD58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6428-8152-0C41-DF73-ED1050D77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A5E2F-7FBD-A35B-01B1-246A2B88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B76D3-5E64-5D2B-D4D3-6D39DC04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439243-747F-C9F3-7AEC-5146F3E41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57" y="1758012"/>
            <a:ext cx="6232072" cy="22862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722BBD-BAF8-2E3D-3387-7CB70C277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02" y="4073942"/>
            <a:ext cx="6064827" cy="2286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4A36CE-6073-7ECB-2C58-2C9600425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6026" y="2724884"/>
            <a:ext cx="2705478" cy="2638793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C42DEC1B-5B14-888A-7756-91687C007D51}"/>
              </a:ext>
            </a:extLst>
          </p:cNvPr>
          <p:cNvSpPr/>
          <p:nvPr/>
        </p:nvSpPr>
        <p:spPr>
          <a:xfrm>
            <a:off x="7004129" y="2901146"/>
            <a:ext cx="397210" cy="2379845"/>
          </a:xfrm>
          <a:prstGeom prst="rightBrace">
            <a:avLst>
              <a:gd name="adj1" fmla="val 73391"/>
              <a:gd name="adj2" fmla="val 50836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7AF39B-4134-208E-0C00-55AFBA3DC481}"/>
              </a:ext>
            </a:extLst>
          </p:cNvPr>
          <p:cNvCxnSpPr>
            <a:cxnSpLocks/>
          </p:cNvCxnSpPr>
          <p:nvPr/>
        </p:nvCxnSpPr>
        <p:spPr>
          <a:xfrm>
            <a:off x="7401339" y="4109569"/>
            <a:ext cx="1152939" cy="104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3C5EAC2-C2B2-565B-9387-9B503DA7272D}"/>
              </a:ext>
            </a:extLst>
          </p:cNvPr>
          <p:cNvSpPr txBox="1"/>
          <p:nvPr/>
        </p:nvSpPr>
        <p:spPr>
          <a:xfrm>
            <a:off x="7401339" y="3743739"/>
            <a:ext cx="974035" cy="37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Fusion</a:t>
            </a:r>
          </a:p>
        </p:txBody>
      </p:sp>
    </p:spTree>
    <p:extLst>
      <p:ext uri="{BB962C8B-B14F-4D97-AF65-F5344CB8AC3E}">
        <p14:creationId xmlns:p14="http://schemas.microsoft.com/office/powerpoint/2010/main" val="2255231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D20D1-EDE5-F1A9-9765-D3DB49B75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3589-7D2F-3B4A-5B3C-A1A1DC81D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987C57-BE82-7732-5309-1A37E70E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5EB7C-C6B0-E644-B56B-1F4872F9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DAB226-E8BE-7EFA-E0C7-2AD404B20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384" y="2718256"/>
            <a:ext cx="2705478" cy="2638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38D2E-BBA3-5F53-901F-4837719AC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350" y="2772105"/>
            <a:ext cx="2648320" cy="254353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47DCBD-D110-8188-99BC-9948838966AF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4380862" y="4037653"/>
            <a:ext cx="3043488" cy="62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812F62-1352-1A10-EBD3-4CAC096AB2B4}"/>
              </a:ext>
            </a:extLst>
          </p:cNvPr>
          <p:cNvSpPr txBox="1"/>
          <p:nvPr/>
        </p:nvSpPr>
        <p:spPr>
          <a:xfrm>
            <a:off x="5290931" y="3681573"/>
            <a:ext cx="1000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IWDT</a:t>
            </a:r>
          </a:p>
        </p:txBody>
      </p:sp>
    </p:spTree>
    <p:extLst>
      <p:ext uri="{BB962C8B-B14F-4D97-AF65-F5344CB8AC3E}">
        <p14:creationId xmlns:p14="http://schemas.microsoft.com/office/powerpoint/2010/main" val="3173343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812A-6141-AECB-A374-61D1689A0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8F65-05B2-727A-983A-73D73449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DF479-AAD8-F2D7-29F8-FD57DC1E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3ED48-0E7A-E4E3-54A2-9534736C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595AE4-128D-0D3A-2968-710CEE11E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563" y="1809880"/>
            <a:ext cx="5833961" cy="22088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ADFC07-001E-4F46-17C2-5A34EEBC8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127" y="3966824"/>
            <a:ext cx="5740102" cy="2349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63032E-82C5-14FA-A3ED-A8873DADB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6026" y="2749724"/>
            <a:ext cx="2705478" cy="2589113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145C2E46-7FA3-077E-BB29-947787EA854B}"/>
              </a:ext>
            </a:extLst>
          </p:cNvPr>
          <p:cNvSpPr/>
          <p:nvPr/>
        </p:nvSpPr>
        <p:spPr>
          <a:xfrm>
            <a:off x="7004129" y="2901146"/>
            <a:ext cx="397210" cy="2379845"/>
          </a:xfrm>
          <a:prstGeom prst="rightBrace">
            <a:avLst>
              <a:gd name="adj1" fmla="val 73391"/>
              <a:gd name="adj2" fmla="val 50836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EDF809-E917-0C39-F1B5-51EE48841679}"/>
              </a:ext>
            </a:extLst>
          </p:cNvPr>
          <p:cNvCxnSpPr>
            <a:cxnSpLocks/>
          </p:cNvCxnSpPr>
          <p:nvPr/>
        </p:nvCxnSpPr>
        <p:spPr>
          <a:xfrm>
            <a:off x="7401339" y="4109569"/>
            <a:ext cx="1152939" cy="104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6DC74A-32CD-157F-ADD2-74EA0FEF5950}"/>
              </a:ext>
            </a:extLst>
          </p:cNvPr>
          <p:cNvSpPr txBox="1"/>
          <p:nvPr/>
        </p:nvSpPr>
        <p:spPr>
          <a:xfrm>
            <a:off x="7401339" y="3743739"/>
            <a:ext cx="974035" cy="37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Fusion</a:t>
            </a:r>
          </a:p>
        </p:txBody>
      </p:sp>
    </p:spTree>
    <p:extLst>
      <p:ext uri="{BB962C8B-B14F-4D97-AF65-F5344CB8AC3E}">
        <p14:creationId xmlns:p14="http://schemas.microsoft.com/office/powerpoint/2010/main" val="1604101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2EBA6-13E8-CFC0-3A06-840060F54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9117C-8264-4CC7-23DE-C32913F0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C820BE-C976-A33B-97ED-F4F512F41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0DEB8-6EC1-1055-CCA5-79F0C0F2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98BC32-E85C-E714-BFD3-054441C8C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384" y="2742801"/>
            <a:ext cx="2705478" cy="25897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0071E9-51A2-B13E-1F11-66C2151C5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4350" y="2789895"/>
            <a:ext cx="2648320" cy="250794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AB6A1E-8EC1-7DC8-E4A7-0DD8F822EB49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4380862" y="4037653"/>
            <a:ext cx="3043488" cy="62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B5286C-FA85-3A30-564C-850586D9CB0F}"/>
              </a:ext>
            </a:extLst>
          </p:cNvPr>
          <p:cNvSpPr txBox="1"/>
          <p:nvPr/>
        </p:nvSpPr>
        <p:spPr>
          <a:xfrm>
            <a:off x="5290931" y="3681573"/>
            <a:ext cx="1000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IWDT</a:t>
            </a:r>
          </a:p>
        </p:txBody>
      </p:sp>
    </p:spTree>
    <p:extLst>
      <p:ext uri="{BB962C8B-B14F-4D97-AF65-F5344CB8AC3E}">
        <p14:creationId xmlns:p14="http://schemas.microsoft.com/office/powerpoint/2010/main" val="94262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25E49-CBB6-1187-F9FA-93EF9548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A25FEF-9732-6E70-78DA-2B0A1B6C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Information Hiding, Shiraz university of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D3409C-8C53-EB0B-469C-F5F24DD8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z="1400" smtClean="0"/>
              <a:t>19</a:t>
            </a:fld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E5269-4FF6-5778-AD0A-39DDB2F88D2E}"/>
              </a:ext>
            </a:extLst>
          </p:cNvPr>
          <p:cNvSpPr txBox="1"/>
          <p:nvPr/>
        </p:nvSpPr>
        <p:spPr>
          <a:xfrm>
            <a:off x="2030895" y="2767280"/>
            <a:ext cx="81302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Watermarking Techniques in Transform Domain</a:t>
            </a:r>
          </a:p>
        </p:txBody>
      </p:sp>
    </p:spTree>
    <p:extLst>
      <p:ext uri="{BB962C8B-B14F-4D97-AF65-F5344CB8AC3E}">
        <p14:creationId xmlns:p14="http://schemas.microsoft.com/office/powerpoint/2010/main" val="3745694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9598-0B7E-9DED-E25A-7F6252EA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96D8-6566-E471-057F-89E280E0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LSB-Based Methods in Transform Domain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659B6-33A0-8513-C2E5-A2705A383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5994E-CA2D-8436-F9EF-929D6286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51265-9E09-3E4F-1617-8D39E2D3A750}"/>
              </a:ext>
            </a:extLst>
          </p:cNvPr>
          <p:cNvSpPr txBox="1"/>
          <p:nvPr/>
        </p:nvSpPr>
        <p:spPr>
          <a:xfrm>
            <a:off x="1024127" y="2273968"/>
            <a:ext cx="78672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Block-Based Procedure:</a:t>
            </a:r>
            <a:endParaRPr lang="en-US" dirty="0"/>
          </a:p>
          <a:p>
            <a:r>
              <a:rPr lang="en-US" dirty="0"/>
              <a:t>	1. Divide image into 8×8 blocks</a:t>
            </a:r>
          </a:p>
          <a:p>
            <a:r>
              <a:rPr lang="en-US" dirty="0"/>
              <a:t>	2. Apply transform (DCT/DFT/DWT) to each block</a:t>
            </a:r>
          </a:p>
          <a:p>
            <a:r>
              <a:rPr lang="en-US" dirty="0"/>
              <a:t>	3. Modify LSBs of selected coefficients</a:t>
            </a:r>
          </a:p>
          <a:p>
            <a:r>
              <a:rPr lang="en-US" dirty="0"/>
              <a:t>	4. Apply inverse transform</a:t>
            </a:r>
          </a:p>
          <a:p>
            <a:r>
              <a:rPr lang="en-US" dirty="0"/>
              <a:t>	5. Reconstruct watermarked image</a:t>
            </a: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A01DEA-D5E6-2AB3-136D-CE91CE8AF9AD}"/>
              </a:ext>
            </a:extLst>
          </p:cNvPr>
          <p:cNvCxnSpPr/>
          <p:nvPr/>
        </p:nvCxnSpPr>
        <p:spPr>
          <a:xfrm>
            <a:off x="1252679" y="5246990"/>
            <a:ext cx="854242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4F6A4FF-D29E-9308-6911-886084DB5258}"/>
              </a:ext>
            </a:extLst>
          </p:cNvPr>
          <p:cNvSpPr/>
          <p:nvPr/>
        </p:nvSpPr>
        <p:spPr>
          <a:xfrm>
            <a:off x="2106921" y="4822920"/>
            <a:ext cx="2279549" cy="8481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5DCFB-BA2F-184E-010A-E1F12E209638}"/>
              </a:ext>
            </a:extLst>
          </p:cNvPr>
          <p:cNvSpPr txBox="1"/>
          <p:nvPr/>
        </p:nvSpPr>
        <p:spPr>
          <a:xfrm>
            <a:off x="2497947" y="5024548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Encoding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8FE4D-C7EC-AB08-FF0C-4E2D6CECF436}"/>
              </a:ext>
            </a:extLst>
          </p:cNvPr>
          <p:cNvCxnSpPr/>
          <p:nvPr/>
        </p:nvCxnSpPr>
        <p:spPr>
          <a:xfrm>
            <a:off x="4386470" y="5246989"/>
            <a:ext cx="854242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282D96-B13F-C884-F2FC-74137D0A373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246696" y="4577795"/>
            <a:ext cx="0" cy="2451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26306A4-EF0C-323B-9F4A-C6C9A93BF2A6}"/>
              </a:ext>
            </a:extLst>
          </p:cNvPr>
          <p:cNvSpPr txBox="1"/>
          <p:nvPr/>
        </p:nvSpPr>
        <p:spPr>
          <a:xfrm>
            <a:off x="2812686" y="4234512"/>
            <a:ext cx="86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KEY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0E1595-FCC8-A6B4-719A-DC6CC291A5B2}"/>
              </a:ext>
            </a:extLst>
          </p:cNvPr>
          <p:cNvSpPr txBox="1"/>
          <p:nvPr/>
        </p:nvSpPr>
        <p:spPr>
          <a:xfrm>
            <a:off x="531133" y="4877657"/>
            <a:ext cx="1443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Watermark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0F03939-54B6-D4A7-5FBF-394A514E4047}"/>
              </a:ext>
            </a:extLst>
          </p:cNvPr>
          <p:cNvGrpSpPr/>
          <p:nvPr/>
        </p:nvGrpSpPr>
        <p:grpSpPr>
          <a:xfrm>
            <a:off x="7163992" y="2431288"/>
            <a:ext cx="2091462" cy="1887258"/>
            <a:chOff x="6885696" y="2891143"/>
            <a:chExt cx="2091462" cy="188725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8E6BC54-7F45-000A-5AD7-586EBBDBD03C}"/>
                </a:ext>
              </a:extLst>
            </p:cNvPr>
            <p:cNvGrpSpPr/>
            <p:nvPr/>
          </p:nvGrpSpPr>
          <p:grpSpPr>
            <a:xfrm>
              <a:off x="6885696" y="2891143"/>
              <a:ext cx="2091462" cy="775032"/>
              <a:chOff x="6308035" y="3220451"/>
              <a:chExt cx="2091462" cy="775032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3D03E84-96CC-7694-1184-981541C92813}"/>
                  </a:ext>
                </a:extLst>
              </p:cNvPr>
              <p:cNvSpPr/>
              <p:nvPr/>
            </p:nvSpPr>
            <p:spPr>
              <a:xfrm>
                <a:off x="6447183" y="3220451"/>
                <a:ext cx="1822173" cy="7750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E8C440-4654-B63B-DF9F-E71E80C04952}"/>
                  </a:ext>
                </a:extLst>
              </p:cNvPr>
              <p:cNvSpPr txBox="1"/>
              <p:nvPr/>
            </p:nvSpPr>
            <p:spPr>
              <a:xfrm>
                <a:off x="6308035" y="3402668"/>
                <a:ext cx="20914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Host Image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9B6D5B-CFEC-C23E-FE46-8989F67AC3B0}"/>
                </a:ext>
              </a:extLst>
            </p:cNvPr>
            <p:cNvSpPr/>
            <p:nvPr/>
          </p:nvSpPr>
          <p:spPr>
            <a:xfrm>
              <a:off x="6961896" y="4160526"/>
              <a:ext cx="1952314" cy="6178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0A211CA0-EECF-8AC7-1CF6-B90B995C4873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 rot="16200000" flipH="1">
              <a:off x="7689817" y="3912289"/>
              <a:ext cx="494351" cy="2122"/>
            </a:xfrm>
            <a:prstGeom prst="bentConnector3">
              <a:avLst>
                <a:gd name="adj1" fmla="val 50000"/>
              </a:avLst>
            </a:prstGeom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8B12596-0737-2A49-379A-71DE7902AB4F}"/>
                </a:ext>
              </a:extLst>
            </p:cNvPr>
            <p:cNvSpPr txBox="1"/>
            <p:nvPr/>
          </p:nvSpPr>
          <p:spPr>
            <a:xfrm>
              <a:off x="7022056" y="4280901"/>
              <a:ext cx="18319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Block-Based DCT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75C9D12-9B3F-D423-A2A2-A581A4735EA9}"/>
              </a:ext>
            </a:extLst>
          </p:cNvPr>
          <p:cNvGrpSpPr/>
          <p:nvPr/>
        </p:nvGrpSpPr>
        <p:grpSpPr>
          <a:xfrm>
            <a:off x="5240712" y="4769477"/>
            <a:ext cx="1952314" cy="955023"/>
            <a:chOff x="5599043" y="4809667"/>
            <a:chExt cx="1952314" cy="95502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A53EC51-712C-1388-2B15-F7EFD5C756F9}"/>
                </a:ext>
              </a:extLst>
            </p:cNvPr>
            <p:cNvSpPr/>
            <p:nvPr/>
          </p:nvSpPr>
          <p:spPr>
            <a:xfrm>
              <a:off x="5599043" y="4809667"/>
              <a:ext cx="1952314" cy="95502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52C4F4-DD54-665E-0E71-0F52EC6B2655}"/>
                </a:ext>
              </a:extLst>
            </p:cNvPr>
            <p:cNvSpPr txBox="1"/>
            <p:nvPr/>
          </p:nvSpPr>
          <p:spPr>
            <a:xfrm>
              <a:off x="5819230" y="5102512"/>
              <a:ext cx="1511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Change LSB</a:t>
              </a:r>
            </a:p>
          </p:txBody>
        </p:sp>
      </p:grp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D901EA0-E89D-9C0E-5649-9AB1FFB98EE2}"/>
              </a:ext>
            </a:extLst>
          </p:cNvPr>
          <p:cNvCxnSpPr>
            <a:stCxn id="15" idx="2"/>
            <a:endCxn id="30" idx="0"/>
          </p:cNvCxnSpPr>
          <p:nvPr/>
        </p:nvCxnSpPr>
        <p:spPr>
          <a:xfrm rot="5400000">
            <a:off x="6991144" y="3544271"/>
            <a:ext cx="450931" cy="1999480"/>
          </a:xfrm>
          <a:prstGeom prst="bentConnector3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1FF2A5-E51C-4F7A-EB6C-CD19E8A76813}"/>
              </a:ext>
            </a:extLst>
          </p:cNvPr>
          <p:cNvCxnSpPr/>
          <p:nvPr/>
        </p:nvCxnSpPr>
        <p:spPr>
          <a:xfrm>
            <a:off x="7193026" y="5246988"/>
            <a:ext cx="854242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92BD996-BCE8-6AE5-1170-88D22ED138C0}"/>
              </a:ext>
            </a:extLst>
          </p:cNvPr>
          <p:cNvSpPr/>
          <p:nvPr/>
        </p:nvSpPr>
        <p:spPr>
          <a:xfrm>
            <a:off x="8047268" y="4740685"/>
            <a:ext cx="1952314" cy="10126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03C3EA-AC90-A8C3-B9BD-BF79269E2E74}"/>
              </a:ext>
            </a:extLst>
          </p:cNvPr>
          <p:cNvSpPr txBox="1"/>
          <p:nvPr/>
        </p:nvSpPr>
        <p:spPr>
          <a:xfrm>
            <a:off x="8261425" y="4785323"/>
            <a:ext cx="152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Inverse</a:t>
            </a:r>
          </a:p>
          <a:p>
            <a:pPr algn="ctr"/>
            <a:r>
              <a:rPr lang="en-US" b="1" dirty="0"/>
              <a:t>Block-Based DCT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989D563-C3C6-C814-D755-49D81697B36F}"/>
              </a:ext>
            </a:extLst>
          </p:cNvPr>
          <p:cNvCxnSpPr/>
          <p:nvPr/>
        </p:nvCxnSpPr>
        <p:spPr>
          <a:xfrm>
            <a:off x="9999582" y="5252741"/>
            <a:ext cx="854242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80AFA59-0BA4-792E-E670-315A2B1CF014}"/>
              </a:ext>
            </a:extLst>
          </p:cNvPr>
          <p:cNvSpPr txBox="1"/>
          <p:nvPr/>
        </p:nvSpPr>
        <p:spPr>
          <a:xfrm>
            <a:off x="10055085" y="4785323"/>
            <a:ext cx="2471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Watermarked</a:t>
            </a:r>
          </a:p>
          <a:p>
            <a:pPr algn="ctr"/>
            <a:r>
              <a:rPr lang="en-US" b="1" dirty="0"/>
              <a:t> Image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084651-AA65-A361-3A1E-0E5883808F95}"/>
              </a:ext>
            </a:extLst>
          </p:cNvPr>
          <p:cNvSpPr txBox="1"/>
          <p:nvPr/>
        </p:nvSpPr>
        <p:spPr>
          <a:xfrm>
            <a:off x="8978616" y="1605258"/>
            <a:ext cx="32233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Modes:</a:t>
            </a:r>
          </a:p>
          <a:p>
            <a:r>
              <a:rPr lang="en-US" dirty="0"/>
              <a:t>	1) Embed one bit at one 	DCT Coefficient.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2) Embed one bit at one 	DCT Coefficient after 	quantization.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3) Embed one bit per DCT 	Block.</a:t>
            </a:r>
          </a:p>
        </p:txBody>
      </p:sp>
    </p:spTree>
    <p:extLst>
      <p:ext uri="{BB962C8B-B14F-4D97-AF65-F5344CB8AC3E}">
        <p14:creationId xmlns:p14="http://schemas.microsoft.com/office/powerpoint/2010/main" val="1428632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C9444-DB01-1EA4-C4F9-3BDFFBC6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1D4F-B7B1-DF14-21FE-DD17F313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LSB-Based Methods in Transform Domain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98DB0-8D59-245B-B449-1F956E42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E5432-C76D-D041-0F13-E606C5EA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822362-2E17-338A-58C2-E092DD6E9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700" y="3616037"/>
            <a:ext cx="8970322" cy="206114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222B22A8-A31B-69B7-88F7-F892297118B8}"/>
              </a:ext>
            </a:extLst>
          </p:cNvPr>
          <p:cNvSpPr/>
          <p:nvPr/>
        </p:nvSpPr>
        <p:spPr>
          <a:xfrm>
            <a:off x="2261712" y="3699166"/>
            <a:ext cx="587423" cy="280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C3B2D5-889D-97DE-120D-A09840237B13}"/>
              </a:ext>
            </a:extLst>
          </p:cNvPr>
          <p:cNvCxnSpPr>
            <a:cxnSpLocks/>
          </p:cNvCxnSpPr>
          <p:nvPr/>
        </p:nvCxnSpPr>
        <p:spPr>
          <a:xfrm flipV="1">
            <a:off x="2555423" y="3133360"/>
            <a:ext cx="94847" cy="56580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34F77BC-51F8-7550-815A-72353EAF3444}"/>
              </a:ext>
            </a:extLst>
          </p:cNvPr>
          <p:cNvSpPr txBox="1"/>
          <p:nvPr/>
        </p:nvSpPr>
        <p:spPr>
          <a:xfrm>
            <a:off x="1776191" y="2764028"/>
            <a:ext cx="17481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010000000010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EEA1BF-14BE-24FE-492D-58373F9AF0D3}"/>
              </a:ext>
            </a:extLst>
          </p:cNvPr>
          <p:cNvSpPr/>
          <p:nvPr/>
        </p:nvSpPr>
        <p:spPr>
          <a:xfrm>
            <a:off x="9259653" y="3844637"/>
            <a:ext cx="587423" cy="40524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3E914E-7EC7-01DB-F3FF-2B796161A497}"/>
              </a:ext>
            </a:extLst>
          </p:cNvPr>
          <p:cNvSpPr txBox="1"/>
          <p:nvPr/>
        </p:nvSpPr>
        <p:spPr>
          <a:xfrm>
            <a:off x="8701309" y="2773464"/>
            <a:ext cx="170410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010000000011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D255E7-DB62-B4DB-5CD7-C18A4746680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3524349" y="2948694"/>
            <a:ext cx="5176960" cy="943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214639-444E-7F7F-EC4C-2CF8B8C1C901}"/>
              </a:ext>
            </a:extLst>
          </p:cNvPr>
          <p:cNvCxnSpPr>
            <a:cxnSpLocks/>
            <a:stCxn id="22" idx="2"/>
            <a:endCxn id="19" idx="0"/>
          </p:cNvCxnSpPr>
          <p:nvPr/>
        </p:nvCxnSpPr>
        <p:spPr>
          <a:xfrm>
            <a:off x="9553364" y="3142796"/>
            <a:ext cx="1" cy="70184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54F175B-C332-2DC5-4350-68F206139B8E}"/>
              </a:ext>
            </a:extLst>
          </p:cNvPr>
          <p:cNvSpPr txBox="1"/>
          <p:nvPr/>
        </p:nvSpPr>
        <p:spPr>
          <a:xfrm>
            <a:off x="4095792" y="2594448"/>
            <a:ext cx="340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Change LSB to Embed bit 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808198F-032A-9262-800D-0A11BF180ADA}"/>
              </a:ext>
            </a:extLst>
          </p:cNvPr>
          <p:cNvSpPr/>
          <p:nvPr/>
        </p:nvSpPr>
        <p:spPr>
          <a:xfrm>
            <a:off x="6231040" y="5164282"/>
            <a:ext cx="322118" cy="5128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27F7345-DB87-2130-FA05-D01B66AC102E}"/>
              </a:ext>
            </a:extLst>
          </p:cNvPr>
          <p:cNvCxnSpPr>
            <a:stCxn id="44" idx="0"/>
            <a:endCxn id="37" idx="2"/>
          </p:cNvCxnSpPr>
          <p:nvPr/>
        </p:nvCxnSpPr>
        <p:spPr>
          <a:xfrm flipH="1" flipV="1">
            <a:off x="5799901" y="2963780"/>
            <a:ext cx="592198" cy="22005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1D68B7-E1BC-3EBA-C222-A05888F2A58B}"/>
              </a:ext>
            </a:extLst>
          </p:cNvPr>
          <p:cNvCxnSpPr/>
          <p:nvPr/>
        </p:nvCxnSpPr>
        <p:spPr>
          <a:xfrm>
            <a:off x="1939594" y="3054928"/>
            <a:ext cx="10390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910E973-CA13-038E-E826-F6A49037ED4A}"/>
              </a:ext>
            </a:extLst>
          </p:cNvPr>
          <p:cNvCxnSpPr/>
          <p:nvPr/>
        </p:nvCxnSpPr>
        <p:spPr>
          <a:xfrm flipH="1">
            <a:off x="1734627" y="3054928"/>
            <a:ext cx="267312" cy="353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3CA24C3-E0C6-2C50-B32D-8DB8CD2F8493}"/>
              </a:ext>
            </a:extLst>
          </p:cNvPr>
          <p:cNvSpPr txBox="1"/>
          <p:nvPr/>
        </p:nvSpPr>
        <p:spPr>
          <a:xfrm>
            <a:off x="1138196" y="3408219"/>
            <a:ext cx="68856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Sign</a:t>
            </a:r>
          </a:p>
        </p:txBody>
      </p:sp>
    </p:spTree>
    <p:extLst>
      <p:ext uri="{BB962C8B-B14F-4D97-AF65-F5344CB8AC3E}">
        <p14:creationId xmlns:p14="http://schemas.microsoft.com/office/powerpoint/2010/main" val="2722506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290BA-95BC-ACD2-20CC-DAB631D8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087F8-DCAB-0718-207B-9C51D14B1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LSB-Based Methods in Transform Domain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DC7FA-8D01-E6A3-FAA3-A85C7DBB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12F73-2241-AEF1-6024-74B7CFEF5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A6284-4B35-8A0D-C030-7EB3609DD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700" y="3616037"/>
            <a:ext cx="8970322" cy="206114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02715E8-DB23-B9B4-7BA5-1BD90C3D88C8}"/>
              </a:ext>
            </a:extLst>
          </p:cNvPr>
          <p:cNvSpPr/>
          <p:nvPr/>
        </p:nvSpPr>
        <p:spPr>
          <a:xfrm>
            <a:off x="2827097" y="3699166"/>
            <a:ext cx="210500" cy="280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4CC544-E5C1-3228-DC4F-777154601746}"/>
              </a:ext>
            </a:extLst>
          </p:cNvPr>
          <p:cNvCxnSpPr>
            <a:cxnSpLocks/>
          </p:cNvCxnSpPr>
          <p:nvPr/>
        </p:nvCxnSpPr>
        <p:spPr>
          <a:xfrm flipH="1" flipV="1">
            <a:off x="2650270" y="3133360"/>
            <a:ext cx="282077" cy="56580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ADD0EA-0933-41DA-031F-5D0D519E3F03}"/>
              </a:ext>
            </a:extLst>
          </p:cNvPr>
          <p:cNvSpPr txBox="1"/>
          <p:nvPr/>
        </p:nvSpPr>
        <p:spPr>
          <a:xfrm>
            <a:off x="2328150" y="2782946"/>
            <a:ext cx="6972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1100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63EC78-666F-77FD-0791-2BD1AFC1C77C}"/>
              </a:ext>
            </a:extLst>
          </p:cNvPr>
          <p:cNvSpPr/>
          <p:nvPr/>
        </p:nvSpPr>
        <p:spPr>
          <a:xfrm>
            <a:off x="9794526" y="3841819"/>
            <a:ext cx="328729" cy="40524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70A4DA-5E28-90DC-1A5B-A9795A8B53AA}"/>
              </a:ext>
            </a:extLst>
          </p:cNvPr>
          <p:cNvSpPr txBox="1"/>
          <p:nvPr/>
        </p:nvSpPr>
        <p:spPr>
          <a:xfrm>
            <a:off x="8701309" y="2773464"/>
            <a:ext cx="170410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1100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8895A5-6F22-E964-03F2-86C0E381F129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 flipV="1">
            <a:off x="3025402" y="2958130"/>
            <a:ext cx="5675907" cy="948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DB8A06-E93D-45FE-F6A5-6BB521DF566F}"/>
              </a:ext>
            </a:extLst>
          </p:cNvPr>
          <p:cNvCxnSpPr>
            <a:cxnSpLocks/>
            <a:stCxn id="22" idx="2"/>
            <a:endCxn id="19" idx="0"/>
          </p:cNvCxnSpPr>
          <p:nvPr/>
        </p:nvCxnSpPr>
        <p:spPr>
          <a:xfrm>
            <a:off x="9553364" y="3142796"/>
            <a:ext cx="405527" cy="69902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3AB4C3C-0E45-53BD-322B-4C3B2728B12A}"/>
              </a:ext>
            </a:extLst>
          </p:cNvPr>
          <p:cNvSpPr txBox="1"/>
          <p:nvPr/>
        </p:nvSpPr>
        <p:spPr>
          <a:xfrm>
            <a:off x="4095792" y="2594448"/>
            <a:ext cx="340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Change LSB to Embed bit 0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B2310AD-064C-DF00-1471-B2F93B03084A}"/>
              </a:ext>
            </a:extLst>
          </p:cNvPr>
          <p:cNvSpPr/>
          <p:nvPr/>
        </p:nvSpPr>
        <p:spPr>
          <a:xfrm>
            <a:off x="6404348" y="5164282"/>
            <a:ext cx="322118" cy="5128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3D47D2E-05B5-89EE-E9FB-92B5D22EFEC5}"/>
              </a:ext>
            </a:extLst>
          </p:cNvPr>
          <p:cNvCxnSpPr>
            <a:cxnSpLocks/>
          </p:cNvCxnSpPr>
          <p:nvPr/>
        </p:nvCxnSpPr>
        <p:spPr>
          <a:xfrm flipH="1" flipV="1">
            <a:off x="5929248" y="2967612"/>
            <a:ext cx="592198" cy="22005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154FA73-6AA2-D5E8-8931-07B3BF6F54BC}"/>
              </a:ext>
            </a:extLst>
          </p:cNvPr>
          <p:cNvCxnSpPr/>
          <p:nvPr/>
        </p:nvCxnSpPr>
        <p:spPr>
          <a:xfrm>
            <a:off x="2438361" y="3096491"/>
            <a:ext cx="10390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A970533-08BB-67AC-CF24-97CDB9F31E5E}"/>
              </a:ext>
            </a:extLst>
          </p:cNvPr>
          <p:cNvCxnSpPr>
            <a:cxnSpLocks/>
          </p:cNvCxnSpPr>
          <p:nvPr/>
        </p:nvCxnSpPr>
        <p:spPr>
          <a:xfrm flipH="1">
            <a:off x="1798398" y="3096491"/>
            <a:ext cx="702308" cy="311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96BA2B1-BDF1-7AED-EA81-2497DEB478F6}"/>
              </a:ext>
            </a:extLst>
          </p:cNvPr>
          <p:cNvSpPr txBox="1"/>
          <p:nvPr/>
        </p:nvSpPr>
        <p:spPr>
          <a:xfrm>
            <a:off x="1138196" y="3408219"/>
            <a:ext cx="68856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Sign</a:t>
            </a:r>
          </a:p>
        </p:txBody>
      </p:sp>
    </p:spTree>
    <p:extLst>
      <p:ext uri="{BB962C8B-B14F-4D97-AF65-F5344CB8AC3E}">
        <p14:creationId xmlns:p14="http://schemas.microsoft.com/office/powerpoint/2010/main" val="737270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150D-511C-D428-56BC-EF168783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619C-1388-853F-FFB6-EA786968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LSB-Based Methods in Transform Domain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A30CC-3176-6C29-EFAF-0BD102E4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649C6-D294-77FE-9B25-2C7BFE63B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3E45F-3CDB-B048-1488-847E656A529E}"/>
              </a:ext>
            </a:extLst>
          </p:cNvPr>
          <p:cNvSpPr txBox="1"/>
          <p:nvPr/>
        </p:nvSpPr>
        <p:spPr>
          <a:xfrm>
            <a:off x="1014165" y="2612184"/>
            <a:ext cx="52307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Advantages</a:t>
            </a:r>
            <a:r>
              <a:rPr lang="en-US" sz="2000" dirty="0"/>
              <a:t>:</a:t>
            </a:r>
          </a:p>
          <a:p>
            <a:r>
              <a:rPr lang="en-US" sz="2000" dirty="0"/>
              <a:t>	Simple implementation</a:t>
            </a:r>
          </a:p>
          <a:p>
            <a:r>
              <a:rPr lang="en-US" sz="2000" dirty="0"/>
              <a:t>	Low computational complexity</a:t>
            </a:r>
          </a:p>
          <a:p>
            <a:r>
              <a:rPr lang="en-US" sz="2000" dirty="0"/>
              <a:t>	Maintains statistical properties locally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Disadvantages</a:t>
            </a:r>
            <a:r>
              <a:rPr lang="en-US" sz="2000" dirty="0"/>
              <a:t>:</a:t>
            </a:r>
          </a:p>
          <a:p>
            <a:r>
              <a:rPr lang="en-US" sz="2000" dirty="0"/>
              <a:t>	Limited robustness</a:t>
            </a:r>
          </a:p>
          <a:p>
            <a:r>
              <a:rPr lang="en-US" sz="2000" dirty="0"/>
              <a:t>	Vulnerable to requantization</a:t>
            </a:r>
          </a:p>
          <a:p>
            <a:r>
              <a:rPr lang="en-US" sz="2000" dirty="0"/>
              <a:t>	Block artifacts possible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A9144E-65BD-0E3B-6AF9-294C826CC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973" y="2324347"/>
            <a:ext cx="2715004" cy="3781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205D0A-6A6B-B30E-7479-4E44440DE9F3}"/>
              </a:ext>
            </a:extLst>
          </p:cNvPr>
          <p:cNvSpPr txBox="1"/>
          <p:nvPr/>
        </p:nvSpPr>
        <p:spPr>
          <a:xfrm>
            <a:off x="7944977" y="2612184"/>
            <a:ext cx="3889664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It can also be done in global frequency domain.</a:t>
            </a:r>
          </a:p>
          <a:p>
            <a:r>
              <a:rPr lang="en-US" b="1" dirty="0"/>
              <a:t>	</a:t>
            </a:r>
          </a:p>
          <a:p>
            <a:r>
              <a:rPr lang="en-US" b="1" dirty="0"/>
              <a:t>	1) Convert image to the global 	frequency domain</a:t>
            </a:r>
          </a:p>
          <a:p>
            <a:endParaRPr lang="en-US" b="1" dirty="0"/>
          </a:p>
          <a:p>
            <a:r>
              <a:rPr lang="en-US" b="1" dirty="0"/>
              <a:t>	2) Select some band for 	embedding coefficients</a:t>
            </a:r>
          </a:p>
          <a:p>
            <a:endParaRPr lang="en-US" b="1" dirty="0"/>
          </a:p>
          <a:p>
            <a:r>
              <a:rPr lang="en-US" b="1" dirty="0"/>
              <a:t>	3) Change the Least Significant Bit 	of the selected bands</a:t>
            </a:r>
          </a:p>
        </p:txBody>
      </p:sp>
    </p:spTree>
    <p:extLst>
      <p:ext uri="{BB962C8B-B14F-4D97-AF65-F5344CB8AC3E}">
        <p14:creationId xmlns:p14="http://schemas.microsoft.com/office/powerpoint/2010/main" val="1673926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5FF47-7536-CA60-FAB5-1B24D58C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C30C-530E-1CA6-49C0-EA1B633A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LSB-Based Methods – A comparison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CFC37-B8FC-0B29-BA90-044823D24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7B9C7-F8B7-20F4-E429-71B53FF4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544136-2727-EE7F-D8B1-019923F137E9}"/>
                  </a:ext>
                </a:extLst>
              </p:cNvPr>
              <p:cNvSpPr txBox="1"/>
              <p:nvPr/>
            </p:nvSpPr>
            <p:spPr>
              <a:xfrm>
                <a:off x="1014165" y="2084832"/>
                <a:ext cx="10276685" cy="4062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2000" b="1" dirty="0"/>
                  <a:t>Changing the LSB can be done in the spatial domain, block-based frequency domain, and global frequency domain. A comparison has been made regarding robustness, security, and capacity.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en-US" sz="2000" b="1" dirty="0"/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Robustness: </a:t>
                </a: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	</a:t>
                </a:r>
                <a:r>
                  <a:rPr lang="en-US" sz="2000" b="1" dirty="0"/>
                  <a:t>Watermarks are most robust in the DFT domain, as it incorporates global features. 	However, this can potentially compromise the quality of the host image.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𝒈𝒍𝒐𝒃𝒂𝒍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𝒇𝒓𝒆𝒒𝒖𝒆𝒏𝒄𝒚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𝒅𝒐𝒎𝒂𝒊𝒏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𝑩𝒍𝒐𝒄𝒌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𝑩𝒂𝒔𝒆𝒅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𝒇𝒓𝒆𝒒𝒖𝒆𝒏𝒄𝒚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𝒅𝒐𝒎𝒂𝒊𝒏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&gt;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𝑺𝒑𝒂𝒕𝒊𝒂𝒍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𝑫𝒐𝒎𝒂𝒊𝒏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Security: </a:t>
                </a:r>
              </a:p>
              <a:p>
                <a:r>
                  <a:rPr lang="en-US" sz="2000" b="1" dirty="0"/>
                  <a:t>	Watermarks are more secure in the DFT domain because it is a more complex domain 	compared to others.</a:t>
                </a: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Capacity:</a:t>
                </a:r>
              </a:p>
              <a:p>
                <a:r>
                  <a:rPr lang="en-US" sz="2000" b="1" dirty="0"/>
                  <a:t>	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𝑺𝒑𝒂𝒕𝒊𝒂𝒍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𝑫𝒐𝒎𝒂𝒊𝒏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𝑩𝒍𝒐𝒄𝒌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𝑩𝒂𝒔𝒆𝒅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𝒇𝒓𝒆𝒒𝒖𝒆𝒏𝒄𝒚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𝒅𝒐𝒎𝒂𝒊𝒏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𝒈𝒍𝒐𝒃𝒂𝒍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𝒇𝒓𝒆𝒒𝒖𝒆𝒏𝒄𝒚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𝒅𝒐𝒎𝒂𝒊𝒏</m:t>
                    </m:r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544136-2727-EE7F-D8B1-019923F13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65" y="2084832"/>
                <a:ext cx="10276685" cy="4062651"/>
              </a:xfrm>
              <a:prstGeom prst="rect">
                <a:avLst/>
              </a:prstGeom>
              <a:blipFill>
                <a:blip r:embed="rId2"/>
                <a:stretch>
                  <a:fillRect l="-593" t="-751" r="-474" b="-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895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4DFA6-6642-92A1-02C3-8670B863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AB9A-D9EB-A358-6942-CFCCC389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Substitution Methods in Transform Domain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D34D5F-0C33-5BAC-1E64-8723EC753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B38B4-11A1-7BF0-4A39-9D54DA34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33D906-2EEF-C221-D642-06AF184E1408}"/>
                  </a:ext>
                </a:extLst>
              </p:cNvPr>
              <p:cNvSpPr txBox="1"/>
              <p:nvPr/>
            </p:nvSpPr>
            <p:spPr>
              <a:xfrm>
                <a:off x="1993512" y="4141966"/>
                <a:ext cx="729442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33D906-2EEF-C221-D642-06AF184E1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512" y="4141966"/>
                <a:ext cx="7294423" cy="369332"/>
              </a:xfrm>
              <a:prstGeom prst="rect">
                <a:avLst/>
              </a:prstGeom>
              <a:blipFill>
                <a:blip r:embed="rId2"/>
                <a:stretch>
                  <a:fillRect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18EA3FC9-7CBA-43F5-1B97-46D559E5AC86}"/>
              </a:ext>
            </a:extLst>
          </p:cNvPr>
          <p:cNvSpPr/>
          <p:nvPr/>
        </p:nvSpPr>
        <p:spPr>
          <a:xfrm>
            <a:off x="3410142" y="4024830"/>
            <a:ext cx="1215737" cy="602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160BE08-6A95-DD69-61C0-CDF61162A817}"/>
              </a:ext>
            </a:extLst>
          </p:cNvPr>
          <p:cNvSpPr/>
          <p:nvPr/>
        </p:nvSpPr>
        <p:spPr>
          <a:xfrm>
            <a:off x="4872662" y="4024830"/>
            <a:ext cx="1028700" cy="602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746731-9E25-0CFB-409B-F183F96F2F11}"/>
              </a:ext>
            </a:extLst>
          </p:cNvPr>
          <p:cNvCxnSpPr>
            <a:cxnSpLocks/>
            <a:stCxn id="16" idx="0"/>
            <a:endCxn id="26" idx="2"/>
          </p:cNvCxnSpPr>
          <p:nvPr/>
        </p:nvCxnSpPr>
        <p:spPr>
          <a:xfrm flipH="1" flipV="1">
            <a:off x="2772882" y="3359110"/>
            <a:ext cx="1245129" cy="66572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F2351E-CD42-C3E0-6F0D-BB8FF89BB573}"/>
              </a:ext>
            </a:extLst>
          </p:cNvPr>
          <p:cNvCxnSpPr>
            <a:cxnSpLocks/>
            <a:stCxn id="17" idx="4"/>
            <a:endCxn id="27" idx="0"/>
          </p:cNvCxnSpPr>
          <p:nvPr/>
        </p:nvCxnSpPr>
        <p:spPr>
          <a:xfrm flipH="1">
            <a:off x="3410142" y="4627502"/>
            <a:ext cx="1976870" cy="63721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4EFDAD7-DE9D-8B2E-1897-14EB52EF00EC}"/>
              </a:ext>
            </a:extLst>
          </p:cNvPr>
          <p:cNvSpPr txBox="1"/>
          <p:nvPr/>
        </p:nvSpPr>
        <p:spPr>
          <a:xfrm>
            <a:off x="919885" y="2989778"/>
            <a:ext cx="370599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Watermarked Transform Coefficients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49BF4C-E3F0-A64C-A648-DB046E7E4C87}"/>
              </a:ext>
            </a:extLst>
          </p:cNvPr>
          <p:cNvSpPr txBox="1"/>
          <p:nvPr/>
        </p:nvSpPr>
        <p:spPr>
          <a:xfrm>
            <a:off x="1557145" y="5264714"/>
            <a:ext cx="370599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Original Transform Coefficients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28E85FA-2478-EAA9-45AA-D3D428BB2E79}"/>
              </a:ext>
            </a:extLst>
          </p:cNvPr>
          <p:cNvSpPr/>
          <p:nvPr/>
        </p:nvSpPr>
        <p:spPr>
          <a:xfrm>
            <a:off x="7514552" y="4050155"/>
            <a:ext cx="384464" cy="602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0D8DCD5-2111-588B-7B95-85693989D214}"/>
              </a:ext>
            </a:extLst>
          </p:cNvPr>
          <p:cNvCxnSpPr>
            <a:cxnSpLocks/>
            <a:stCxn id="37" idx="7"/>
            <a:endCxn id="45" idx="2"/>
          </p:cNvCxnSpPr>
          <p:nvPr/>
        </p:nvCxnSpPr>
        <p:spPr>
          <a:xfrm flipV="1">
            <a:off x="7842713" y="3451965"/>
            <a:ext cx="1195019" cy="68644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60AE45F-85E2-FCFE-DA2D-4289E69112B0}"/>
              </a:ext>
            </a:extLst>
          </p:cNvPr>
          <p:cNvSpPr txBox="1"/>
          <p:nvPr/>
        </p:nvSpPr>
        <p:spPr>
          <a:xfrm>
            <a:off x="7827986" y="3082633"/>
            <a:ext cx="241949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Watermark Strength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05BDA4-6950-C18C-A92A-717AA4C3D553}"/>
              </a:ext>
            </a:extLst>
          </p:cNvPr>
          <p:cNvCxnSpPr>
            <a:cxnSpLocks/>
            <a:stCxn id="52" idx="0"/>
            <a:endCxn id="49" idx="2"/>
          </p:cNvCxnSpPr>
          <p:nvPr/>
        </p:nvCxnSpPr>
        <p:spPr>
          <a:xfrm flipH="1" flipV="1">
            <a:off x="6193607" y="3390272"/>
            <a:ext cx="514350" cy="63345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BF3AE16-8FC5-C58A-C0F6-9709BD5BFFE1}"/>
              </a:ext>
            </a:extLst>
          </p:cNvPr>
          <p:cNvSpPr txBox="1"/>
          <p:nvPr/>
        </p:nvSpPr>
        <p:spPr>
          <a:xfrm>
            <a:off x="5525078" y="3020940"/>
            <a:ext cx="13370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Watermark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25DD4F-C087-B8FF-E708-EEB2984188E3}"/>
              </a:ext>
            </a:extLst>
          </p:cNvPr>
          <p:cNvSpPr/>
          <p:nvPr/>
        </p:nvSpPr>
        <p:spPr>
          <a:xfrm>
            <a:off x="6193607" y="4023723"/>
            <a:ext cx="1028700" cy="6026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191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05352-94B2-D6BF-6CCA-295D2A1C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E7C1A-1B76-D432-CB1E-ED7E47AE4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702" y="1658694"/>
            <a:ext cx="9222596" cy="48770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AB1A5B-11F0-B138-DCE7-ACFBA55F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Substitution Methods in Transform Domain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0DD45-26F2-0F35-5F74-2EF4F3B9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BF9D4-96C3-C723-B940-43C4246BB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2166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4EF3-D49D-61D2-B63A-EFDE0ADC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69BD-CBDF-C75D-F306-A77662CC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Mathematical Foundations of Transform Domain Watermarking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Transform Types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27FDB-B724-9D54-1B52-E2FAAB6FF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3BF39-BB25-E504-E37C-F87DADFE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97FE969-E687-A06D-4F87-1360F6E4EA82}"/>
              </a:ext>
            </a:extLst>
          </p:cNvPr>
          <p:cNvSpPr txBox="1">
            <a:spLocks/>
          </p:cNvSpPr>
          <p:nvPr/>
        </p:nvSpPr>
        <p:spPr>
          <a:xfrm>
            <a:off x="547050" y="1941822"/>
            <a:ext cx="10266724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Lenna Image: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A31B85-5F36-0CF9-FF77-EF760FF08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792" y="2478336"/>
            <a:ext cx="3625502" cy="362550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94ABCB-172A-9566-AF92-D852E98D999E}"/>
              </a:ext>
            </a:extLst>
          </p:cNvPr>
          <p:cNvCxnSpPr/>
          <p:nvPr/>
        </p:nvCxnSpPr>
        <p:spPr>
          <a:xfrm>
            <a:off x="4624180" y="4216615"/>
            <a:ext cx="104221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C1238B-27BA-CD4D-8926-37FA391BA2C8}"/>
              </a:ext>
            </a:extLst>
          </p:cNvPr>
          <p:cNvSpPr txBox="1"/>
          <p:nvPr/>
        </p:nvSpPr>
        <p:spPr>
          <a:xfrm>
            <a:off x="4711133" y="3847283"/>
            <a:ext cx="76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BDCT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B8BC6-5AE8-A315-3D51-7A2FE4B975AA}"/>
              </a:ext>
            </a:extLst>
          </p:cNvPr>
          <p:cNvSpPr txBox="1"/>
          <p:nvPr/>
        </p:nvSpPr>
        <p:spPr>
          <a:xfrm>
            <a:off x="6433977" y="1910989"/>
            <a:ext cx="497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31393A1-43A7-706F-B547-F00FFB359D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0392" y="1964110"/>
          <a:ext cx="6265821" cy="191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21160" imgH="1625400" progId="Equation.DSMT4">
                  <p:embed/>
                </p:oleObj>
              </mc:Choice>
              <mc:Fallback>
                <p:oleObj name="Equation" r:id="rId3" imgW="5321160" imgH="162540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CD25D67C-307C-C31F-022D-9E354748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10392" y="1964110"/>
                        <a:ext cx="6265821" cy="1914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89DB2403-35C4-DD5D-AD54-3A42DCEBC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0392" y="4176306"/>
          <a:ext cx="6265821" cy="1891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84520" imgH="1625400" progId="Equation.DSMT4">
                  <p:embed/>
                </p:oleObj>
              </mc:Choice>
              <mc:Fallback>
                <p:oleObj name="Equation" r:id="rId5" imgW="5384520" imgH="16254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219219EB-04B8-17BB-7E15-797DDF11F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10392" y="4176306"/>
                        <a:ext cx="6265821" cy="18915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F377B58-1870-335F-5418-FAE9FEF63502}"/>
              </a:ext>
            </a:extLst>
          </p:cNvPr>
          <p:cNvSpPr txBox="1"/>
          <p:nvPr/>
        </p:nvSpPr>
        <p:spPr>
          <a:xfrm>
            <a:off x="850792" y="2687550"/>
            <a:ext cx="76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B(0,0)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013389-F032-E521-F6BD-75146F839DA2}"/>
              </a:ext>
            </a:extLst>
          </p:cNvPr>
          <p:cNvSpPr txBox="1"/>
          <p:nvPr/>
        </p:nvSpPr>
        <p:spPr>
          <a:xfrm>
            <a:off x="4987312" y="4865383"/>
            <a:ext cx="81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B(0,1)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D4BFC5-945A-99E5-CFCD-E8641AF634CB}"/>
              </a:ext>
            </a:extLst>
          </p:cNvPr>
          <p:cNvSpPr txBox="1"/>
          <p:nvPr/>
        </p:nvSpPr>
        <p:spPr>
          <a:xfrm rot="5400000">
            <a:off x="8855133" y="5890044"/>
            <a:ext cx="13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D01F4F-0D67-C414-AEEA-08AE22E85E20}"/>
              </a:ext>
            </a:extLst>
          </p:cNvPr>
          <p:cNvSpPr/>
          <p:nvPr/>
        </p:nvSpPr>
        <p:spPr>
          <a:xfrm>
            <a:off x="850792" y="2486527"/>
            <a:ext cx="764420" cy="768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C7FAE2-D8B7-3DF4-9574-C596A4692822}"/>
              </a:ext>
            </a:extLst>
          </p:cNvPr>
          <p:cNvSpPr txBox="1"/>
          <p:nvPr/>
        </p:nvSpPr>
        <p:spPr>
          <a:xfrm>
            <a:off x="1615212" y="2677718"/>
            <a:ext cx="76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B(0,1)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51FEEA-BC58-256C-B07D-F3296B6D5130}"/>
              </a:ext>
            </a:extLst>
          </p:cNvPr>
          <p:cNvSpPr/>
          <p:nvPr/>
        </p:nvSpPr>
        <p:spPr>
          <a:xfrm>
            <a:off x="1615212" y="2489813"/>
            <a:ext cx="764420" cy="768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85E9B6-E1B0-5123-0358-E5BA877C70F4}"/>
              </a:ext>
            </a:extLst>
          </p:cNvPr>
          <p:cNvSpPr txBox="1"/>
          <p:nvPr/>
        </p:nvSpPr>
        <p:spPr>
          <a:xfrm>
            <a:off x="5052847" y="28111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B(0,0)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66859E-75C0-82AD-055B-D40135CF8402}"/>
              </a:ext>
            </a:extLst>
          </p:cNvPr>
          <p:cNvSpPr/>
          <p:nvPr/>
        </p:nvSpPr>
        <p:spPr>
          <a:xfrm>
            <a:off x="2389167" y="2488168"/>
            <a:ext cx="764420" cy="768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6FCF9B-B903-0225-892E-91B080814814}"/>
              </a:ext>
            </a:extLst>
          </p:cNvPr>
          <p:cNvSpPr txBox="1"/>
          <p:nvPr/>
        </p:nvSpPr>
        <p:spPr>
          <a:xfrm>
            <a:off x="2518938" y="2662302"/>
            <a:ext cx="369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8218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3F3B-7199-F9FB-A4BC-FBD61B64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5362-3D27-525D-E8FB-45C33498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Substitution Methods in Transform Domain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9A341-AB1A-E194-C155-91ABC270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C4144-C7C4-23AA-26E4-8F860C9C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1367FB0-9654-7158-2CB6-834ACD95D8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902860"/>
              </p:ext>
            </p:extLst>
          </p:nvPr>
        </p:nvGraphicFramePr>
        <p:xfrm>
          <a:off x="1399333" y="3196421"/>
          <a:ext cx="6265821" cy="191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21160" imgH="1625400" progId="Equation.DSMT4">
                  <p:embed/>
                </p:oleObj>
              </mc:Choice>
              <mc:Fallback>
                <p:oleObj name="Equation" r:id="rId2" imgW="5321160" imgH="16254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D25D67C-307C-C31F-022D-9E354748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99333" y="3196421"/>
                        <a:ext cx="6265821" cy="1914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F9A01FE-2379-2A70-F5B5-E2337556F7D9}"/>
              </a:ext>
            </a:extLst>
          </p:cNvPr>
          <p:cNvSpPr txBox="1"/>
          <p:nvPr/>
        </p:nvSpPr>
        <p:spPr>
          <a:xfrm>
            <a:off x="741788" y="40435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B(0,0)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8887BA-23D0-4B5F-7E39-7DCF996C9273}"/>
                  </a:ext>
                </a:extLst>
              </p:cNvPr>
              <p:cNvSpPr txBox="1"/>
              <p:nvPr/>
            </p:nvSpPr>
            <p:spPr>
              <a:xfrm>
                <a:off x="7435699" y="2223203"/>
                <a:ext cx="1696618" cy="461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8887BA-23D0-4B5F-7E39-7DCF996C9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699" y="2223203"/>
                <a:ext cx="1696618" cy="4619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BE8452F-8C17-A860-2C31-9DA3CE9D58B3}"/>
              </a:ext>
            </a:extLst>
          </p:cNvPr>
          <p:cNvSpPr txBox="1"/>
          <p:nvPr/>
        </p:nvSpPr>
        <p:spPr>
          <a:xfrm>
            <a:off x="1094532" y="2315792"/>
            <a:ext cx="514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Example) Embed One bit into each DCT Block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0794B9B-BA44-4629-B07F-ABE298BFEAC8}"/>
              </a:ext>
            </a:extLst>
          </p:cNvPr>
          <p:cNvSpPr/>
          <p:nvPr/>
        </p:nvSpPr>
        <p:spPr>
          <a:xfrm>
            <a:off x="8448261" y="2195745"/>
            <a:ext cx="278296" cy="27829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56AC0B-4BB0-CAEA-6A8E-2CD96031C268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8587409" y="2474041"/>
            <a:ext cx="265043" cy="154094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F789AE-FDFD-2025-9BF9-4F8543E21802}"/>
                  </a:ext>
                </a:extLst>
              </p:cNvPr>
              <p:cNvSpPr txBox="1"/>
              <p:nvPr/>
            </p:nvSpPr>
            <p:spPr>
              <a:xfrm>
                <a:off x="7825408" y="4014991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F789AE-FDFD-2025-9BF9-4F8543E21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408" y="4014991"/>
                <a:ext cx="237244" cy="276999"/>
              </a:xfrm>
              <a:prstGeom prst="rect">
                <a:avLst/>
              </a:prstGeom>
              <a:blipFill>
                <a:blip r:embed="rId5"/>
                <a:stretch>
                  <a:fillRect l="-20513" r="-153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C8CD98-ADFA-1884-6639-142B5A114B7D}"/>
                  </a:ext>
                </a:extLst>
              </p:cNvPr>
              <p:cNvSpPr txBox="1"/>
              <p:nvPr/>
            </p:nvSpPr>
            <p:spPr>
              <a:xfrm>
                <a:off x="8172256" y="4014990"/>
                <a:ext cx="552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×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C8CD98-ADFA-1884-6639-142B5A114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256" y="4014990"/>
                <a:ext cx="552010" cy="276999"/>
              </a:xfrm>
              <a:prstGeom prst="rect">
                <a:avLst/>
              </a:prstGeom>
              <a:blipFill>
                <a:blip r:embed="rId6"/>
                <a:stretch>
                  <a:fillRect l="-888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B0939A35-85FE-8534-0102-075355DD9889}"/>
              </a:ext>
            </a:extLst>
          </p:cNvPr>
          <p:cNvSpPr/>
          <p:nvPr/>
        </p:nvSpPr>
        <p:spPr>
          <a:xfrm>
            <a:off x="8713304" y="4013693"/>
            <a:ext cx="278296" cy="27829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0DE8C12-46D9-14D9-0F07-F2DF4B8B8CC2}"/>
              </a:ext>
            </a:extLst>
          </p:cNvPr>
          <p:cNvCxnSpPr/>
          <p:nvPr/>
        </p:nvCxnSpPr>
        <p:spPr>
          <a:xfrm>
            <a:off x="9216887" y="4152841"/>
            <a:ext cx="921026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97B197F-761D-92B9-683A-96952BA9B51D}"/>
              </a:ext>
            </a:extLst>
          </p:cNvPr>
          <p:cNvSpPr txBox="1"/>
          <p:nvPr/>
        </p:nvSpPr>
        <p:spPr>
          <a:xfrm>
            <a:off x="10078277" y="3809922"/>
            <a:ext cx="1603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Watermarked Block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1A89DD-11AE-A942-9D65-1FA373544D39}"/>
              </a:ext>
            </a:extLst>
          </p:cNvPr>
          <p:cNvSpPr txBox="1"/>
          <p:nvPr/>
        </p:nvSpPr>
        <p:spPr>
          <a:xfrm>
            <a:off x="1094532" y="5788999"/>
            <a:ext cx="803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can also select some of the Coefficients instead of summing them all.</a:t>
            </a:r>
          </a:p>
        </p:txBody>
      </p:sp>
    </p:spTree>
    <p:extLst>
      <p:ext uri="{BB962C8B-B14F-4D97-AF65-F5344CB8AC3E}">
        <p14:creationId xmlns:p14="http://schemas.microsoft.com/office/powerpoint/2010/main" val="286888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9E028-BBF1-7EBA-6FFC-8DBF0C52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CEAF8395-4124-C3C0-D33A-E321CD320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6118" y="2364035"/>
            <a:ext cx="7426336" cy="40970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83F422-AC8A-287C-4D42-59308698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Substitution Methods in Transform Domain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B646A-0F03-B8FD-B3B7-6CCDBA064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F9FD7-8916-0E89-9C16-513652F0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14708C-0F63-F0FE-F722-DA88D6047116}"/>
              </a:ext>
            </a:extLst>
          </p:cNvPr>
          <p:cNvSpPr txBox="1"/>
          <p:nvPr/>
        </p:nvSpPr>
        <p:spPr>
          <a:xfrm>
            <a:off x="818303" y="2089715"/>
            <a:ext cx="10829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Spread Spectrum could be considered as a Substitution Method which we embed each bit as random sequence(Spectrum).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E1E7F-F4B4-B3F9-AEBE-952A9ED7C89D}"/>
              </a:ext>
            </a:extLst>
          </p:cNvPr>
          <p:cNvSpPr txBox="1"/>
          <p:nvPr/>
        </p:nvSpPr>
        <p:spPr>
          <a:xfrm>
            <a:off x="8973136" y="2967335"/>
            <a:ext cx="248908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2 Sequences:</a:t>
            </a:r>
          </a:p>
          <a:p>
            <a:r>
              <a:rPr lang="en-US" b="1" dirty="0"/>
              <a:t>	 Sequence for bit 1</a:t>
            </a:r>
          </a:p>
          <a:p>
            <a:r>
              <a:rPr lang="en-US" b="1" dirty="0"/>
              <a:t>	 Sequence for bit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C113B-6BAE-2BB6-A1CB-DBF9E65485B6}"/>
              </a:ext>
            </a:extLst>
          </p:cNvPr>
          <p:cNvSpPr txBox="1"/>
          <p:nvPr/>
        </p:nvSpPr>
        <p:spPr>
          <a:xfrm>
            <a:off x="8584866" y="4928427"/>
            <a:ext cx="194112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39 Coefficients are selected</a:t>
            </a:r>
          </a:p>
        </p:txBody>
      </p:sp>
    </p:spTree>
    <p:extLst>
      <p:ext uri="{BB962C8B-B14F-4D97-AF65-F5344CB8AC3E}">
        <p14:creationId xmlns:p14="http://schemas.microsoft.com/office/powerpoint/2010/main" val="383144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C1DA2-482A-58A5-C686-99EF85D4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F6561-CF2C-473A-97CE-793BC17C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Substitution Methods in Transform Domain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7A134-0D5C-602D-003D-B22D0B98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EA9D5-382F-256F-4260-F55ABACB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1D12A99B-4A38-1186-4E47-7DEE5A8F6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158" y="3108932"/>
            <a:ext cx="4754562" cy="3042919"/>
          </a:xfrm>
          <a:prstGeom prst="rect">
            <a:avLst/>
          </a:prstGeom>
        </p:spPr>
      </p:pic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74706A2A-7234-3FAF-CE01-B2C900384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288" y="2703320"/>
            <a:ext cx="4754562" cy="31392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8FE179-2E4B-DD25-7818-A90A9F61F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7" y="2124811"/>
            <a:ext cx="4763165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37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CB74-32B0-532F-0E78-D9C27490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7B921-CBB6-8C88-34F6-8528A57F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Multiplicative Watermarking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75C9E-87A4-EA15-3EAC-8560E2AC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BCF7B-4A3F-581E-E06D-25ECA110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E3494D-D4CE-79A1-1E16-ACA0B9D43F5C}"/>
              </a:ext>
            </a:extLst>
          </p:cNvPr>
          <p:cNvSpPr txBox="1"/>
          <p:nvPr/>
        </p:nvSpPr>
        <p:spPr>
          <a:xfrm>
            <a:off x="1024127" y="2414155"/>
            <a:ext cx="6093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Embedding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C9B02F-369A-C258-45F4-C12EE1B12A01}"/>
                  </a:ext>
                </a:extLst>
              </p:cNvPr>
              <p:cNvSpPr txBox="1"/>
              <p:nvPr/>
            </p:nvSpPr>
            <p:spPr>
              <a:xfrm>
                <a:off x="3516576" y="3110919"/>
                <a:ext cx="5158848" cy="4168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d>
                            <m:d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C9B02F-369A-C258-45F4-C12EE1B12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76" y="3110919"/>
                <a:ext cx="5158848" cy="4168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97A91EE3-DE67-5539-468A-C3CB35F3C0DB}"/>
              </a:ext>
            </a:extLst>
          </p:cNvPr>
          <p:cNvSpPr/>
          <p:nvPr/>
        </p:nvSpPr>
        <p:spPr>
          <a:xfrm>
            <a:off x="6894095" y="3110919"/>
            <a:ext cx="445168" cy="4616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B6DDAA-8875-3E26-B9FA-AAAE5ECE01B8}"/>
              </a:ext>
            </a:extLst>
          </p:cNvPr>
          <p:cNvCxnSpPr>
            <a:cxnSpLocks/>
            <a:stCxn id="8" idx="3"/>
            <a:endCxn id="14" idx="3"/>
          </p:cNvCxnSpPr>
          <p:nvPr/>
        </p:nvCxnSpPr>
        <p:spPr>
          <a:xfrm flipH="1">
            <a:off x="5173579" y="3504975"/>
            <a:ext cx="1785709" cy="58504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801ABDC-A886-F4F7-BF41-642B69AE1000}"/>
              </a:ext>
            </a:extLst>
          </p:cNvPr>
          <p:cNvSpPr txBox="1"/>
          <p:nvPr/>
        </p:nvSpPr>
        <p:spPr>
          <a:xfrm>
            <a:off x="2935705" y="3766851"/>
            <a:ext cx="223787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Watermark Strength</a:t>
            </a:r>
          </a:p>
          <a:p>
            <a:pPr algn="ctr"/>
            <a:r>
              <a:rPr lang="en-US" b="1" dirty="0"/>
              <a:t>(usually 0.1)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359F37-DADA-C17A-D793-E429231452D4}"/>
              </a:ext>
            </a:extLst>
          </p:cNvPr>
          <p:cNvSpPr txBox="1"/>
          <p:nvPr/>
        </p:nvSpPr>
        <p:spPr>
          <a:xfrm>
            <a:off x="1024127" y="4488770"/>
            <a:ext cx="6093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Extraction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B54FCA-BC7D-C040-95A2-D976E8972ABC}"/>
                  </a:ext>
                </a:extLst>
              </p:cNvPr>
              <p:cNvSpPr txBox="1"/>
              <p:nvPr/>
            </p:nvSpPr>
            <p:spPr>
              <a:xfrm>
                <a:off x="3711742" y="5298602"/>
                <a:ext cx="4176593" cy="8143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d>
                                <m:d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  <m:d>
                            <m:d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B54FCA-BC7D-C040-95A2-D976E8972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742" y="5298602"/>
                <a:ext cx="4176593" cy="814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8F992A-A41E-8A9A-72D5-A1C223E719BF}"/>
              </a:ext>
            </a:extLst>
          </p:cNvPr>
          <p:cNvCxnSpPr/>
          <p:nvPr/>
        </p:nvCxnSpPr>
        <p:spPr>
          <a:xfrm>
            <a:off x="7567863" y="3110919"/>
            <a:ext cx="84221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D63FBFB-9A42-4B91-6112-CF82C5EBF17E}"/>
              </a:ext>
            </a:extLst>
          </p:cNvPr>
          <p:cNvSpPr txBox="1"/>
          <p:nvPr/>
        </p:nvSpPr>
        <p:spPr>
          <a:xfrm>
            <a:off x="6066433" y="2684797"/>
            <a:ext cx="4007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Could be pseudorandom real numbers</a:t>
            </a:r>
          </a:p>
        </p:txBody>
      </p:sp>
    </p:spTree>
    <p:extLst>
      <p:ext uri="{BB962C8B-B14F-4D97-AF65-F5344CB8AC3E}">
        <p14:creationId xmlns:p14="http://schemas.microsoft.com/office/powerpoint/2010/main" val="3987480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5CBD-FB97-8D11-3912-74CCCBE6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9066093-78CE-035D-0354-275FBEC30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986" y="3118546"/>
            <a:ext cx="9326277" cy="3181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0274BA-74A5-26CF-2D44-A84A2959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Multiplicative Watermarking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B0155-25C0-8F2C-4720-1E3A70B3C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562B2-7CDE-BF98-6D0B-A10EEDFD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367F5C-8B9C-111A-D0FD-E6AF66F30EAF}"/>
                  </a:ext>
                </a:extLst>
              </p:cNvPr>
              <p:cNvSpPr txBox="1"/>
              <p:nvPr/>
            </p:nvSpPr>
            <p:spPr>
              <a:xfrm>
                <a:off x="1024127" y="2031879"/>
                <a:ext cx="104539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After Extraction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b="1" dirty="0"/>
                  <a:t> We calculate the Similarity of Extracted Watermark and the original Watermark. It should peek at some index.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367F5C-8B9C-111A-D0FD-E6AF66F30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7" y="2031879"/>
                <a:ext cx="10453999" cy="707886"/>
              </a:xfrm>
              <a:prstGeom prst="rect">
                <a:avLst/>
              </a:prstGeom>
              <a:blipFill>
                <a:blip r:embed="rId3"/>
                <a:stretch>
                  <a:fillRect l="-583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703434-E581-3056-CFB7-CF23A58A4145}"/>
                  </a:ext>
                </a:extLst>
              </p:cNvPr>
              <p:cNvSpPr txBox="1"/>
              <p:nvPr/>
            </p:nvSpPr>
            <p:spPr>
              <a:xfrm>
                <a:off x="7089396" y="2490041"/>
                <a:ext cx="2493182" cy="6285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𝑺𝒊𝒎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p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703434-E581-3056-CFB7-CF23A58A4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396" y="2490041"/>
                <a:ext cx="2493182" cy="628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1722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066C7-7BF5-0424-F0ED-C988A454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7D4B-658F-812A-8E7C-E6BC1B74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Multiplicative Watermarking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3C70C-B67E-3800-DA0F-C1480632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D0A83-3224-E003-C74D-DCE8DA41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B5E812-4DA7-D535-B87C-D11FD8BC597E}"/>
              </a:ext>
            </a:extLst>
          </p:cNvPr>
          <p:cNvSpPr txBox="1"/>
          <p:nvPr/>
        </p:nvSpPr>
        <p:spPr>
          <a:xfrm>
            <a:off x="1024127" y="2280706"/>
            <a:ext cx="10453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Advantages of Multiplicative Embedding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D66DF-42E4-89CD-D2FA-42E6CCD26231}"/>
              </a:ext>
            </a:extLst>
          </p:cNvPr>
          <p:cNvSpPr txBox="1"/>
          <p:nvPr/>
        </p:nvSpPr>
        <p:spPr>
          <a:xfrm>
            <a:off x="1397106" y="3262530"/>
            <a:ext cx="100810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Adaptive strength:</a:t>
            </a:r>
          </a:p>
          <a:p>
            <a:r>
              <a:rPr lang="en-US" sz="2400" dirty="0"/>
              <a:t>	 Embedding strength proportional to coefficient magnitude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Perceptual optimization:</a:t>
            </a:r>
          </a:p>
          <a:p>
            <a:r>
              <a:rPr lang="en-US" sz="2400" dirty="0"/>
              <a:t>	 Stronger embedding in perceptually less important areas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Robustness:</a:t>
            </a:r>
          </a:p>
          <a:p>
            <a:r>
              <a:rPr lang="en-US" sz="2400" dirty="0"/>
              <a:t>	 Better resistance to scaling attacks</a:t>
            </a:r>
          </a:p>
        </p:txBody>
      </p:sp>
    </p:spTree>
    <p:extLst>
      <p:ext uri="{BB962C8B-B14F-4D97-AF65-F5344CB8AC3E}">
        <p14:creationId xmlns:p14="http://schemas.microsoft.com/office/powerpoint/2010/main" val="33318389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2F8DF-2AF0-F582-D1BD-7831CEAE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D8AC4-02A8-723D-E7B7-1FC773AA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Rounding Error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CDB12-7AF1-EB95-07D4-13E87D3C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58A73-196C-1F58-5BE5-FABF3ACB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67356-7E8A-927F-6714-6F90F8BC0F5E}"/>
              </a:ext>
            </a:extLst>
          </p:cNvPr>
          <p:cNvSpPr txBox="1"/>
          <p:nvPr/>
        </p:nvSpPr>
        <p:spPr>
          <a:xfrm>
            <a:off x="1024128" y="2598003"/>
            <a:ext cx="102667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After embedding the watermark in the transform domain, rounding the floating-point coefficients to integer pixel values during the application of inverse transforms can introduce errors</a:t>
            </a:r>
            <a:r>
              <a:rPr lang="fa-IR" sz="2400" b="1" dirty="0"/>
              <a:t>.</a:t>
            </a:r>
            <a:endParaRPr lang="en-US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47FE29-D5FD-6122-9E04-FFF4591CA08E}"/>
              </a:ext>
            </a:extLst>
          </p:cNvPr>
          <p:cNvSpPr txBox="1"/>
          <p:nvPr/>
        </p:nvSpPr>
        <p:spPr>
          <a:xfrm>
            <a:off x="1024127" y="4311503"/>
            <a:ext cx="60939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Impact:</a:t>
            </a:r>
            <a:endParaRPr lang="en-US" sz="2400" dirty="0">
              <a:solidFill>
                <a:srgbClr val="C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Watermark distortion during extraction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Accumulation of quantization errors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Reduced extraction accuracy</a:t>
            </a:r>
          </a:p>
        </p:txBody>
      </p:sp>
    </p:spTree>
    <p:extLst>
      <p:ext uri="{BB962C8B-B14F-4D97-AF65-F5344CB8AC3E}">
        <p14:creationId xmlns:p14="http://schemas.microsoft.com/office/powerpoint/2010/main" val="4281637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94BE1-E10F-1D3F-6F97-C259B1A7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4BEDB-A986-42FB-B4B1-0FD2DADBE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6611" y="1690961"/>
            <a:ext cx="8509436" cy="47701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21B684-6AEC-26F1-4EA8-68C0194F3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Rounding Error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6DB92-4145-12E3-0570-A2FDCDEBC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26AEC-6C03-2A92-70B8-573A9E13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617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80AE9-CB9B-69C3-1B75-E4F016485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F1035D-D531-E571-5DFC-CF4AB0704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9177" y="1645683"/>
            <a:ext cx="8393645" cy="49525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ECDB69-5343-4A25-FD49-D4787E7A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Watermarking Techniques in Transform Domain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Rounding Error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8C00B-11EA-60D4-A082-EB13BDF3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6D6C2-6C44-7C5D-3672-01D08334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516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052B27-6484-B33D-C9CB-8291EDC9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Information Hiding, Shiraz university of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BD85EA-310F-760B-61FF-0BA93257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z="1600" smtClean="0"/>
              <a:t>37</a:t>
            </a:fld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BF068-0D85-7EB0-6A2F-C70BDE2B5F78}"/>
              </a:ext>
            </a:extLst>
          </p:cNvPr>
          <p:cNvSpPr txBox="1"/>
          <p:nvPr/>
        </p:nvSpPr>
        <p:spPr>
          <a:xfrm>
            <a:off x="2752725" y="2767280"/>
            <a:ext cx="6686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DCT-Based Watermarking:     A Comprehensive Case Study</a:t>
            </a:r>
          </a:p>
        </p:txBody>
      </p:sp>
    </p:spTree>
    <p:extLst>
      <p:ext uri="{BB962C8B-B14F-4D97-AF65-F5344CB8AC3E}">
        <p14:creationId xmlns:p14="http://schemas.microsoft.com/office/powerpoint/2010/main" val="3784843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9CB8-6C04-A636-8878-B5D1CEA9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overview - Embedding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70973-C120-0EC1-66C1-985D89453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7967F-B6F6-DECD-3A4F-435CDE68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38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7FE70F-0CFD-C087-B931-5CD75B6858DD}"/>
              </a:ext>
            </a:extLst>
          </p:cNvPr>
          <p:cNvCxnSpPr>
            <a:cxnSpLocks/>
          </p:cNvCxnSpPr>
          <p:nvPr/>
        </p:nvCxnSpPr>
        <p:spPr>
          <a:xfrm>
            <a:off x="1024127" y="3429000"/>
            <a:ext cx="804673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E80E18A-FC58-6119-BD82-347C1F56A3ED}"/>
              </a:ext>
            </a:extLst>
          </p:cNvPr>
          <p:cNvSpPr/>
          <p:nvPr/>
        </p:nvSpPr>
        <p:spPr>
          <a:xfrm>
            <a:off x="1828800" y="3043990"/>
            <a:ext cx="1864895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CD5138-470D-771E-2767-4DEC4410D27F}"/>
              </a:ext>
            </a:extLst>
          </p:cNvPr>
          <p:cNvSpPr txBox="1"/>
          <p:nvPr/>
        </p:nvSpPr>
        <p:spPr>
          <a:xfrm>
            <a:off x="1696453" y="3117866"/>
            <a:ext cx="2129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Block Decomposition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FC9550-8913-6971-29AB-5EB197F55895}"/>
              </a:ext>
            </a:extLst>
          </p:cNvPr>
          <p:cNvSpPr/>
          <p:nvPr/>
        </p:nvSpPr>
        <p:spPr>
          <a:xfrm>
            <a:off x="4281799" y="3007894"/>
            <a:ext cx="918411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95C932-74B7-3163-B8B2-6B8B53EA2A7E}"/>
              </a:ext>
            </a:extLst>
          </p:cNvPr>
          <p:cNvSpPr/>
          <p:nvPr/>
        </p:nvSpPr>
        <p:spPr>
          <a:xfrm>
            <a:off x="5494421" y="1663727"/>
            <a:ext cx="1864895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B58176-30BF-825F-292F-03B026875793}"/>
              </a:ext>
            </a:extLst>
          </p:cNvPr>
          <p:cNvSpPr txBox="1"/>
          <p:nvPr/>
        </p:nvSpPr>
        <p:spPr>
          <a:xfrm>
            <a:off x="5698957" y="1764311"/>
            <a:ext cx="1455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Ref. Table Generator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7778F5-6381-EDB1-ED54-4E05D46FFB50}"/>
              </a:ext>
            </a:extLst>
          </p:cNvPr>
          <p:cNvSpPr/>
          <p:nvPr/>
        </p:nvSpPr>
        <p:spPr>
          <a:xfrm>
            <a:off x="6157488" y="3009648"/>
            <a:ext cx="1864895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ECDE5E-7FA3-CEE0-ADB3-761BA348A0A3}"/>
              </a:ext>
            </a:extLst>
          </p:cNvPr>
          <p:cNvSpPr/>
          <p:nvPr/>
        </p:nvSpPr>
        <p:spPr>
          <a:xfrm>
            <a:off x="8979661" y="2995862"/>
            <a:ext cx="1291390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15133F-4FB8-7794-E74B-E2776DDAFB72}"/>
              </a:ext>
            </a:extLst>
          </p:cNvPr>
          <p:cNvSpPr/>
          <p:nvPr/>
        </p:nvSpPr>
        <p:spPr>
          <a:xfrm>
            <a:off x="8693776" y="4523942"/>
            <a:ext cx="1864895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2AFD0E-4AF3-74BF-30D2-EACB196B2568}"/>
              </a:ext>
            </a:extLst>
          </p:cNvPr>
          <p:cNvSpPr/>
          <p:nvPr/>
        </p:nvSpPr>
        <p:spPr>
          <a:xfrm>
            <a:off x="1828800" y="5196028"/>
            <a:ext cx="1636296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119AA-A2F9-78D7-494D-6217A8FB35A2}"/>
              </a:ext>
            </a:extLst>
          </p:cNvPr>
          <p:cNvSpPr/>
          <p:nvPr/>
        </p:nvSpPr>
        <p:spPr>
          <a:xfrm>
            <a:off x="4281799" y="5194273"/>
            <a:ext cx="1864895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D0320E-D69B-25EE-D601-4A0529A16412}"/>
              </a:ext>
            </a:extLst>
          </p:cNvPr>
          <p:cNvSpPr/>
          <p:nvPr/>
        </p:nvSpPr>
        <p:spPr>
          <a:xfrm>
            <a:off x="5071514" y="4243590"/>
            <a:ext cx="1343321" cy="753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6FE238-D649-D904-F982-89FEB30C0F50}"/>
              </a:ext>
            </a:extLst>
          </p:cNvPr>
          <p:cNvSpPr txBox="1"/>
          <p:nvPr/>
        </p:nvSpPr>
        <p:spPr>
          <a:xfrm>
            <a:off x="6325931" y="3105834"/>
            <a:ext cx="1518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Band Modification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ECD5DA-4734-8917-24E7-778C26E023BB}"/>
              </a:ext>
            </a:extLst>
          </p:cNvPr>
          <p:cNvSpPr txBox="1"/>
          <p:nvPr/>
        </p:nvSpPr>
        <p:spPr>
          <a:xfrm>
            <a:off x="4451167" y="3244333"/>
            <a:ext cx="66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FA8F77-28A8-D99E-E172-2094E7E16899}"/>
              </a:ext>
            </a:extLst>
          </p:cNvPr>
          <p:cNvSpPr txBox="1"/>
          <p:nvPr/>
        </p:nvSpPr>
        <p:spPr>
          <a:xfrm>
            <a:off x="8979661" y="3105834"/>
            <a:ext cx="1291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Inverse DCT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5BB730-B43D-0CCB-65FC-53DCF9852C56}"/>
              </a:ext>
            </a:extLst>
          </p:cNvPr>
          <p:cNvSpPr txBox="1"/>
          <p:nvPr/>
        </p:nvSpPr>
        <p:spPr>
          <a:xfrm>
            <a:off x="8850186" y="4749329"/>
            <a:ext cx="157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Reconstruction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4939AD-8EBE-9DED-D8F1-DD6C6B6EF02E}"/>
              </a:ext>
            </a:extLst>
          </p:cNvPr>
          <p:cNvSpPr txBox="1"/>
          <p:nvPr/>
        </p:nvSpPr>
        <p:spPr>
          <a:xfrm>
            <a:off x="5198205" y="4297025"/>
            <a:ext cx="111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Band Selection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2DEE56-92A9-8B56-CA9A-F16E298A578E}"/>
              </a:ext>
            </a:extLst>
          </p:cNvPr>
          <p:cNvSpPr txBox="1"/>
          <p:nvPr/>
        </p:nvSpPr>
        <p:spPr>
          <a:xfrm>
            <a:off x="1985211" y="5304303"/>
            <a:ext cx="1347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Pixel Permutation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1029F1-77D1-FEE0-D82A-44C32A5FF337}"/>
              </a:ext>
            </a:extLst>
          </p:cNvPr>
          <p:cNvSpPr txBox="1"/>
          <p:nvPr/>
        </p:nvSpPr>
        <p:spPr>
          <a:xfrm>
            <a:off x="4149451" y="5279293"/>
            <a:ext cx="2129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Block Decomposition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87BEB3D-9D18-CF01-BF64-7A769A0BE85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674262" y="3425259"/>
            <a:ext cx="607537" cy="374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623909E-9584-5229-C00E-ECA0E3DCCC4A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5200210" y="3428999"/>
            <a:ext cx="957278" cy="175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A131115-1E10-6A04-6A3A-381EB24FC668}"/>
              </a:ext>
            </a:extLst>
          </p:cNvPr>
          <p:cNvCxnSpPr>
            <a:cxnSpLocks/>
            <a:stCxn id="16" idx="3"/>
            <a:endCxn id="24" idx="1"/>
          </p:cNvCxnSpPr>
          <p:nvPr/>
        </p:nvCxnSpPr>
        <p:spPr>
          <a:xfrm flipV="1">
            <a:off x="8022383" y="3429000"/>
            <a:ext cx="957278" cy="1753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1CC23DB-C268-59C2-60D0-62D6B575B147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9625356" y="3838072"/>
            <a:ext cx="868" cy="68587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79BAC48-DB64-EDC2-6C8E-CF4EF608FC3A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465096" y="5617133"/>
            <a:ext cx="808146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6D8F7E8-CB22-AF08-2BD6-9655AB979758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1024127" y="4620580"/>
            <a:ext cx="4047387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8F6067-C9AA-FCAF-5E71-4E29D20357C3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024127" y="5617133"/>
            <a:ext cx="804673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63ECE64F-E598-0CA6-1CD2-45ED8D04F693}"/>
              </a:ext>
            </a:extLst>
          </p:cNvPr>
          <p:cNvCxnSpPr>
            <a:endCxn id="13" idx="1"/>
          </p:cNvCxnSpPr>
          <p:nvPr/>
        </p:nvCxnSpPr>
        <p:spPr>
          <a:xfrm rot="16200000" flipV="1">
            <a:off x="4853328" y="2725926"/>
            <a:ext cx="1340427" cy="58240"/>
          </a:xfrm>
          <a:prstGeom prst="bentConnector4">
            <a:avLst>
              <a:gd name="adj1" fmla="val 50605"/>
              <a:gd name="adj2" fmla="val 1846401"/>
            </a:avLst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83F110F-9E24-E939-6E51-FEC0AD1812C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359316" y="2084832"/>
            <a:ext cx="1141706" cy="1340427"/>
          </a:xfrm>
          <a:prstGeom prst="bentConnector2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E4CDACE-4D97-11D1-8EC2-7105287711CE}"/>
              </a:ext>
            </a:extLst>
          </p:cNvPr>
          <p:cNvCxnSpPr>
            <a:cxnSpLocks/>
            <a:stCxn id="21" idx="3"/>
            <a:endCxn id="16" idx="2"/>
          </p:cNvCxnSpPr>
          <p:nvPr/>
        </p:nvCxnSpPr>
        <p:spPr>
          <a:xfrm flipV="1">
            <a:off x="6414835" y="3851858"/>
            <a:ext cx="675101" cy="768722"/>
          </a:xfrm>
          <a:prstGeom prst="bentConnector2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10C6074-1A80-A072-4E4F-4F242C58E22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04155" y="3994311"/>
            <a:ext cx="1756981" cy="1471902"/>
          </a:xfrm>
          <a:prstGeom prst="bentConnector3">
            <a:avLst>
              <a:gd name="adj1" fmla="val 596"/>
            </a:avLst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21AA1B3-1C12-D926-9DF0-2102FC46B06E}"/>
              </a:ext>
            </a:extLst>
          </p:cNvPr>
          <p:cNvSpPr txBox="1"/>
          <p:nvPr/>
        </p:nvSpPr>
        <p:spPr>
          <a:xfrm>
            <a:off x="732579" y="4435524"/>
            <a:ext cx="29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E3F6F5-F361-6A9A-9FCE-3E72C6176C72}"/>
              </a:ext>
            </a:extLst>
          </p:cNvPr>
          <p:cNvSpPr txBox="1"/>
          <p:nvPr/>
        </p:nvSpPr>
        <p:spPr>
          <a:xfrm>
            <a:off x="691255" y="5442047"/>
            <a:ext cx="37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42AE95-4B85-3B3C-FB53-CEE5D97BEDEA}"/>
              </a:ext>
            </a:extLst>
          </p:cNvPr>
          <p:cNvSpPr txBox="1"/>
          <p:nvPr/>
        </p:nvSpPr>
        <p:spPr>
          <a:xfrm>
            <a:off x="732579" y="3240593"/>
            <a:ext cx="29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B3783A8-E39F-85E1-DE89-FD2994C5F3C7}"/>
              </a:ext>
            </a:extLst>
          </p:cNvPr>
          <p:cNvCxnSpPr>
            <a:cxnSpLocks/>
          </p:cNvCxnSpPr>
          <p:nvPr/>
        </p:nvCxnSpPr>
        <p:spPr>
          <a:xfrm>
            <a:off x="10558671" y="4961942"/>
            <a:ext cx="607537" cy="374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2530DB9-518D-FF28-9DF3-1ED13A424541}"/>
                  </a:ext>
                </a:extLst>
              </p:cNvPr>
              <p:cNvSpPr txBox="1"/>
              <p:nvPr/>
            </p:nvSpPr>
            <p:spPr>
              <a:xfrm>
                <a:off x="11145076" y="4773169"/>
                <a:ext cx="2915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2530DB9-518D-FF28-9DF3-1ED13A424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076" y="4773169"/>
                <a:ext cx="291548" cy="369332"/>
              </a:xfrm>
              <a:prstGeom prst="rect">
                <a:avLst/>
              </a:prstGeom>
              <a:blipFill>
                <a:blip r:embed="rId2"/>
                <a:stretch>
                  <a:fillRect r="-2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BFC03CCE-FB61-9E5A-0C70-02C8244FE9DE}"/>
              </a:ext>
            </a:extLst>
          </p:cNvPr>
          <p:cNvSpPr txBox="1"/>
          <p:nvPr/>
        </p:nvSpPr>
        <p:spPr>
          <a:xfrm>
            <a:off x="6735284" y="4287636"/>
            <a:ext cx="29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70B9EF7-5981-4045-6021-7EAA05B4CDA7}"/>
              </a:ext>
            </a:extLst>
          </p:cNvPr>
          <p:cNvSpPr txBox="1"/>
          <p:nvPr/>
        </p:nvSpPr>
        <p:spPr>
          <a:xfrm>
            <a:off x="8462682" y="2223332"/>
            <a:ext cx="29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FB0A638-0264-E1A3-C7D2-D1C26652C9D1}"/>
                  </a:ext>
                </a:extLst>
              </p:cNvPr>
              <p:cNvSpPr txBox="1"/>
              <p:nvPr/>
            </p:nvSpPr>
            <p:spPr>
              <a:xfrm>
                <a:off x="778042" y="5231228"/>
                <a:ext cx="6096000" cy="39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FB0A638-0264-E1A3-C7D2-D1C26652C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42" y="5231228"/>
                <a:ext cx="6096000" cy="394210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4F36DD1-7776-54DD-59B7-121489AA8376}"/>
                  </a:ext>
                </a:extLst>
              </p:cNvPr>
              <p:cNvSpPr txBox="1"/>
              <p:nvPr/>
            </p:nvSpPr>
            <p:spPr>
              <a:xfrm rot="16200000">
                <a:off x="871952" y="2748745"/>
                <a:ext cx="6096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 …}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4F36DD1-7776-54DD-59B7-121489AA8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71952" y="2748745"/>
                <a:ext cx="6096000" cy="307777"/>
              </a:xfrm>
              <a:prstGeom prst="rect">
                <a:avLst/>
              </a:prstGeom>
              <a:blipFill>
                <a:blip r:embed="rId4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E54CBAF-6CE1-1B1B-4DE4-D6E29AB151B7}"/>
                  </a:ext>
                </a:extLst>
              </p:cNvPr>
              <p:cNvSpPr txBox="1"/>
              <p:nvPr/>
            </p:nvSpPr>
            <p:spPr>
              <a:xfrm>
                <a:off x="5453022" y="3477964"/>
                <a:ext cx="6096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 …}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E54CBAF-6CE1-1B1B-4DE4-D6E29AB15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022" y="3477964"/>
                <a:ext cx="6096000" cy="307777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1FF835B-36E0-0FB5-BB81-0327203AFAA9}"/>
                  </a:ext>
                </a:extLst>
              </p:cNvPr>
              <p:cNvSpPr txBox="1"/>
              <p:nvPr/>
            </p:nvSpPr>
            <p:spPr>
              <a:xfrm>
                <a:off x="2630849" y="3445006"/>
                <a:ext cx="6096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 …}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1FF835B-36E0-0FB5-BB81-0327203AF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849" y="3445006"/>
                <a:ext cx="6096000" cy="307777"/>
              </a:xfrm>
              <a:prstGeom prst="rect">
                <a:avLst/>
              </a:prstGeom>
              <a:blipFill>
                <a:blip r:embed="rId6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1A75295-E4C7-A288-8927-71A8D2D5484F}"/>
                  </a:ext>
                </a:extLst>
              </p:cNvPr>
              <p:cNvSpPr txBox="1"/>
              <p:nvPr/>
            </p:nvSpPr>
            <p:spPr>
              <a:xfrm>
                <a:off x="7154778" y="3982081"/>
                <a:ext cx="6096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 …}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1A75295-E4C7-A288-8927-71A8D2D54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4778" y="3982081"/>
                <a:ext cx="6096000" cy="307777"/>
              </a:xfrm>
              <a:prstGeom prst="rect">
                <a:avLst/>
              </a:prstGeom>
              <a:blipFill>
                <a:blip r:embed="rId7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0585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07B0-D5B2-3928-59D1-62DBC6B3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7F51-D715-5DA1-BF12-0E603515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Detailed Embedding Procedure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0A669-E04D-BCA0-758F-CFE43BC4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450C3-F30A-3AE1-52D6-582FB003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39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7ECB7C-FE6A-3D23-3651-6E59211F61EB}"/>
                  </a:ext>
                </a:extLst>
              </p:cNvPr>
              <p:cNvSpPr txBox="1"/>
              <p:nvPr/>
            </p:nvSpPr>
            <p:spPr>
              <a:xfrm>
                <a:off x="1024127" y="2116198"/>
                <a:ext cx="7614547" cy="44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Step 1: Image and Watermark Preparation</a:t>
                </a:r>
              </a:p>
              <a:p>
                <a:r>
                  <a:rPr lang="en-US" sz="2000" b="1" dirty="0"/>
                  <a:t>	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Input image X: </a:t>
                </a:r>
                <a:r>
                  <a:rPr lang="en-US" sz="2000" b="1" dirty="0"/>
                  <a:t>Size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/>
                  <a:t>pixels</a:t>
                </a:r>
              </a:p>
              <a:p>
                <a:r>
                  <a:rPr lang="en-US" sz="2000" b="1" dirty="0"/>
                  <a:t>	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Binary watermark W: </a:t>
                </a:r>
                <a:r>
                  <a:rPr lang="en-US" sz="2000" b="1" dirty="0"/>
                  <a:t>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/>
                  <a:t>pixels</a:t>
                </a:r>
              </a:p>
              <a:p>
                <a:r>
                  <a:rPr lang="en-US" sz="2000" b="1" dirty="0"/>
                  <a:t>	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Block division: </a:t>
                </a:r>
                <a:r>
                  <a:rPr lang="en-US" sz="2000" b="1" dirty="0"/>
                  <a:t>Divide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000" b="1" dirty="0"/>
                  <a:t> into 8×8 blocks</a:t>
                </a:r>
              </a:p>
              <a:p>
                <a:endParaRPr lang="en-US" sz="2000" b="1" dirty="0"/>
              </a:p>
              <a:p>
                <a:r>
                  <a:rPr lang="en-US" sz="2000" b="1" dirty="0"/>
                  <a:t>Step 2: Watermark Permutation</a:t>
                </a:r>
              </a:p>
              <a:p>
                <a:r>
                  <a:rPr lang="en-US" sz="2000" b="1" dirty="0"/>
                  <a:t>	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Purpose: </a:t>
                </a:r>
                <a:r>
                  <a:rPr lang="en-US" sz="2000" b="1" dirty="0"/>
                  <a:t>Enhance robustness against cropping attacks</a:t>
                </a:r>
              </a:p>
              <a:p>
                <a:r>
                  <a:rPr lang="en-US" sz="2000" dirty="0"/>
                  <a:t>	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Procedure:</a:t>
                </a: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𝑷𝑬𝑹𝑴𝑼𝑻𝑬𝑫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𝑷𝑹𝑵𝑮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𝒔𝒆𝒄𝒓𝒆𝒕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𝒌𝒆𝒚</m:t>
                        </m:r>
                      </m:e>
                    </m:d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  <a:p>
                <a:r>
                  <a:rPr lang="en-US" sz="2000" b="1" dirty="0"/>
                  <a:t>	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Benefits:</a:t>
                </a:r>
                <a:endParaRPr lang="en-US" sz="2000" dirty="0">
                  <a:solidFill>
                    <a:srgbClr val="C00000"/>
                  </a:solidFill>
                </a:endParaRPr>
              </a:p>
              <a:p>
                <a:r>
                  <a:rPr lang="en-US" sz="2000" b="1" dirty="0"/>
                  <a:t>		Destroys spatial correlation in watermark</a:t>
                </a:r>
              </a:p>
              <a:p>
                <a:r>
                  <a:rPr lang="en-US" sz="2000" b="1" dirty="0"/>
                  <a:t>		Distributes watermark information across image</a:t>
                </a:r>
              </a:p>
              <a:p>
                <a:r>
                  <a:rPr lang="en-US" sz="2000" b="1" dirty="0"/>
                  <a:t>		Provides additional security through key-based permutation</a:t>
                </a:r>
              </a:p>
              <a:p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7ECB7C-FE6A-3D23-3651-6E59211F6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7" y="2116198"/>
                <a:ext cx="7614547" cy="4401205"/>
              </a:xfrm>
              <a:prstGeom prst="rect">
                <a:avLst/>
              </a:prstGeom>
              <a:blipFill>
                <a:blip r:embed="rId2"/>
                <a:stretch>
                  <a:fillRect l="-801" t="-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548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5EF11-252B-7749-30D7-FF381131B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EB891CF7-9AF9-E37B-48DF-9BC98ADA3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78" y="1640637"/>
            <a:ext cx="8254843" cy="48204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D65B84-9E7D-520C-AF48-6D73DFF9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Detailed Embedding Procedure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150E5-CE4F-5704-B5EC-0016AF49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DF2BB-21DC-0122-444C-F6ADA7AA5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849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9C03-E233-F180-DF5C-F8511103A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3735-1114-7762-E9F8-FBEB181D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Detailed Embedding Procedure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CA00D-0D92-C750-72D5-6045D866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47394-E9A5-17BD-43C1-14E46BEB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A47298-3602-8856-916D-B2A8F9F66540}"/>
                  </a:ext>
                </a:extLst>
              </p:cNvPr>
              <p:cNvSpPr txBox="1"/>
              <p:nvPr/>
            </p:nvSpPr>
            <p:spPr>
              <a:xfrm>
                <a:off x="1024127" y="2457082"/>
                <a:ext cx="7614547" cy="393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Step 3: Reference Table Generation</a:t>
                </a: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	The reference table defines embedding locations and rules.</a:t>
                </a: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		</a:t>
                </a:r>
              </a:p>
              <a:p>
                <a:r>
                  <a:rPr lang="en-US" sz="2000" b="1" dirty="0"/>
                  <a:t>Structure:</a:t>
                </a:r>
              </a:p>
              <a:p>
                <a:r>
                  <a:rPr lang="en-US" sz="1600" b="1" dirty="0">
                    <a:solidFill>
                      <a:srgbClr val="C0000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𝑹𝒆𝒇𝒆𝒓𝒆𝒏𝒄𝒆𝑻𝒂𝒃𝒍𝒆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{    </m:t>
                    </m:r>
                  </m:oMath>
                </a14:m>
                <a:endParaRPr lang="en-US" sz="16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𝒃𝒍𝒐𝒄𝒌</m:t>
                          </m:r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𝒊𝒅</m:t>
                          </m:r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𝒄𝒐𝒆𝒇𝒇𝒊𝒄𝒊𝒆𝒏𝒕</m:t>
                          </m:r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𝒑𝒐𝒔𝒊𝒕𝒊𝒐𝒏</m:t>
                          </m:r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𝒆𝒎𝒃𝒆𝒅𝒅𝒊𝒏𝒈</m:t>
                          </m:r>
                          <m: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𝒓𝒖𝒍𝒆</m:t>
                          </m:r>
                        </m:e>
                      </m:d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1600" b="1" dirty="0">
                    <a:solidFill>
                      <a:schemeClr val="tx1"/>
                    </a:solidFill>
                  </a:rPr>
                  <a:t>		      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endParaRPr lang="en-US" sz="2000" b="1" dirty="0"/>
              </a:p>
              <a:p>
                <a:r>
                  <a:rPr lang="en-US" sz="2000" b="1" dirty="0">
                    <a:solidFill>
                      <a:schemeClr val="tx1"/>
                    </a:solidFill>
                  </a:rPr>
                  <a:t>Generation Methods:</a:t>
                </a:r>
              </a:p>
              <a:p>
                <a:r>
                  <a:rPr lang="en-US" sz="2000" b="1" dirty="0"/>
                  <a:t>	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User-defined: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Manually specified table (acts as secret key)</a:t>
                </a:r>
              </a:p>
              <a:p>
                <a:r>
                  <a:rPr lang="en-US" sz="2000" b="1" dirty="0"/>
                  <a:t>	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Image-adaptive: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Generated based on image characteristics</a:t>
                </a:r>
              </a:p>
              <a:p>
                <a:r>
                  <a:rPr lang="en-US" sz="2000" b="1" dirty="0"/>
                  <a:t>	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Hybrid: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Combination of predefined rules and adaptive selection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A47298-3602-8856-916D-B2A8F9F66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7" y="2457082"/>
                <a:ext cx="7614547" cy="3939540"/>
              </a:xfrm>
              <a:prstGeom prst="rect">
                <a:avLst/>
              </a:prstGeom>
              <a:blipFill>
                <a:blip r:embed="rId2"/>
                <a:stretch>
                  <a:fillRect l="-801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5428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E598-117C-C76F-E979-D4E03B1A2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9688-1C09-7683-8A16-D88FBDBE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Detailed Embedding Procedure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46E3C-F88F-201B-2996-6453331A1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C4025-328C-96B0-BC76-1B36EEFC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F5C754-2CCD-42AA-F06F-EDA28278A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40" y="112386"/>
            <a:ext cx="10574410" cy="63487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78E38-FAFC-AD44-3BA1-2796803720B8}"/>
              </a:ext>
            </a:extLst>
          </p:cNvPr>
          <p:cNvSpPr txBox="1"/>
          <p:nvPr/>
        </p:nvSpPr>
        <p:spPr>
          <a:xfrm>
            <a:off x="3424989" y="52228"/>
            <a:ext cx="534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Reference Table – Case Study</a:t>
            </a:r>
          </a:p>
        </p:txBody>
      </p:sp>
    </p:spTree>
    <p:extLst>
      <p:ext uri="{BB962C8B-B14F-4D97-AF65-F5344CB8AC3E}">
        <p14:creationId xmlns:p14="http://schemas.microsoft.com/office/powerpoint/2010/main" val="4411905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11074-A4F9-1DD1-495F-D4BC62DE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948AB-F7DB-F36B-2CBE-1570665BE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Detailed Embedding Procedure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53048-5220-4034-9BB4-6005F0F4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A07D26-989C-CD1B-B0AC-3FF749203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F0E827-B5B0-2FC6-FD1D-4F7E35056E5B}"/>
              </a:ext>
            </a:extLst>
          </p:cNvPr>
          <p:cNvSpPr txBox="1"/>
          <p:nvPr/>
        </p:nvSpPr>
        <p:spPr>
          <a:xfrm>
            <a:off x="1024127" y="2333244"/>
            <a:ext cx="76145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Step 4: DCT Coefficient Modification</a:t>
            </a:r>
          </a:p>
          <a:p>
            <a:r>
              <a:rPr lang="en-US" sz="2000" b="1" dirty="0"/>
              <a:t>	For each selected coefficient</a:t>
            </a:r>
            <a:r>
              <a:rPr lang="en-US" sz="2000" dirty="0"/>
              <a:t>: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742848-9B7C-8A0C-22E3-50BD79DCF7B6}"/>
                  </a:ext>
                </a:extLst>
              </p:cNvPr>
              <p:cNvSpPr txBox="1"/>
              <p:nvPr/>
            </p:nvSpPr>
            <p:spPr>
              <a:xfrm>
                <a:off x="1024127" y="3157836"/>
                <a:ext cx="10499669" cy="2769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>
                          <a:latin typeface="Cambria Math" panose="02040503050406030204" pitchFamily="18" charset="0"/>
                        </a:rPr>
                        <m:t>𝐃𝐂𝐓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𝐜𝐨𝐞𝐟𝐟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𝐦𝐨𝐝𝐢𝐟𝐢𝐞𝐝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𝐦𝐨𝐝𝐢𝐟𝐲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𝐜𝐨𝐞𝐟𝐟𝐢𝐜𝐢𝐞𝐧𝐭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𝐃𝐂𝐓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𝐜𝐨𝐞𝐟𝐟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𝐨𝐫𝐢𝐠𝐢𝐧𝐚𝐥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𝐰𝐚𝐭𝐞𝐫𝐦𝐚𝐫𝐤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𝐛𝐢𝐭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𝐞𝐦𝐛𝐞𝐝𝐝𝐢𝐧𝐠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𝐫𝐮𝐥𝐞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742848-9B7C-8A0C-22E3-50BD79DCF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7" y="3157836"/>
                <a:ext cx="10499669" cy="276999"/>
              </a:xfrm>
              <a:prstGeom prst="rect">
                <a:avLst/>
              </a:prstGeom>
              <a:blipFill>
                <a:blip r:embed="rId2"/>
                <a:stretch>
                  <a:fillRect t="-2083" r="-232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A0EA174-CCCB-4F45-C0F7-F22AA42541E1}"/>
              </a:ext>
            </a:extLst>
          </p:cNvPr>
          <p:cNvSpPr txBox="1"/>
          <p:nvPr/>
        </p:nvSpPr>
        <p:spPr>
          <a:xfrm>
            <a:off x="1024127" y="4002442"/>
            <a:ext cx="95500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Modification Strategies:</a:t>
            </a:r>
          </a:p>
          <a:p>
            <a:r>
              <a:rPr lang="en-US" sz="2000" dirty="0"/>
              <a:t>	</a:t>
            </a:r>
            <a:r>
              <a:rPr lang="en-US" sz="2000" b="1" dirty="0">
                <a:solidFill>
                  <a:srgbClr val="C00000"/>
                </a:solidFill>
              </a:rPr>
              <a:t>Quantization-based: </a:t>
            </a:r>
            <a:r>
              <a:rPr lang="en-US" sz="2000" dirty="0"/>
              <a:t>Round coefficient to nearest quantization level</a:t>
            </a:r>
          </a:p>
          <a:p>
            <a:r>
              <a:rPr lang="en-US" sz="2000" dirty="0"/>
              <a:t>	</a:t>
            </a:r>
            <a:r>
              <a:rPr lang="en-US" sz="2000" b="1" dirty="0">
                <a:solidFill>
                  <a:srgbClr val="C00000"/>
                </a:solidFill>
              </a:rPr>
              <a:t>Parity-based: </a:t>
            </a:r>
            <a:r>
              <a:rPr lang="en-US" sz="2000" dirty="0"/>
              <a:t>Set coefficient parity to match watermark bit</a:t>
            </a:r>
          </a:p>
          <a:p>
            <a:r>
              <a:rPr lang="en-US" sz="2000" dirty="0"/>
              <a:t>	</a:t>
            </a:r>
            <a:r>
              <a:rPr lang="en-US" sz="2000" b="1" dirty="0">
                <a:solidFill>
                  <a:srgbClr val="C00000"/>
                </a:solidFill>
              </a:rPr>
              <a:t>Threshold-based: </a:t>
            </a:r>
            <a:r>
              <a:rPr lang="en-US" sz="2000" dirty="0"/>
              <a:t>Ensure coefficient magnitude exceeds threshold</a:t>
            </a:r>
          </a:p>
          <a:p>
            <a:r>
              <a:rPr lang="en-US" sz="2000" dirty="0"/>
              <a:t>	</a:t>
            </a:r>
            <a:r>
              <a:rPr lang="en-US" sz="2000" b="1" dirty="0">
                <a:solidFill>
                  <a:srgbClr val="C00000"/>
                </a:solidFill>
              </a:rPr>
              <a:t>Spread-Spectrum: </a:t>
            </a:r>
            <a:r>
              <a:rPr lang="en-US" sz="2000" dirty="0"/>
              <a:t>Embed A pseudo-random sequence and calculate correlations</a:t>
            </a:r>
          </a:p>
        </p:txBody>
      </p:sp>
    </p:spTree>
    <p:extLst>
      <p:ext uri="{BB962C8B-B14F-4D97-AF65-F5344CB8AC3E}">
        <p14:creationId xmlns:p14="http://schemas.microsoft.com/office/powerpoint/2010/main" val="27447816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AF8F-F066-6E3D-50DD-A6A9A0287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FD20-664F-B8FA-1FAD-8A6D4547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Band Selection Strategy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4FE5B-490D-3BB6-D7D1-C5276AAC5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D772D-59FA-04B6-A3EC-24013472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40560-62E1-0D0D-F601-7928B76E0B8D}"/>
              </a:ext>
            </a:extLst>
          </p:cNvPr>
          <p:cNvSpPr txBox="1"/>
          <p:nvPr/>
        </p:nvSpPr>
        <p:spPr>
          <a:xfrm>
            <a:off x="1156474" y="2380137"/>
            <a:ext cx="59782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Low Frequencies (DC and nearby AC coefficients):</a:t>
            </a:r>
          </a:p>
          <a:p>
            <a:r>
              <a:rPr lang="en-US" sz="2000" dirty="0"/>
              <a:t>	- Contain most image energy</a:t>
            </a:r>
          </a:p>
          <a:p>
            <a:r>
              <a:rPr lang="en-US" sz="2000" dirty="0"/>
              <a:t>	- Highly perceptible when modified</a:t>
            </a:r>
          </a:p>
          <a:p>
            <a:r>
              <a:rPr lang="en-US" sz="2000" dirty="0"/>
              <a:t>	- Very robust to attacks</a:t>
            </a:r>
          </a:p>
          <a:p>
            <a:r>
              <a:rPr lang="en-US" sz="2000" dirty="0"/>
              <a:t>	- Risk of visible artifacts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Mid Frequencies:</a:t>
            </a:r>
          </a:p>
          <a:p>
            <a:r>
              <a:rPr lang="en-US" sz="2000" dirty="0"/>
              <a:t>	- Moderate energy content</a:t>
            </a:r>
          </a:p>
          <a:p>
            <a:r>
              <a:rPr lang="en-US" sz="2000" dirty="0"/>
              <a:t>	- Balance between perceptibility and robustness</a:t>
            </a:r>
          </a:p>
          <a:p>
            <a:r>
              <a:rPr lang="en-US" sz="2000" dirty="0"/>
              <a:t>	- Optimal for most watermarking applications</a:t>
            </a:r>
          </a:p>
          <a:p>
            <a:r>
              <a:rPr lang="en-US" sz="2000" dirty="0"/>
              <a:t>	- Good compromise solution</a:t>
            </a:r>
          </a:p>
          <a:p>
            <a:pPr lvl="1"/>
            <a:endParaRPr lang="en-US" sz="2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65B45B-2128-6516-3B30-CC254C6AC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127" y="1689560"/>
            <a:ext cx="4959578" cy="447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57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BF62-73F8-E8C6-F021-53315BCD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9B2D-9E5C-C5D7-C003-97E89AD04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Band Selection Strategy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6D396-8249-F8E7-5ACD-200AC81E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9CB90-9118-28E9-0116-68988EFF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2D929-2614-3AA1-7E19-0CF748D2B91C}"/>
              </a:ext>
            </a:extLst>
          </p:cNvPr>
          <p:cNvSpPr txBox="1"/>
          <p:nvPr/>
        </p:nvSpPr>
        <p:spPr>
          <a:xfrm>
            <a:off x="1156474" y="2572642"/>
            <a:ext cx="597825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High Frequencies:</a:t>
            </a:r>
          </a:p>
          <a:p>
            <a:r>
              <a:rPr lang="en-US" sz="2400" dirty="0"/>
              <a:t>	- Low energy content</a:t>
            </a:r>
          </a:p>
          <a:p>
            <a:r>
              <a:rPr lang="en-US" sz="2400" dirty="0"/>
              <a:t>	- Less perceptible when modified</a:t>
            </a:r>
          </a:p>
          <a:p>
            <a:r>
              <a:rPr lang="en-US" sz="2400" dirty="0"/>
              <a:t>	- Vulnerable to compression and filtering</a:t>
            </a:r>
          </a:p>
          <a:p>
            <a:r>
              <a:rPr lang="en-US" sz="2400" dirty="0"/>
              <a:t>	- Suitable for fragile watermarking</a:t>
            </a:r>
          </a:p>
          <a:p>
            <a:pPr lvl="1"/>
            <a:endParaRPr lang="en-US" sz="2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A16858-F073-FD8A-0D25-3FA52D3C2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127" y="1689560"/>
            <a:ext cx="4959578" cy="447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71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06CDA-6824-DBEB-0098-6AD03C1C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798E0-259A-4D39-4D06-62917A320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23" y="433813"/>
            <a:ext cx="10542089" cy="616444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2742B-F821-9A4E-4B33-12073267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A5786-F88C-F7BA-37FB-068A12DE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F49D9-4142-7431-271A-558784486A21}"/>
              </a:ext>
            </a:extLst>
          </p:cNvPr>
          <p:cNvSpPr txBox="1"/>
          <p:nvPr/>
        </p:nvSpPr>
        <p:spPr>
          <a:xfrm>
            <a:off x="2434394" y="86489"/>
            <a:ext cx="7170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Band Modification – Case Study</a:t>
            </a:r>
          </a:p>
        </p:txBody>
      </p:sp>
    </p:spTree>
    <p:extLst>
      <p:ext uri="{BB962C8B-B14F-4D97-AF65-F5344CB8AC3E}">
        <p14:creationId xmlns:p14="http://schemas.microsoft.com/office/powerpoint/2010/main" val="7408451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BDE9-66A6-F8A5-E5AC-D29E4498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C80C4-4242-2EC0-CF71-90592E6D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overview - extraction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625D4-7B4B-28E3-9DC2-C974482B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55091-5979-E20C-4AFA-D4C04242D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47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DF226C-3BA0-1A6B-515C-3B2C4CFF2C2E}"/>
              </a:ext>
            </a:extLst>
          </p:cNvPr>
          <p:cNvCxnSpPr>
            <a:cxnSpLocks/>
          </p:cNvCxnSpPr>
          <p:nvPr/>
        </p:nvCxnSpPr>
        <p:spPr>
          <a:xfrm>
            <a:off x="843652" y="4102953"/>
            <a:ext cx="804673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06B927C-1AB3-F2FE-B22C-051154B5BA56}"/>
              </a:ext>
            </a:extLst>
          </p:cNvPr>
          <p:cNvSpPr/>
          <p:nvPr/>
        </p:nvSpPr>
        <p:spPr>
          <a:xfrm>
            <a:off x="1648325" y="3717943"/>
            <a:ext cx="1864895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F63C7C-A3EC-21E3-64CF-2EEFCD1EB873}"/>
              </a:ext>
            </a:extLst>
          </p:cNvPr>
          <p:cNvSpPr txBox="1"/>
          <p:nvPr/>
        </p:nvSpPr>
        <p:spPr>
          <a:xfrm>
            <a:off x="1515978" y="3791819"/>
            <a:ext cx="2129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Block Decomposition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D1A8D9-15DD-BABE-AB23-07BEB6B7DB44}"/>
              </a:ext>
            </a:extLst>
          </p:cNvPr>
          <p:cNvSpPr/>
          <p:nvPr/>
        </p:nvSpPr>
        <p:spPr>
          <a:xfrm>
            <a:off x="4101324" y="3681847"/>
            <a:ext cx="918411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0D49F7-8666-4329-EC58-3D34A6652E06}"/>
              </a:ext>
            </a:extLst>
          </p:cNvPr>
          <p:cNvSpPr/>
          <p:nvPr/>
        </p:nvSpPr>
        <p:spPr>
          <a:xfrm>
            <a:off x="5313946" y="2337680"/>
            <a:ext cx="1864895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A20C22-F67E-7587-F857-3128C7DEEB50}"/>
              </a:ext>
            </a:extLst>
          </p:cNvPr>
          <p:cNvSpPr txBox="1"/>
          <p:nvPr/>
        </p:nvSpPr>
        <p:spPr>
          <a:xfrm>
            <a:off x="5518482" y="2438264"/>
            <a:ext cx="1455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Ref. Table Generator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A2A8DC-0BF6-5E0F-B302-A8F34ADDE0FC}"/>
              </a:ext>
            </a:extLst>
          </p:cNvPr>
          <p:cNvSpPr/>
          <p:nvPr/>
        </p:nvSpPr>
        <p:spPr>
          <a:xfrm>
            <a:off x="5977013" y="3683601"/>
            <a:ext cx="1864895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FF3F72-496E-688C-8E9C-F42F433445BF}"/>
              </a:ext>
            </a:extLst>
          </p:cNvPr>
          <p:cNvSpPr/>
          <p:nvPr/>
        </p:nvSpPr>
        <p:spPr>
          <a:xfrm>
            <a:off x="8837994" y="3683726"/>
            <a:ext cx="1592650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997440-CCC4-1C91-826E-069AEAEC8E89}"/>
              </a:ext>
            </a:extLst>
          </p:cNvPr>
          <p:cNvSpPr/>
          <p:nvPr/>
        </p:nvSpPr>
        <p:spPr>
          <a:xfrm>
            <a:off x="8705807" y="5197895"/>
            <a:ext cx="1864895" cy="842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E4E886-7DD2-AF58-2BA8-331E2BA5DC60}"/>
              </a:ext>
            </a:extLst>
          </p:cNvPr>
          <p:cNvSpPr/>
          <p:nvPr/>
        </p:nvSpPr>
        <p:spPr>
          <a:xfrm>
            <a:off x="4891039" y="4917543"/>
            <a:ext cx="1343321" cy="753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ED4C0D-1F7F-A843-FCDA-18105C9CEFCB}"/>
              </a:ext>
            </a:extLst>
          </p:cNvPr>
          <p:cNvSpPr txBox="1"/>
          <p:nvPr/>
        </p:nvSpPr>
        <p:spPr>
          <a:xfrm>
            <a:off x="6145456" y="3779787"/>
            <a:ext cx="1518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Watermark Extraction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76BAD4-4D34-F0B7-2633-2C71AE9A3543}"/>
              </a:ext>
            </a:extLst>
          </p:cNvPr>
          <p:cNvSpPr txBox="1"/>
          <p:nvPr/>
        </p:nvSpPr>
        <p:spPr>
          <a:xfrm>
            <a:off x="4270692" y="3918286"/>
            <a:ext cx="66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D40636-7108-0467-5EC5-1CD7CDD198E6}"/>
              </a:ext>
            </a:extLst>
          </p:cNvPr>
          <p:cNvSpPr txBox="1"/>
          <p:nvPr/>
        </p:nvSpPr>
        <p:spPr>
          <a:xfrm>
            <a:off x="8837994" y="3890284"/>
            <a:ext cx="1553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Reconstruction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D9797F-40BD-CD7B-6DFD-44671D2532AE}"/>
              </a:ext>
            </a:extLst>
          </p:cNvPr>
          <p:cNvSpPr txBox="1"/>
          <p:nvPr/>
        </p:nvSpPr>
        <p:spPr>
          <a:xfrm>
            <a:off x="8815699" y="5428604"/>
            <a:ext cx="157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Reconstruction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D8A640-CC65-78FE-19F3-68A343ACC87D}"/>
              </a:ext>
            </a:extLst>
          </p:cNvPr>
          <p:cNvSpPr txBox="1"/>
          <p:nvPr/>
        </p:nvSpPr>
        <p:spPr>
          <a:xfrm>
            <a:off x="5017730" y="4970978"/>
            <a:ext cx="1111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Band Selection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3DF4CE5-D7E1-200E-C904-999BFA1BB67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493787" y="4099212"/>
            <a:ext cx="607537" cy="374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6A3299-7C18-0404-17AF-05FB3C87E067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5019735" y="4102952"/>
            <a:ext cx="957278" cy="175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D876B2B-118E-6F0A-21BB-7EB07C517888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7841908" y="4104706"/>
            <a:ext cx="996086" cy="125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C37549-84BD-216E-34B4-D1000EAF5454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9634319" y="4525936"/>
            <a:ext cx="3936" cy="671959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EDAA975-7C6A-D55C-9201-CCDFE2B88543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843652" y="5294533"/>
            <a:ext cx="4047387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1BFEDB4-F5CA-29F7-B880-BB2E05311D14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V="1">
            <a:off x="4672853" y="3399879"/>
            <a:ext cx="1340427" cy="58240"/>
          </a:xfrm>
          <a:prstGeom prst="bentConnector4">
            <a:avLst>
              <a:gd name="adj1" fmla="val 50605"/>
              <a:gd name="adj2" fmla="val 1846401"/>
            </a:avLst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3676430-E707-318F-D246-2D1CAB174697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178841" y="2758785"/>
            <a:ext cx="1141706" cy="1340427"/>
          </a:xfrm>
          <a:prstGeom prst="bentConnector2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77195FC-5C3A-F4E6-F979-087CD209E399}"/>
              </a:ext>
            </a:extLst>
          </p:cNvPr>
          <p:cNvCxnSpPr>
            <a:cxnSpLocks/>
            <a:stCxn id="21" idx="3"/>
            <a:endCxn id="16" idx="2"/>
          </p:cNvCxnSpPr>
          <p:nvPr/>
        </p:nvCxnSpPr>
        <p:spPr>
          <a:xfrm flipV="1">
            <a:off x="6234360" y="4525811"/>
            <a:ext cx="675101" cy="768722"/>
          </a:xfrm>
          <a:prstGeom prst="bentConnector2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5B560E7-82CC-8AAB-D2B6-450F2C0824C0}"/>
              </a:ext>
            </a:extLst>
          </p:cNvPr>
          <p:cNvSpPr txBox="1"/>
          <p:nvPr/>
        </p:nvSpPr>
        <p:spPr>
          <a:xfrm>
            <a:off x="552104" y="5109477"/>
            <a:ext cx="29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7CF34C-A622-55E9-4B80-F007C8CFFB44}"/>
              </a:ext>
            </a:extLst>
          </p:cNvPr>
          <p:cNvSpPr txBox="1"/>
          <p:nvPr/>
        </p:nvSpPr>
        <p:spPr>
          <a:xfrm>
            <a:off x="552104" y="3914546"/>
            <a:ext cx="29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0021436-9644-1FF1-09DB-7CA4B6E67B88}"/>
              </a:ext>
            </a:extLst>
          </p:cNvPr>
          <p:cNvCxnSpPr>
            <a:cxnSpLocks/>
          </p:cNvCxnSpPr>
          <p:nvPr/>
        </p:nvCxnSpPr>
        <p:spPr>
          <a:xfrm>
            <a:off x="10594766" y="5613569"/>
            <a:ext cx="607537" cy="374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6DAB316-539C-C637-67DC-C0480B47EDE9}"/>
                  </a:ext>
                </a:extLst>
              </p:cNvPr>
              <p:cNvSpPr txBox="1"/>
              <p:nvPr/>
            </p:nvSpPr>
            <p:spPr>
              <a:xfrm>
                <a:off x="11222773" y="5435123"/>
                <a:ext cx="291548" cy="376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ac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6DAB316-539C-C637-67DC-C0480B47E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2773" y="5435123"/>
                <a:ext cx="291548" cy="376513"/>
              </a:xfrm>
              <a:prstGeom prst="rect">
                <a:avLst/>
              </a:prstGeom>
              <a:blipFill>
                <a:blip r:embed="rId2"/>
                <a:stretch>
                  <a:fillRect t="-1639" r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D83CC0A2-55E9-9C11-CE81-D4207AD70440}"/>
              </a:ext>
            </a:extLst>
          </p:cNvPr>
          <p:cNvSpPr txBox="1"/>
          <p:nvPr/>
        </p:nvSpPr>
        <p:spPr>
          <a:xfrm>
            <a:off x="6554809" y="4961589"/>
            <a:ext cx="29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959BBE2-D913-9CCE-5A8E-136D9AE7D583}"/>
                  </a:ext>
                </a:extLst>
              </p:cNvPr>
              <p:cNvSpPr txBox="1"/>
              <p:nvPr/>
            </p:nvSpPr>
            <p:spPr>
              <a:xfrm>
                <a:off x="8282207" y="2897285"/>
                <a:ext cx="2915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959BBE2-D913-9CCE-5A8E-136D9AE7D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207" y="2897285"/>
                <a:ext cx="291548" cy="369332"/>
              </a:xfrm>
              <a:prstGeom prst="rect">
                <a:avLst/>
              </a:prstGeom>
              <a:blipFill>
                <a:blip r:embed="rId3"/>
                <a:stretch>
                  <a:fillRect r="-2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CC6C3DE-4115-C3F0-03FE-E0CDAB4E18B4}"/>
                  </a:ext>
                </a:extLst>
              </p:cNvPr>
              <p:cNvSpPr txBox="1"/>
              <p:nvPr/>
            </p:nvSpPr>
            <p:spPr>
              <a:xfrm rot="16200000">
                <a:off x="761105" y="3350026"/>
                <a:ext cx="5956745" cy="313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1" dirty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 …}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CC6C3DE-4115-C3F0-03FE-E0CDAB4E1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61105" y="3350026"/>
                <a:ext cx="5956745" cy="313868"/>
              </a:xfrm>
              <a:prstGeom prst="rect">
                <a:avLst/>
              </a:prstGeom>
              <a:blipFill>
                <a:blip r:embed="rId4"/>
                <a:stretch>
                  <a:fillRect l="-1961" r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B5A28F7-691F-D65C-1FC4-E001F36B8501}"/>
                  </a:ext>
                </a:extLst>
              </p:cNvPr>
              <p:cNvSpPr txBox="1"/>
              <p:nvPr/>
            </p:nvSpPr>
            <p:spPr>
              <a:xfrm>
                <a:off x="5272547" y="4151917"/>
                <a:ext cx="6096000" cy="313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acc>
                        <m:accPr>
                          <m:chr m:val="̂"/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̂"/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acc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…}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B5A28F7-691F-D65C-1FC4-E001F36B8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547" y="4151917"/>
                <a:ext cx="6096000" cy="313676"/>
              </a:xfrm>
              <a:prstGeom prst="rect">
                <a:avLst/>
              </a:prstGeom>
              <a:blipFill>
                <a:blip r:embed="rId5"/>
                <a:stretch>
                  <a:fillRect t="-1923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5683CFF-7408-2BBB-D1A2-8976816ED921}"/>
                  </a:ext>
                </a:extLst>
              </p:cNvPr>
              <p:cNvSpPr txBox="1"/>
              <p:nvPr/>
            </p:nvSpPr>
            <p:spPr>
              <a:xfrm>
                <a:off x="2450374" y="4118959"/>
                <a:ext cx="6096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4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1" dirty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sz="1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1" dirty="0">
                          <a:latin typeface="Cambria Math" panose="02040503050406030204" pitchFamily="18" charset="0"/>
                        </a:rPr>
                        <m:t>,, …}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5683CFF-7408-2BBB-D1A2-8976816ED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374" y="4118959"/>
                <a:ext cx="6096000" cy="307777"/>
              </a:xfrm>
              <a:prstGeom prst="rect">
                <a:avLst/>
              </a:prstGeom>
              <a:blipFill>
                <a:blip r:embed="rId6"/>
                <a:stretch>
                  <a:fillRect t="-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2A10730-6A86-FC01-209F-464ADB829311}"/>
                  </a:ext>
                </a:extLst>
              </p:cNvPr>
              <p:cNvSpPr txBox="1"/>
              <p:nvPr/>
            </p:nvSpPr>
            <p:spPr>
              <a:xfrm>
                <a:off x="6846357" y="4679745"/>
                <a:ext cx="6096000" cy="313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2A10730-6A86-FC01-209F-464ADB829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357" y="4679745"/>
                <a:ext cx="6096000" cy="313612"/>
              </a:xfrm>
              <a:prstGeom prst="rect">
                <a:avLst/>
              </a:prstGeom>
              <a:blipFill>
                <a:blip r:embed="rId7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093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1D6B-CD49-2262-42B6-402EF400A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A622-76FB-07F3-B27A-8A3B80E2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/>
              <a:t>Extraction Procedure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44C63-BA89-EF39-E6EF-D40E9526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1BE40-0263-F461-CEC2-8CFE5A8D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48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528770-7574-24AE-4E3C-42F728891ECF}"/>
                  </a:ext>
                </a:extLst>
              </p:cNvPr>
              <p:cNvSpPr txBox="1"/>
              <p:nvPr/>
            </p:nvSpPr>
            <p:spPr>
              <a:xfrm>
                <a:off x="1024127" y="2247790"/>
                <a:ext cx="10056957" cy="38472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Step 1: Block-wise DCT Computation</a:t>
                </a:r>
              </a:p>
              <a:p>
                <a:r>
                  <a:rPr lang="en-US" sz="2400" b="1" dirty="0"/>
                  <a:t>	</a:t>
                </a:r>
                <a:r>
                  <a:rPr lang="en-US" sz="2000" dirty="0"/>
                  <a:t>Apply DCT to 8×8 blocks of potentially watermarked image</a:t>
                </a:r>
              </a:p>
              <a:p>
                <a:endParaRPr lang="en-US" sz="2000" b="1" dirty="0"/>
              </a:p>
              <a:p>
                <a:r>
                  <a:rPr lang="en-US" sz="2000" b="1" dirty="0"/>
                  <a:t>Step 2: Coefficient Analysis</a:t>
                </a:r>
              </a:p>
              <a:p>
                <a:r>
                  <a:rPr lang="en-US" sz="2000" b="1" dirty="0"/>
                  <a:t>	</a:t>
                </a:r>
                <a:r>
                  <a:rPr lang="en-US" sz="2000" dirty="0"/>
                  <a:t>For each coefficient in reference table: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𝑒𝑥𝑡𝑟𝑎𝑐𝑡𝑒𝑑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𝑏𝑖𝑡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𝑎𝑛𝑎𝑙𝑦𝑧𝑒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𝑐𝑜𝑒𝑓𝑓𝑖𝑐𝑖𝑒𝑛𝑡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𝐷𝐶𝑇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𝑐𝑜𝑒𝑓𝑓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𝑒𝑚𝑏𝑒𝑑𝑑𝑖𝑛𝑔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𝑟𝑢𝑙𝑒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b="1" dirty="0"/>
                  <a:t>Step 3: Watermark Reconstruction</a:t>
                </a:r>
              </a:p>
              <a:p>
                <a:r>
                  <a:rPr lang="en-US" sz="2000" dirty="0"/>
                  <a:t>	1. Collect extracted bits according to reference table</a:t>
                </a:r>
              </a:p>
              <a:p>
                <a:r>
                  <a:rPr lang="en-US" sz="2000" dirty="0"/>
                  <a:t>	2. Apply inverse permutation using secret key</a:t>
                </a:r>
              </a:p>
              <a:p>
                <a:r>
                  <a:rPr lang="en-US" sz="2000" dirty="0"/>
                  <a:t>	3. Reconstruct watermark image</a:t>
                </a:r>
              </a:p>
              <a:p>
                <a:r>
                  <a:rPr lang="en-US" sz="2000" dirty="0"/>
                  <a:t>	4. Apply error correction if implemented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528770-7574-24AE-4E3C-42F728891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7" y="2247790"/>
                <a:ext cx="10056957" cy="3847207"/>
              </a:xfrm>
              <a:prstGeom prst="rect">
                <a:avLst/>
              </a:prstGeom>
              <a:blipFill>
                <a:blip r:embed="rId2"/>
                <a:stretch>
                  <a:fillRect l="-606" t="-951" b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923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E424A-97C2-AFBF-FE3A-EBA68CAA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B2DC9F-2181-E10E-4ED5-881927901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91" y="562259"/>
            <a:ext cx="10306862" cy="599708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CE724-D741-67C3-E5C6-E472D862E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64837-315E-154F-3FE0-305BC0B16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A3681-A82B-9A17-4399-EDF2EA593DD9}"/>
              </a:ext>
            </a:extLst>
          </p:cNvPr>
          <p:cNvSpPr txBox="1"/>
          <p:nvPr/>
        </p:nvSpPr>
        <p:spPr>
          <a:xfrm>
            <a:off x="3563352" y="39039"/>
            <a:ext cx="5065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Extraction Steps – Case Study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1397F0-49F6-7733-0815-4A35A28F0735}"/>
                  </a:ext>
                </a:extLst>
              </p14:cNvPr>
              <p14:cNvContentPartPr/>
              <p14:nvPr/>
            </p14:nvContentPartPr>
            <p14:xfrm>
              <a:off x="661737" y="866482"/>
              <a:ext cx="122040" cy="1199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1397F0-49F6-7733-0815-4A35A28F07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5737" y="830482"/>
                <a:ext cx="193680" cy="127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65252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890C-8BF6-B338-8665-D055A014D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5F6DAE-5B86-ED62-5C5B-C8AF696EC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941" y="2197210"/>
            <a:ext cx="8784117" cy="42638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1A9858-53E5-BDEE-24A1-61E3F64F6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/>
              <a:t>Simulation results of our case study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5C2CD5-2273-6346-C7CC-CDC3D141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92D08-5BDF-1273-0CB7-F0F04297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509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57F66-6E2A-1D36-AFA1-99E71ECAC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44BFF-47FB-6109-2242-F6C9F132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/>
              <a:t>Simulation results of our case study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75E8C-809A-633C-CB2C-2846F5AB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C3480-DC63-F15F-1CA9-1F4265CD8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A6598-1651-3733-C742-E4761E0ED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2575" y="2116204"/>
            <a:ext cx="3929324" cy="4156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A34317-46CB-5379-B498-D2AEDA0ED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1117" y="2820777"/>
            <a:ext cx="5901352" cy="279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64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5C65-9D62-D8F2-5DAA-BBA9A685B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4D6CE-00D8-4E34-627D-E02E8129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/>
              <a:t>jpeg quantization table and quality factor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7B1F0-C34E-128D-0EF6-8ED32D73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33E5D-DD49-49B9-AC19-DEEA10FA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D055D7-4F3E-7A2A-CA30-24C9D1665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537" y="1823886"/>
            <a:ext cx="6985703" cy="463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416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A744F-720C-1E34-14A0-544F76C1A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CE8B-6F99-C102-88A8-E24029DE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DCT-Based watermarking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600" dirty="0"/>
              <a:t>jpeg quantization table and quality factor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89100-20D3-F734-50AC-CFC884A2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B7A0F-01F2-EF29-2C23-0EBF9CFB1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B6991C-2AC6-EA36-9EA4-F6D42C8E6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029" y="2396322"/>
            <a:ext cx="11233942" cy="360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771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EEE85D-7C54-D62A-AD09-587AD087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Information Hiding, Shiraz university of technology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B0A6FB-1A13-218D-3C62-9947C0D1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z="1600" smtClean="0"/>
              <a:t>54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4841C-BE18-7467-8E42-2AFB1C27F559}"/>
              </a:ext>
            </a:extLst>
          </p:cNvPr>
          <p:cNvSpPr txBox="1"/>
          <p:nvPr/>
        </p:nvSpPr>
        <p:spPr>
          <a:xfrm>
            <a:off x="2071305" y="3167390"/>
            <a:ext cx="9020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Advanced Optimization: Genetic Band Selection (GBS)</a:t>
            </a:r>
          </a:p>
        </p:txBody>
      </p:sp>
    </p:spTree>
    <p:extLst>
      <p:ext uri="{BB962C8B-B14F-4D97-AF65-F5344CB8AC3E}">
        <p14:creationId xmlns:p14="http://schemas.microsoft.com/office/powerpoint/2010/main" val="10758506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88DB-2BA2-5545-C2F1-FEC527AD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Advanced Optimization: Genetic Band Selection</a:t>
            </a:r>
            <a:br>
              <a:rPr lang="fa-IR" sz="48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0000"/>
                </a:solidFill>
              </a:rPr>
              <a:t>Motivation for Optimization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A855E-242F-0179-5DB1-BE14D77B5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Traditional frequency band selection relies on heuristic rules and general principles. However, optimal band selection depends on:</a:t>
            </a:r>
            <a:endParaRPr lang="fa-IR" b="1" dirty="0"/>
          </a:p>
          <a:p>
            <a:endParaRPr lang="fa-IR" sz="24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fa-IR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Specific image characteristics</a:t>
            </a:r>
            <a:endParaRPr lang="fa-IR" sz="2000" b="1" dirty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fa-IR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Target attack scenarios</a:t>
            </a:r>
            <a:endParaRPr lang="fa-IR" sz="2000" b="1" dirty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fa-IR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Quality-robustness trade-offs</a:t>
            </a:r>
            <a:endParaRPr lang="fa-IR" sz="2000" b="1" dirty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fa-IR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Application requirements</a:t>
            </a:r>
            <a:endParaRPr lang="fa-IR" sz="2000" b="1" dirty="0">
              <a:solidFill>
                <a:srgbClr val="C00000"/>
              </a:solidFill>
            </a:endParaRPr>
          </a:p>
          <a:p>
            <a:endParaRPr lang="fa-IR" b="1" dirty="0"/>
          </a:p>
          <a:p>
            <a:r>
              <a:rPr lang="en-US" b="1" dirty="0"/>
              <a:t>Genetic Band Selection (GBS) provides an automated approach to optimize band selection for specific conditions.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F7796-F117-9AA3-8E6A-42B47B1E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9C0A7-E0CC-5A70-2F97-7D718127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8972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80DF-E8FB-74C9-660A-79499D95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018D55-01F9-05A2-168D-481777436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095" y="1974341"/>
            <a:ext cx="8107809" cy="46239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E7A95D-3848-F504-E0E3-41D983DE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Advanced Optimization: Genetic Band Selection</a:t>
            </a:r>
            <a:br>
              <a:rPr lang="fa-IR" sz="48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0000"/>
                </a:solidFill>
              </a:rPr>
              <a:t>Genetic Algorithm Fundamentals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03D5B-5E22-3B3E-FA67-C61F9418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F6DF1-EACA-3362-EE43-2F42A928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911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FDB26-E3B4-63D1-BEE3-07B9E2F6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A2B4718-0085-A42E-CFCF-79258F31A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5074" y="1961007"/>
            <a:ext cx="7081851" cy="46239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D20C9A-FD21-77C3-BCBC-805D7639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Advanced Optimization: Genetic Band Selection</a:t>
            </a:r>
            <a:br>
              <a:rPr lang="fa-IR" sz="48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0000"/>
                </a:solidFill>
              </a:rPr>
              <a:t>Genetic Algorithm Fundamentals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5583F-8250-1499-44CB-969DB09A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F212B-4A8F-90D0-7D17-5D33FD86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729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84675-E8BE-D171-11F5-67B780E7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9B969-041E-0017-1E9E-6E7262EE3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Advanced Optimization: Genetic Band Selection</a:t>
            </a:r>
            <a:br>
              <a:rPr lang="fa-IR" sz="48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0000"/>
                </a:solidFill>
              </a:rPr>
              <a:t>Genetic Algorithm Fundamentals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15A16-38CC-398B-CBCB-31B563A9F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Population: Set of candidate solutions (band selection configurations)</a:t>
            </a:r>
            <a:endParaRPr lang="fa-IR" b="1" dirty="0"/>
          </a:p>
          <a:p>
            <a:endParaRPr lang="fa-IR" b="1" dirty="0"/>
          </a:p>
          <a:p>
            <a:endParaRPr lang="fa-IR" b="1" dirty="0"/>
          </a:p>
          <a:p>
            <a:r>
              <a:rPr lang="en-US" b="1" dirty="0"/>
              <a:t>Each individual (</a:t>
            </a:r>
            <a:r>
              <a:rPr lang="en-US" b="1" dirty="0">
                <a:solidFill>
                  <a:srgbClr val="C00000"/>
                </a:solidFill>
              </a:rPr>
              <a:t>called chromosome</a:t>
            </a:r>
            <a:r>
              <a:rPr lang="en-US" b="1" dirty="0"/>
              <a:t>) in the population correspond</a:t>
            </a:r>
            <a:r>
              <a:rPr lang="fa-IR" b="1" dirty="0"/>
              <a:t> </a:t>
            </a:r>
            <a:r>
              <a:rPr lang="en-US" b="1" dirty="0"/>
              <a:t>to a solution in the problem domain</a:t>
            </a:r>
            <a:r>
              <a:rPr lang="fa-IR" b="1" dirty="0"/>
              <a:t>.</a:t>
            </a:r>
          </a:p>
          <a:p>
            <a:endParaRPr lang="fa-IR" b="1" dirty="0"/>
          </a:p>
          <a:p>
            <a:r>
              <a:rPr lang="en-US" b="1" dirty="0"/>
              <a:t>An objective, called </a:t>
            </a:r>
            <a:r>
              <a:rPr lang="en-US" b="1" dirty="0">
                <a:solidFill>
                  <a:srgbClr val="C00000"/>
                </a:solidFill>
              </a:rPr>
              <a:t>fitness function </a:t>
            </a:r>
            <a:r>
              <a:rPr lang="en-US" b="1" dirty="0"/>
              <a:t>is used to evaluate the quality of each chromosome</a:t>
            </a:r>
          </a:p>
          <a:p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3C0BC-0C6B-252F-0C89-F8AB96BE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4BBF8-B07C-C86F-27A9-13F3FC60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58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195E96-8C1A-620F-9C38-C371BD6A5764}"/>
                  </a:ext>
                </a:extLst>
              </p:cNvPr>
              <p:cNvSpPr txBox="1"/>
              <p:nvPr/>
            </p:nvSpPr>
            <p:spPr>
              <a:xfrm>
                <a:off x="2553780" y="2899610"/>
                <a:ext cx="70844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𝑃𝑜𝑝𝑢𝑙𝑎𝑡𝑖𝑜𝑛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𝐶h𝑟𝑜𝑚𝑜𝑠𝑜𝑚𝑒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_1,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𝐶h𝑟𝑜𝑚𝑜𝑠𝑜𝑚𝑒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_2, ...,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𝐶h𝑟𝑜𝑚𝑜𝑠𝑜𝑚𝑒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195E96-8C1A-620F-9C38-C371BD6A5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780" y="2899610"/>
                <a:ext cx="7084440" cy="276999"/>
              </a:xfrm>
              <a:prstGeom prst="rect">
                <a:avLst/>
              </a:prstGeom>
              <a:blipFill>
                <a:blip r:embed="rId2"/>
                <a:stretch>
                  <a:fillRect l="-602" t="-4444" r="-68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96042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7385-7D73-3457-E7A9-0E416316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B2EEF-96F8-5475-3E9B-1408ED3A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Advanced Optimization: Genetic Band Selection</a:t>
            </a:r>
            <a:br>
              <a:rPr lang="fa-IR" sz="48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0000"/>
                </a:solidFill>
              </a:rPr>
              <a:t>Genetic Algorithm Fundamentals</a:t>
            </a:r>
            <a:endParaRPr lang="en-US" sz="48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325327-5437-E600-AF39-D4331C54ED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Chromosome Representation</a:t>
                </a:r>
                <a:r>
                  <a:rPr lang="en-US" dirty="0"/>
                  <a:t>: Binary string representing selected DCT bands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Fitness Function</a:t>
                </a:r>
                <a:r>
                  <a:rPr lang="en-US" dirty="0"/>
                  <a:t>: Objective function evaluating solution quality</a:t>
                </a:r>
              </a:p>
              <a:p>
                <a:endParaRPr lang="en-US" dirty="0"/>
              </a:p>
              <a:p>
                <a:pPr marL="12801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𝑭𝒊𝒕𝒏𝒆𝒔𝒔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𝑹𝒐𝒃𝒖𝒔𝒕𝒏𝒆𝒔𝒔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𝑰𝒎𝒑𝒆𝒓𝒄𝒆𝒑𝒕𝒊𝒃𝒊𝒍𝒊𝒕𝒚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𝑪𝒂𝒑𝒂𝒄𝒊𝒕𝒚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marL="128016" lvl="1" indent="0">
                  <a:buNone/>
                </a:pPr>
                <a:endParaRPr lang="en-US" sz="2000" b="1" dirty="0"/>
              </a:p>
              <a:p>
                <a:pPr marL="128016" lvl="1" indent="0">
                  <a:buNone/>
                </a:pPr>
                <a:r>
                  <a:rPr lang="en-US" sz="2000" b="1" dirty="0"/>
                  <a:t>The next generation will be generated from some chromosome whose fitness values are high.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325327-5437-E600-AF39-D4331C54E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7" t="-1818" r="-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88475-18F5-1F7C-F331-661FEF77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954E6-5D1F-6B4A-BBE0-0D622839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59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69388E-2DF8-2BF3-F1FF-C4B6507E45E7}"/>
                  </a:ext>
                </a:extLst>
              </p:cNvPr>
              <p:cNvSpPr txBox="1"/>
              <p:nvPr/>
            </p:nvSpPr>
            <p:spPr>
              <a:xfrm>
                <a:off x="2553780" y="2899610"/>
                <a:ext cx="598561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𝑪𝒉𝒓𝒐𝒎𝒐𝒔𝒐𝒎𝒆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 ...,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𝟔𝟒</m:t>
                          </m:r>
                        </m:e>
                      </m:d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𝒘𝒉𝒆𝒓𝒆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𝒃𝒊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𝒊𝒇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𝒄𝒐𝒆𝒇𝒇𝒊𝒄𝒊𝒆𝒏𝒕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𝒔𝒆𝒍𝒆𝒄𝒕𝒆𝒅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𝒐𝒕𝒉𝒆𝒓𝒘𝒊𝒔𝒆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69388E-2DF8-2BF3-F1FF-C4B6507E4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780" y="2899610"/>
                <a:ext cx="5985613" cy="553998"/>
              </a:xfrm>
              <a:prstGeom prst="rect">
                <a:avLst/>
              </a:prstGeom>
              <a:blipFill>
                <a:blip r:embed="rId3"/>
                <a:stretch>
                  <a:fillRect l="-509" r="-509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8637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E7FDB-02E5-CA5A-FA42-14F5DB26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40B4-C84F-DA61-ADDB-3C89EBC2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Advanced Optimization: Genetic Band Selection</a:t>
            </a:r>
            <a:br>
              <a:rPr lang="fa-IR" sz="48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0000"/>
                </a:solidFill>
              </a:rPr>
              <a:t>Genetic Algorithm Fundamentals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3DCF4-1696-FC6B-A654-087E41035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31" y="2261283"/>
            <a:ext cx="10802914" cy="402336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Reproduction (Selection) </a:t>
            </a:r>
            <a:r>
              <a:rPr lang="en-US" sz="2000" b="1" dirty="0"/>
              <a:t>, </a:t>
            </a:r>
            <a:r>
              <a:rPr lang="en-US" sz="2000" b="1" dirty="0">
                <a:solidFill>
                  <a:srgbClr val="C00000"/>
                </a:solidFill>
              </a:rPr>
              <a:t>crossover</a:t>
            </a:r>
            <a:r>
              <a:rPr lang="en-US" sz="2000" b="1" dirty="0"/>
              <a:t> and </a:t>
            </a:r>
            <a:r>
              <a:rPr lang="en-US" sz="2000" b="1" dirty="0">
                <a:solidFill>
                  <a:srgbClr val="C00000"/>
                </a:solidFill>
              </a:rPr>
              <a:t>mutation</a:t>
            </a:r>
            <a:r>
              <a:rPr lang="en-US" sz="2000" b="1" dirty="0"/>
              <a:t> are the three basic operators used to reproduce chromosome in order to obtain the best solution.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rgbClr val="C00000"/>
                </a:solidFill>
              </a:rPr>
              <a:t>Selection: </a:t>
            </a:r>
            <a:r>
              <a:rPr lang="en-US" sz="2000" b="1" dirty="0"/>
              <a:t>Choose parents for reproduction based on fitness</a:t>
            </a:r>
          </a:p>
          <a:p>
            <a:pPr marL="0" indent="0">
              <a:buNone/>
            </a:pPr>
            <a:r>
              <a:rPr lang="en-US" sz="2000" b="1" dirty="0"/>
              <a:t>	- Roulette Wheel: </a:t>
            </a:r>
            <a:r>
              <a:rPr lang="en-US" sz="2000" dirty="0"/>
              <a:t>Probability proportional to fitness</a:t>
            </a:r>
          </a:p>
          <a:p>
            <a:pPr marL="0" indent="0">
              <a:buNone/>
            </a:pPr>
            <a:r>
              <a:rPr lang="en-US" sz="2000" b="1" dirty="0"/>
              <a:t>	- Tournament: </a:t>
            </a:r>
            <a:r>
              <a:rPr lang="en-US" sz="2000" dirty="0"/>
              <a:t>Select best from random subset</a:t>
            </a:r>
          </a:p>
          <a:p>
            <a:pPr marL="0" indent="0">
              <a:buNone/>
            </a:pPr>
            <a:r>
              <a:rPr lang="en-US" sz="2000" b="1" dirty="0"/>
              <a:t>	- Elitism: </a:t>
            </a:r>
            <a:r>
              <a:rPr lang="en-US" sz="2000" dirty="0"/>
              <a:t>Always retain best solutions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6B222-E9F0-E225-FD16-C521430A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D9B81-040A-6907-7AEE-4C28A106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674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E867-1206-5251-8D98-F195F6EF1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A32E6-30FA-26F6-ABE5-FD846A6F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Advanced Optimization: Genetic Band Selection</a:t>
            </a:r>
            <a:br>
              <a:rPr lang="fa-IR" sz="48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0000"/>
                </a:solidFill>
              </a:rPr>
              <a:t>Genetic Algorithm Fundamentals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704AB-2C2A-E366-900F-A026A65B3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31" y="2261283"/>
            <a:ext cx="10802914" cy="402336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Crossover: </a:t>
            </a:r>
            <a:r>
              <a:rPr lang="en-US" sz="2000" b="1" dirty="0"/>
              <a:t>Combine parent chromosomes to create offspring</a:t>
            </a:r>
          </a:p>
          <a:p>
            <a:pPr marL="0" indent="0">
              <a:buNone/>
            </a:pPr>
            <a:r>
              <a:rPr lang="en-US" sz="2000" b="1" dirty="0"/>
              <a:t>	- Single-point: </a:t>
            </a:r>
            <a:r>
              <a:rPr lang="en-US" sz="2000" dirty="0"/>
              <a:t>Split at random position</a:t>
            </a:r>
          </a:p>
          <a:p>
            <a:pPr marL="0" indent="0">
              <a:buNone/>
            </a:pPr>
            <a:r>
              <a:rPr lang="en-US" sz="2000" b="1" dirty="0"/>
              <a:t>	- Multi-point: </a:t>
            </a:r>
            <a:r>
              <a:rPr lang="en-US" sz="2000" dirty="0"/>
              <a:t>Multiple splitting points</a:t>
            </a:r>
          </a:p>
          <a:p>
            <a:pPr marL="0" indent="0">
              <a:buNone/>
            </a:pPr>
            <a:r>
              <a:rPr lang="en-US" sz="2000" b="1" dirty="0"/>
              <a:t>	- Uniform: </a:t>
            </a:r>
            <a:r>
              <a:rPr lang="en-US" sz="2000" dirty="0"/>
              <a:t>Random selection from each parent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b="1" dirty="0">
                <a:solidFill>
                  <a:srgbClr val="C00000"/>
                </a:solidFill>
              </a:rPr>
              <a:t>Mutation</a:t>
            </a:r>
            <a:r>
              <a:rPr lang="en-US" sz="2000" dirty="0">
                <a:solidFill>
                  <a:srgbClr val="C00000"/>
                </a:solidFill>
              </a:rPr>
              <a:t>: </a:t>
            </a:r>
            <a:r>
              <a:rPr lang="en-US" sz="2000" dirty="0"/>
              <a:t>Random modification to maintain diversity</a:t>
            </a:r>
          </a:p>
          <a:p>
            <a:pPr marL="0" indent="0">
              <a:buNone/>
            </a:pPr>
            <a:r>
              <a:rPr lang="en-US" sz="2000" b="1" dirty="0"/>
              <a:t>	- Bit-flip</a:t>
            </a:r>
            <a:r>
              <a:rPr lang="en-US" sz="2000" dirty="0"/>
              <a:t>: Randomly invert selected bits</a:t>
            </a:r>
          </a:p>
          <a:p>
            <a:pPr marL="0" indent="0">
              <a:buNone/>
            </a:pPr>
            <a:r>
              <a:rPr lang="en-US" sz="2000" b="1" dirty="0"/>
              <a:t>	- Adaptive</a:t>
            </a:r>
            <a:r>
              <a:rPr lang="en-US" sz="2000" dirty="0"/>
              <a:t>: Mutation rate depends on population diversity</a:t>
            </a:r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91B3B-41E2-3108-E779-9CDAD0DC4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9562A-3CAB-3F98-117B-BBD20689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235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B9800-F264-A02D-470F-A34562B95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B25969-6C4E-E21E-E464-148944102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6901" y="0"/>
            <a:ext cx="9518197" cy="685385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0FB22-9424-0FA2-4B0D-119DB798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2EA76-337C-B9FE-BA6F-301AADE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D85CCA1-0598-DCD4-44CA-2538A9271318}"/>
                  </a:ext>
                </a:extLst>
              </p14:cNvPr>
              <p14:cNvContentPartPr/>
              <p14:nvPr/>
            </p14:nvContentPartPr>
            <p14:xfrm>
              <a:off x="733737" y="866482"/>
              <a:ext cx="13680" cy="1002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D85CCA1-0598-DCD4-44CA-2538A92713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7737" y="830482"/>
                <a:ext cx="85320" cy="107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27455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9106-3DB6-1480-24E0-EBEDD887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FAB24E-0265-BBBD-B087-F86D6C5FDE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8390" y="0"/>
            <a:ext cx="9518197" cy="685385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AB1E6-498C-B9E2-C7D1-056D982C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FBC9B-D54B-9A8B-4168-5CB62677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3AB03C2-0064-813D-4FB8-1D3DA0B2728D}"/>
                  </a:ext>
                </a:extLst>
              </p14:cNvPr>
              <p14:cNvContentPartPr/>
              <p14:nvPr/>
            </p14:nvContentPartPr>
            <p14:xfrm>
              <a:off x="733737" y="866482"/>
              <a:ext cx="13680" cy="1002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3AB03C2-0064-813D-4FB8-1D3DA0B272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7737" y="830482"/>
                <a:ext cx="85320" cy="10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648DAD-8C7A-A38D-4191-61961A331F7B}"/>
                  </a:ext>
                </a:extLst>
              </p14:cNvPr>
              <p14:cNvContentPartPr/>
              <p14:nvPr/>
            </p14:nvContentPartPr>
            <p14:xfrm>
              <a:off x="3200097" y="327236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648DAD-8C7A-A38D-4191-61961A331F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64097" y="3236362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74978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8249-CAEE-4D16-8EC0-5A10A6690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2BF4BB-FEC0-95AC-D805-4750AD2B4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6901" y="0"/>
            <a:ext cx="9518197" cy="685385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4EF4B-9EF8-E854-8055-7C0EDD20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0764B-5E26-64B3-1D34-0786B8DE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64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3E679F6-FB0B-0889-528F-4FCFB31E2BD3}"/>
                  </a:ext>
                </a:extLst>
              </p14:cNvPr>
              <p14:cNvContentPartPr/>
              <p14:nvPr/>
            </p14:nvContentPartPr>
            <p14:xfrm>
              <a:off x="733737" y="866482"/>
              <a:ext cx="13680" cy="1002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3E679F6-FB0B-0889-528F-4FCFB31E2B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7737" y="830482"/>
                <a:ext cx="85320" cy="10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0C96F7-CBE8-7747-EA43-F9F084EF0CD9}"/>
                  </a:ext>
                </a:extLst>
              </p14:cNvPr>
              <p14:cNvContentPartPr/>
              <p14:nvPr/>
            </p14:nvContentPartPr>
            <p14:xfrm>
              <a:off x="3200097" y="327236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60C96F7-CBE8-7747-EA43-F9F084EF0C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64097" y="3236362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51357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91B95-B6E8-64B7-FC42-E0473F4D3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1569B-AB8E-250B-E928-B443C0812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Advanced Optimization: Genetic Band Selection</a:t>
            </a:r>
            <a:br>
              <a:rPr lang="fa-IR" sz="4800" dirty="0">
                <a:solidFill>
                  <a:srgbClr val="0070C0"/>
                </a:solidFill>
              </a:rPr>
            </a:br>
            <a:r>
              <a:rPr lang="en-US" sz="3600" dirty="0">
                <a:solidFill>
                  <a:srgbClr val="000000"/>
                </a:solidFill>
              </a:rPr>
              <a:t>Genetic Algorithm Fundamentals</a:t>
            </a:r>
            <a:endParaRPr lang="en-US" sz="48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C5FF28-6049-689F-77B9-E82444AE45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6031" y="2261283"/>
                <a:ext cx="10802914" cy="40233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600" b="1" dirty="0"/>
                  <a:t>The process will be repeated until a predefined condition is satisfied or the desired number of iterations is reached</a:t>
                </a:r>
              </a:p>
              <a:p>
                <a:endParaRPr lang="en-US" sz="2000" b="1" dirty="0"/>
              </a:p>
              <a:p>
                <a:r>
                  <a:rPr lang="en-US" sz="2000" b="1" dirty="0"/>
                  <a:t>Multi-Objective Fitness Function:</a:t>
                </a:r>
              </a:p>
              <a:p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𝑭𝒊𝒕𝒏𝒆𝒔𝒔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𝑹𝒐𝒃𝒖𝒔𝒕𝒏𝒆𝒔𝒔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𝑰𝒎𝒑𝒆𝒓𝒄𝒆𝒑𝒕𝒊𝒃𝒊𝒍𝒊𝒕𝒚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𝑪𝒂𝒑𝒂𝒄𝒊𝒕𝒚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𝑪𝒐𝒎𝒑𝒍𝒆𝒙𝒊𝒕𝒚</m:t>
                    </m:r>
                  </m:oMath>
                </a14:m>
                <a:endParaRPr lang="en-US" sz="1800" b="1" dirty="0"/>
              </a:p>
              <a:p>
                <a:endParaRPr lang="en-US" sz="1800" b="1" dirty="0"/>
              </a:p>
              <a:p>
                <a:pPr marL="0" indent="0">
                  <a:buNone/>
                </a:pPr>
                <a:r>
                  <a:rPr lang="en-US" b="1" dirty="0"/>
                  <a:t>	- Robustness</a:t>
                </a:r>
                <a:r>
                  <a:rPr lang="en-US" dirty="0"/>
                  <a:t>: Measured by correlation after attacks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- Imperceptibility</a:t>
                </a:r>
                <a:r>
                  <a:rPr lang="en-US" sz="1800" dirty="0"/>
                  <a:t>: Measured by PSNR or SSIM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- Capacity</a:t>
                </a:r>
                <a:r>
                  <a:rPr lang="en-US" sz="1800" dirty="0"/>
                  <a:t>: Number of embedded bits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- Complexity</a:t>
                </a:r>
                <a:r>
                  <a:rPr lang="en-US" sz="1800" dirty="0"/>
                  <a:t>: Computational cost</a:t>
                </a:r>
              </a:p>
              <a:p>
                <a:pPr marL="0" indent="0">
                  <a:buNone/>
                </a:pPr>
                <a:r>
                  <a:rPr lang="en-US" dirty="0"/>
                  <a:t>	- w1, w2, w3, w4: Weighting factors</a:t>
                </a:r>
              </a:p>
              <a:p>
                <a:endParaRPr lang="en-US" sz="18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C5FF28-6049-689F-77B9-E82444AE45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6031" y="2261283"/>
                <a:ext cx="10802914" cy="4023360"/>
              </a:xfrm>
              <a:blipFill>
                <a:blip r:embed="rId2"/>
                <a:stretch>
                  <a:fillRect l="-790" t="-3485" r="-564" b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3D51A-E93E-9D90-093B-2A7CE20E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385CF-82F6-FA52-2603-E3F7A305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1482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C6E2-29EE-73F7-1707-FEE5002D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C024-262B-6C9E-95EF-71112D92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Advanced Optimization: Genetic Band Selection</a:t>
            </a:r>
            <a:br>
              <a:rPr lang="fa-IR" sz="4800" dirty="0">
                <a:solidFill>
                  <a:srgbClr val="0070C0"/>
                </a:solidFill>
              </a:rPr>
            </a:br>
            <a:r>
              <a:rPr lang="en-US" sz="3600" dirty="0"/>
              <a:t>Training Procedure</a:t>
            </a:r>
            <a:endParaRPr lang="en-US" sz="48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5D6439-6887-2A6E-C95F-2994A5A511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6031" y="2261283"/>
                <a:ext cx="10802914" cy="402336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Phase 1: Initialization</a:t>
                </a:r>
              </a:p>
              <a:p>
                <a:pPr marL="173736" lvl="1" indent="0">
                  <a:buNone/>
                </a:pPr>
                <a:r>
                  <a:rPr lang="en-US" sz="2100" b="1" dirty="0"/>
                  <a:t>1) Generate random initial population</a:t>
                </a:r>
              </a:p>
              <a:p>
                <a:pPr marL="173736" lvl="1" indent="0">
                  <a:buNone/>
                </a:pPr>
                <a:r>
                  <a:rPr lang="en-US" sz="2100" b="1" dirty="0"/>
                  <a:t>2) Define fitness function parameters</a:t>
                </a:r>
              </a:p>
              <a:p>
                <a:pPr marL="173736" lvl="1" indent="0">
                  <a:buNone/>
                </a:pPr>
                <a:r>
                  <a:rPr lang="en-US" sz="2100" b="1" dirty="0"/>
                  <a:t>3) Set GA parameters (population size, generations, etc.)</a:t>
                </a:r>
              </a:p>
              <a:p>
                <a:pPr marL="173736" lvl="1" indent="0">
                  <a:buNone/>
                </a:pPr>
                <a:endParaRPr lang="en-US" b="1" dirty="0"/>
              </a:p>
              <a:p>
                <a:pPr marL="173736" lvl="1" indent="0">
                  <a:buNone/>
                </a:pPr>
                <a:r>
                  <a:rPr lang="en-US" sz="2100" b="1" dirty="0">
                    <a:solidFill>
                      <a:srgbClr val="C00000"/>
                    </a:solidFill>
                  </a:rPr>
                  <a:t>Phase 2: Evolution Loop</a:t>
                </a:r>
              </a:p>
              <a:p>
                <a:pPr marL="173736" lvl="1" indent="0"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𝒈𝒆𝒏𝒆𝒓𝒂𝒕𝒊𝒐𝒏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𝒕𝒐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𝒈𝒆𝒏𝒆𝒓𝒂𝒕𝒊𝒐𝒏</m:t>
                    </m:r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737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𝒆𝒗𝒂𝒍𝒖𝒂𝒕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𝒇𝒊𝒕𝒏𝒆𝒔𝒔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𝒑𝒐𝒑𝒖𝒍𝒂𝒕𝒊𝒐𝒏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737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𝒔𝒆𝒍𝒆𝒄𝒕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𝒑𝒂𝒓𝒆𝒏𝒕𝒔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𝒑𝒐𝒑𝒖𝒍𝒂𝒕𝒊𝒐𝒏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737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𝒈𝒆𝒏𝒆𝒓𝒂𝒕𝒆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𝒐𝒇𝒇𝒔𝒑𝒓𝒊𝒏𝒈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𝒄𝒓𝒐𝒔𝒔𝒐𝒗𝒆𝒓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𝒎𝒖𝒕𝒂𝒕𝒊𝒐𝒏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737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𝒆𝒗𝒂𝒍𝒖𝒂𝒕𝒆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𝒐𝒇𝒇𝒔𝒑𝒓𝒊𝒏𝒈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𝒇𝒊𝒕𝒏𝒆𝒔𝒔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737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𝒔𝒆𝒍𝒆𝒄𝒕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𝒔𝒖𝒓𝒗𝒊𝒗𝒐𝒓𝒔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𝒆𝒍𝒊𝒕𝒊𝒔𝒎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𝒔𝒕𝒂𝒕𝒆𝒈𝒚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737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𝒖𝒑𝒅𝒂𝒕𝒆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𝒑𝒐𝒑𝒑𝒖𝒍𝒂𝒕𝒊𝒐𝒏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737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𝒄𝒉𝒆𝒄𝒌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𝒕𝒆𝒓𝒎𝒊𝒏𝒂𝒕𝒊𝒐𝒏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𝒄𝒓𝒊𝒕𝒆𝒓𝒊𝒂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5D6439-6887-2A6E-C95F-2994A5A511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6031" y="2261283"/>
                <a:ext cx="10802914" cy="4023360"/>
              </a:xfrm>
              <a:blipFill>
                <a:blip r:embed="rId2"/>
                <a:stretch>
                  <a:fillRect l="-169" t="-2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1CFAD-4F60-C3FA-76CE-DAEE532A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D34CF-7065-8BF1-D679-A71C37E6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4593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4456-CF2A-D4D6-E701-DDBEFE152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33DA-74EB-96C3-F0A6-78AAD97A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Advanced Optimization: Genetic Band Selection</a:t>
            </a:r>
            <a:br>
              <a:rPr lang="fa-IR" sz="4800" dirty="0">
                <a:solidFill>
                  <a:srgbClr val="0070C0"/>
                </a:solidFill>
              </a:rPr>
            </a:br>
            <a:r>
              <a:rPr lang="en-US" sz="3600" dirty="0"/>
              <a:t>Training Procedure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654DC-63A9-A750-BA87-7EACFCCC7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31" y="2712055"/>
            <a:ext cx="10802914" cy="402336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Phase 3: Result Analysis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	Extract best chromosome (optimal band selection)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>
                <a:solidFill>
                  <a:schemeClr val="tx1"/>
                </a:solidFill>
              </a:rPr>
              <a:t>Validate performance on test set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>
                <a:solidFill>
                  <a:schemeClr val="tx1"/>
                </a:solidFill>
              </a:rPr>
              <a:t>Store optimized configuration as secret key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BC48B-805D-38DD-8499-EB9C90B9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CE808-F259-313A-4264-002A9DF8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3985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DD46E-B8F3-80A4-2E60-03D8A2502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232AF6-75A4-7BD8-7DF9-4FC17CC67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8699" y="53083"/>
            <a:ext cx="9097580" cy="68049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4B0D4-3530-0264-6CB1-2CE85A550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8B675-52F0-E32F-915F-16E3F365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2BE39BE-7713-110D-4EB5-8460E779BECB}"/>
                  </a:ext>
                </a:extLst>
              </p14:cNvPr>
              <p14:cNvContentPartPr/>
              <p14:nvPr/>
            </p14:nvContentPartPr>
            <p14:xfrm>
              <a:off x="744897" y="867922"/>
              <a:ext cx="37800" cy="961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2BE39BE-7713-110D-4EB5-8460E779BE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897" y="831922"/>
                <a:ext cx="109440" cy="10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71826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93849-3F0B-4543-6FFB-BA90AE3B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05DA666-481F-2D98-B3EE-2C0FDD86C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6709" y="0"/>
            <a:ext cx="8637920" cy="646109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87FBF-0F21-EB3D-9343-302AF28E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62A51-C86C-7DBF-D8A9-6CFB900C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69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3457AB4-A205-6F0B-3BF6-2721AC67432C}"/>
                  </a:ext>
                </a:extLst>
              </p14:cNvPr>
              <p14:cNvContentPartPr/>
              <p14:nvPr/>
            </p14:nvContentPartPr>
            <p14:xfrm>
              <a:off x="744897" y="867922"/>
              <a:ext cx="37800" cy="961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3457AB4-A205-6F0B-3BF6-2721AC6743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897" y="831922"/>
                <a:ext cx="109440" cy="10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67430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A847-1B7A-9EDF-6EF9-66EEDBDB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E712-24AC-1176-C05C-9A073CAF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DCT-Based watermarking with </a:t>
            </a:r>
            <a:r>
              <a:rPr lang="en-US" sz="4900" dirty="0">
                <a:solidFill>
                  <a:srgbClr val="0070C0"/>
                </a:solidFill>
              </a:rPr>
              <a:t>Genetic Band Selection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100" dirty="0"/>
              <a:t>Simulation results of our case study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23C10-FD8E-AE6D-1DD0-6C3F6EB55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0F440-EB2C-56D0-ED73-ED30EBE2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57769E-FE69-8257-EBE7-C17D06FE8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61" y="2518373"/>
            <a:ext cx="10576654" cy="326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481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BCABE-3308-8EFC-92A2-DF0E780A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20775-537F-3B2D-B895-5F04BC5D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DCT-Based watermarking with </a:t>
            </a:r>
            <a:r>
              <a:rPr lang="en-US" sz="4900" dirty="0">
                <a:solidFill>
                  <a:srgbClr val="0070C0"/>
                </a:solidFill>
              </a:rPr>
              <a:t>Genetic Band Selection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100" dirty="0"/>
              <a:t>Simulation results of our case study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B396D-CCF5-1F14-1C82-DF2F70EF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25B636-972B-B814-327D-557D70BC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D22EE9-CD47-5ED9-1F60-17C221785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49" y="2084832"/>
            <a:ext cx="8591902" cy="418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033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22A5A-A459-29A0-90D7-6088446C0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3D512A-E227-07BC-D95D-A8DAD5CF0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725" y="1703953"/>
            <a:ext cx="8548550" cy="47571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738189-41FB-2AB8-37F8-E7E07BAF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DCT-Based watermarking with </a:t>
            </a:r>
            <a:r>
              <a:rPr lang="en-US" sz="4900" dirty="0">
                <a:solidFill>
                  <a:srgbClr val="0070C0"/>
                </a:solidFill>
              </a:rPr>
              <a:t>Genetic Band Selection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100" dirty="0"/>
              <a:t>Simulation results of our case study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15AA7-8389-28EA-0D09-1A91406B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218ED-56BB-90D2-B6F1-6B2690BF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601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8ED69-9858-B960-067C-E6505828C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042D6-78C0-F841-804B-63E4FC85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DCT-Based watermarking with </a:t>
            </a:r>
            <a:r>
              <a:rPr lang="en-US" sz="4900" dirty="0">
                <a:solidFill>
                  <a:srgbClr val="0070C0"/>
                </a:solidFill>
              </a:rPr>
              <a:t>Genetic Band Selection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100" dirty="0"/>
              <a:t>Simulation results of our case study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45D0-7E93-37EA-7EDA-4F306CBE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920AF-1AD8-31CB-75C1-CAE15829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73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7B91B2-AD90-1E81-C3DB-DD9ACB8AF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1947672"/>
            <a:ext cx="4278621" cy="4513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8BDCEA-C158-5537-AB94-52E2FD217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748" y="2565133"/>
            <a:ext cx="6726313" cy="301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1517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543A-CC20-D1DB-FF4D-12D6FF92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8FB5B-BA75-2AB1-731D-9AF9E3CC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DCT-Based watermarking with </a:t>
            </a:r>
            <a:r>
              <a:rPr lang="en-US" sz="4900" dirty="0">
                <a:solidFill>
                  <a:srgbClr val="0070C0"/>
                </a:solidFill>
              </a:rPr>
              <a:t>Genetic Band Selection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100" dirty="0"/>
              <a:t>Simulation results of our case study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99970-9854-0DF9-CA08-A85F112C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74513-6B08-A466-DFD3-02E2F72D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BF00F-173B-860D-CBA5-50344B562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127" y="1963604"/>
            <a:ext cx="4278621" cy="44815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17DAA9-1D47-C549-950F-CABCF0176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2748" y="2608575"/>
            <a:ext cx="6726313" cy="292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764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D2FE7-AEA9-6377-F516-6E0160C4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26F33E-9512-006E-C994-08DC02AD2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147" y="1664735"/>
            <a:ext cx="8545440" cy="47963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6737B2-0F3C-D861-7F2E-DAE3E435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DCT-Based watermarking with </a:t>
            </a:r>
            <a:r>
              <a:rPr lang="en-US" sz="4900" dirty="0">
                <a:solidFill>
                  <a:srgbClr val="0070C0"/>
                </a:solidFill>
              </a:rPr>
              <a:t>Genetic Band Selection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100" dirty="0"/>
              <a:t>Considering more attacks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85818-8974-56D4-4824-41BE74573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7AB13-B5C3-E890-5C58-9F38E46B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041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F89C-147D-E827-FAD8-36D615E7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2156-0D4E-FFB9-9040-66232EF75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DCT-Based watermarking with </a:t>
            </a:r>
            <a:r>
              <a:rPr lang="en-US" sz="4900" dirty="0">
                <a:solidFill>
                  <a:srgbClr val="0070C0"/>
                </a:solidFill>
              </a:rPr>
              <a:t>Genetic Band Selection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sz="3100" dirty="0"/>
              <a:t>Considering more attacks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91EBD-2AAA-7F6E-EDA9-006F222A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Information Hiding, Shiraz University of Technology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001BE-3FDC-1167-1EAA-21848048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47E1-F59F-47B3-8D16-B2A0740F319A}" type="slidenum">
              <a:rPr lang="en-US" smtClean="0"/>
              <a:pPr/>
              <a:t>76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71527-202D-A6C3-76E6-A4823C24B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14" y="2084832"/>
            <a:ext cx="9288171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15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A41AC481-B287-49C8-90EF-C669597D2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C186DD-5304-4F68-864E-B96D4F4886F9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documentclass{article}\n\\usepackage{amsmath} % Required for mathematical environments\n\\usepackage{xcolor}  % Required for colored text\n\\usepackage{tikz}    % Required for drawing arrows\n\n\\begin{document}\n\n\\begin{itemize}\n    \\item \\textbf{Non-Stationary Signal} $\\Rightarrow$ \n          \\textcolor{red}{{Frequency changes in time.}}\n          \n\n\\end{itemize}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3811</TotalTime>
  <Words>3227</Words>
  <Application>Microsoft Office PowerPoint</Application>
  <PresentationFormat>Widescreen</PresentationFormat>
  <Paragraphs>584</Paragraphs>
  <Slides>76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6" baseType="lpstr">
      <vt:lpstr>Arial</vt:lpstr>
      <vt:lpstr>Calibri</vt:lpstr>
      <vt:lpstr>Cambria Math</vt:lpstr>
      <vt:lpstr>Courier New</vt:lpstr>
      <vt:lpstr>Tw Cen MT</vt:lpstr>
      <vt:lpstr>Tw Cen MT Condensed</vt:lpstr>
      <vt:lpstr>Wingdings</vt:lpstr>
      <vt:lpstr>Wingdings 3</vt:lpstr>
      <vt:lpstr>Integral</vt:lpstr>
      <vt:lpstr>Equation</vt:lpstr>
      <vt:lpstr>INFORMATION HIDING</vt:lpstr>
      <vt:lpstr>Lecture Overview Watermark Embedding in Transform Domain</vt:lpstr>
      <vt:lpstr>Lecture Overview Watermark Embedding in Transform Domain</vt:lpstr>
      <vt:lpstr>PowerPoint Presentation</vt:lpstr>
      <vt:lpstr>Introduction to Transform Domain Watermarking Motivation for Transform Domain Approaches</vt:lpstr>
      <vt:lpstr>Introduction to Transform Domain Watermarking Motivation for Transform Domain Approaches</vt:lpstr>
      <vt:lpstr>Introduction to Transform Domain Watermarking Fundamental Principles</vt:lpstr>
      <vt:lpstr>Mathematical Foundations of Transform Domain Watermarking Common Transform Types</vt:lpstr>
      <vt:lpstr>Mathematical Foundations of Transform Domain Watermarking Common Transform Types</vt:lpstr>
      <vt:lpstr>Mathematical Foundations of Transform Domain Watermarking Common Transform Types</vt:lpstr>
      <vt:lpstr>Mathematical Foundations of Transform Domain Watermarking Common Transform Types</vt:lpstr>
      <vt:lpstr>Mathematical Foundations of Transform Domain Watermarking Common Transform Types</vt:lpstr>
      <vt:lpstr>Mathematical Foundations of Transform Domain Watermarking Common Transform Types</vt:lpstr>
      <vt:lpstr>Mathematical Foundations of Transform Domain Watermarking Common Transform Types</vt:lpstr>
      <vt:lpstr>Mathematical Foundations of Transform Domain Watermarking Common Transform Types</vt:lpstr>
      <vt:lpstr>Mathematical Foundations of Transform Domain Watermarking Common Transform Types</vt:lpstr>
      <vt:lpstr>Mathematical Foundations of Transform Domain Watermarking Common Transform Types</vt:lpstr>
      <vt:lpstr>Mathematical Foundations of Transform Domain Watermarking Common Transform Types</vt:lpstr>
      <vt:lpstr>PowerPoint Presentation</vt:lpstr>
      <vt:lpstr>Watermarking Techniques in Transform Domain LSB-Based Methods in Transform Domain</vt:lpstr>
      <vt:lpstr>Watermarking Techniques in Transform Domain LSB-Based Methods in Transform Domain</vt:lpstr>
      <vt:lpstr>Watermarking Techniques in Transform Domain LSB-Based Methods in Transform Domain</vt:lpstr>
      <vt:lpstr>Watermarking Techniques in Transform Domain LSB-Based Methods in Transform Domain</vt:lpstr>
      <vt:lpstr>Watermarking Techniques in Transform Domain LSB-Based Methods – A comparison</vt:lpstr>
      <vt:lpstr>Watermarking Techniques in Transform Domain Substitution Methods in Transform Domain</vt:lpstr>
      <vt:lpstr>Watermarking Techniques in Transform Domain Substitution Methods in Transform Domain</vt:lpstr>
      <vt:lpstr>Mathematical Foundations of Transform Domain Watermarking Common Transform Types</vt:lpstr>
      <vt:lpstr>Watermarking Techniques in Transform Domain Substitution Methods in Transform Domain</vt:lpstr>
      <vt:lpstr>Watermarking Techniques in Transform Domain Substitution Methods in Transform Domain</vt:lpstr>
      <vt:lpstr>Watermarking Techniques in Transform Domain Substitution Methods in Transform Domain</vt:lpstr>
      <vt:lpstr>Watermarking Techniques in Transform Domain Multiplicative Watermarking</vt:lpstr>
      <vt:lpstr>Watermarking Techniques in Transform Domain Multiplicative Watermarking</vt:lpstr>
      <vt:lpstr>Watermarking Techniques in Transform Domain Multiplicative Watermarking</vt:lpstr>
      <vt:lpstr>Watermarking Techniques in Transform Domain Rounding Error Problem</vt:lpstr>
      <vt:lpstr>Watermarking Techniques in Transform Domain Rounding Error Problem</vt:lpstr>
      <vt:lpstr>Watermarking Techniques in Transform Domain Rounding Error Problem</vt:lpstr>
      <vt:lpstr>PowerPoint Presentation</vt:lpstr>
      <vt:lpstr>DCT-Based watermarking system overview - Embedding</vt:lpstr>
      <vt:lpstr>DCT-Based watermarking Detailed Embedding Procedure</vt:lpstr>
      <vt:lpstr>DCT-Based watermarking Detailed Embedding Procedure</vt:lpstr>
      <vt:lpstr>DCT-Based watermarking Detailed Embedding Procedure</vt:lpstr>
      <vt:lpstr>DCT-Based watermarking Detailed Embedding Procedure</vt:lpstr>
      <vt:lpstr>DCT-Based watermarking Detailed Embedding Procedure</vt:lpstr>
      <vt:lpstr>DCT-Based watermarking Band Selection Strategy</vt:lpstr>
      <vt:lpstr>DCT-Based watermarking Band Selection Strategy</vt:lpstr>
      <vt:lpstr>PowerPoint Presentation</vt:lpstr>
      <vt:lpstr>DCT-Based watermarking system overview - extraction</vt:lpstr>
      <vt:lpstr>DCT-Based watermarking Extraction Procedure</vt:lpstr>
      <vt:lpstr>PowerPoint Presentation</vt:lpstr>
      <vt:lpstr>DCT-Based watermarking Simulation results of our case study</vt:lpstr>
      <vt:lpstr>DCT-Based watermarking Simulation results of our case study</vt:lpstr>
      <vt:lpstr>DCT-Based watermarking jpeg quantization table and quality factor</vt:lpstr>
      <vt:lpstr>DCT-Based watermarking jpeg quantization table and quality factor</vt:lpstr>
      <vt:lpstr>PowerPoint Presentation</vt:lpstr>
      <vt:lpstr>Advanced Optimization: Genetic Band Selection Motivation for Optimization</vt:lpstr>
      <vt:lpstr>Advanced Optimization: Genetic Band Selection Genetic Algorithm Fundamentals</vt:lpstr>
      <vt:lpstr>Advanced Optimization: Genetic Band Selection Genetic Algorithm Fundamentals</vt:lpstr>
      <vt:lpstr>Advanced Optimization: Genetic Band Selection Genetic Algorithm Fundamentals</vt:lpstr>
      <vt:lpstr>Advanced Optimization: Genetic Band Selection Genetic Algorithm Fundamentals</vt:lpstr>
      <vt:lpstr>Advanced Optimization: Genetic Band Selection Genetic Algorithm Fundamentals</vt:lpstr>
      <vt:lpstr>Advanced Optimization: Genetic Band Selection Genetic Algorithm Fundamentals</vt:lpstr>
      <vt:lpstr>PowerPoint Presentation</vt:lpstr>
      <vt:lpstr>PowerPoint Presentation</vt:lpstr>
      <vt:lpstr>PowerPoint Presentation</vt:lpstr>
      <vt:lpstr>Advanced Optimization: Genetic Band Selection Genetic Algorithm Fundamentals</vt:lpstr>
      <vt:lpstr>Advanced Optimization: Genetic Band Selection Training Procedure</vt:lpstr>
      <vt:lpstr>Advanced Optimization: Genetic Band Selection Training Procedure</vt:lpstr>
      <vt:lpstr>PowerPoint Presentation</vt:lpstr>
      <vt:lpstr>PowerPoint Presentation</vt:lpstr>
      <vt:lpstr>DCT-Based watermarking with Genetic Band Selection Simulation results of our case study</vt:lpstr>
      <vt:lpstr>DCT-Based watermarking with Genetic Band Selection Simulation results of our case study</vt:lpstr>
      <vt:lpstr>DCT-Based watermarking with Genetic Band Selection Simulation results of our case study</vt:lpstr>
      <vt:lpstr>DCT-Based watermarking with Genetic Band Selection Simulation results of our case study</vt:lpstr>
      <vt:lpstr>DCT-Based watermarking with Genetic Band Selection Simulation results of our case study</vt:lpstr>
      <vt:lpstr>DCT-Based watermarking with Genetic Band Selection Considering more attacks</vt:lpstr>
      <vt:lpstr>DCT-Based watermarking with Genetic Band Selection Considering more attacks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Adib</dc:creator>
  <cp:lastModifiedBy>ADIB</cp:lastModifiedBy>
  <cp:revision>948</cp:revision>
  <dcterms:created xsi:type="dcterms:W3CDTF">2025-02-14T04:57:05Z</dcterms:created>
  <dcterms:modified xsi:type="dcterms:W3CDTF">2025-06-21T08:04:28Z</dcterms:modified>
</cp:coreProperties>
</file>